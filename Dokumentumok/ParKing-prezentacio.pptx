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60" r:id="rId5"/>
    <p:sldId id="267" r:id="rId6"/>
    <p:sldId id="268" r:id="rId7"/>
    <p:sldId id="277" r:id="rId8"/>
    <p:sldId id="288" r:id="rId9"/>
    <p:sldId id="276" r:id="rId10"/>
    <p:sldId id="278" r:id="rId11"/>
    <p:sldId id="279" r:id="rId12"/>
    <p:sldId id="293" r:id="rId13"/>
    <p:sldId id="280" r:id="rId14"/>
    <p:sldId id="292" r:id="rId15"/>
    <p:sldId id="281" r:id="rId16"/>
    <p:sldId id="282" r:id="rId17"/>
    <p:sldId id="284" r:id="rId18"/>
    <p:sldId id="285" r:id="rId19"/>
    <p:sldId id="286" r:id="rId20"/>
    <p:sldId id="283" r:id="rId21"/>
    <p:sldId id="287" r:id="rId2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920E8-7237-1C1F-F18D-F765C1AB43E2}" v="119" dt="2026-03-04T07:16:34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357" autoAdjust="0"/>
  </p:normalViewPr>
  <p:slideViewPr>
    <p:cSldViewPr snapToGrid="0">
      <p:cViewPr varScale="1">
        <p:scale>
          <a:sx n="109" d="100"/>
          <a:sy n="109" d="100"/>
        </p:scale>
        <p:origin x="6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2026.03.05.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2026.03.05.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2026.03.05.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2026.03.05.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2026.03.05.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2026.03.05.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2026.03.05.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2026.03.05.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2026.03.05.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2026.03.05.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2026.03.05.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2026.03.05.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2026.03.05.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13" Type="http://schemas.openxmlformats.org/officeDocument/2006/relationships/slide" Target="slide16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12" Type="http://schemas.openxmlformats.org/officeDocument/2006/relationships/slide" Target="slide15.xml"/><Relationship Id="rId17" Type="http://schemas.openxmlformats.org/officeDocument/2006/relationships/slide" Target="slide20.xml"/><Relationship Id="rId2" Type="http://schemas.openxmlformats.org/officeDocument/2006/relationships/slide" Target="slide3.xml"/><Relationship Id="rId16" Type="http://schemas.openxmlformats.org/officeDocument/2006/relationships/slide" Target="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11" Type="http://schemas.openxmlformats.org/officeDocument/2006/relationships/slide" Target="slide13.xml"/><Relationship Id="rId5" Type="http://schemas.openxmlformats.org/officeDocument/2006/relationships/slide" Target="slide6.xml"/><Relationship Id="rId15" Type="http://schemas.openxmlformats.org/officeDocument/2006/relationships/slide" Target="slide18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Relationship Id="rId14" Type="http://schemas.openxmlformats.org/officeDocument/2006/relationships/slide" Target="slide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jpe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3E8299-2471-4008-A390-958EF2764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Tartalomjegyzék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5032ED8-90B0-43BE-BBDE-DB9344BD7D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11573" cy="4406302"/>
          </a:xfrm>
        </p:spPr>
        <p:txBody>
          <a:bodyPr>
            <a:normAutofit/>
          </a:bodyPr>
          <a:lstStyle/>
          <a:p>
            <a:r>
              <a:rPr lang="hu-HU" dirty="0">
                <a:hlinkClick r:id="rId2" action="ppaction://hlinksldjump"/>
              </a:rPr>
              <a:t>ParKing bemutatása</a:t>
            </a:r>
            <a:endParaRPr lang="hu-HU" dirty="0"/>
          </a:p>
          <a:p>
            <a:r>
              <a:rPr lang="hu-HU" dirty="0">
                <a:hlinkClick r:id="rId3" action="ppaction://hlinksldjump"/>
              </a:rPr>
              <a:t>A projektben használt webfejlesztési technológiák</a:t>
            </a:r>
            <a:endParaRPr lang="hu-HU" dirty="0"/>
          </a:p>
          <a:p>
            <a:r>
              <a:rPr lang="hu-HU" dirty="0">
                <a:hlinkClick r:id="rId4" action="ppaction://hlinksldjump"/>
              </a:rPr>
              <a:t>Rendszeráttekintés – hardverkövetelmények</a:t>
            </a:r>
            <a:endParaRPr lang="hu-HU" dirty="0"/>
          </a:p>
          <a:p>
            <a:r>
              <a:rPr lang="hu-HU" dirty="0">
                <a:hlinkClick r:id="rId5" action="ppaction://hlinksldjump"/>
              </a:rPr>
              <a:t>Rendszeráttekintés - szoftverkövetelmények</a:t>
            </a:r>
            <a:endParaRPr lang="hu-HU" dirty="0"/>
          </a:p>
          <a:p>
            <a:r>
              <a:rPr lang="hu-HU" dirty="0">
                <a:hlinkClick r:id="rId6" action="ppaction://hlinksldjump"/>
              </a:rPr>
              <a:t>A weboldal elindítása</a:t>
            </a:r>
            <a:endParaRPr lang="hu-HU" dirty="0"/>
          </a:p>
          <a:p>
            <a:r>
              <a:rPr lang="hu-HU" dirty="0">
                <a:hlinkClick r:id="rId7" action="ppaction://hlinksldjump"/>
              </a:rPr>
              <a:t>Adatbázis terv</a:t>
            </a:r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DC1F5C83-D83A-4655-8D8E-9C3FA2A7F396}"/>
              </a:ext>
            </a:extLst>
          </p:cNvPr>
          <p:cNvSpPr txBox="1"/>
          <p:nvPr/>
        </p:nvSpPr>
        <p:spPr>
          <a:xfrm>
            <a:off x="6245469" y="1825625"/>
            <a:ext cx="465908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8" action="ppaction://hlinksldjump"/>
              </a:rPr>
              <a:t>A weboldal bemutatása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9" action="ppaction://hlinksldjump"/>
              </a:rPr>
              <a:t>Főoldal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0" action="ppaction://hlinksldjump"/>
              </a:rPr>
              <a:t>Regisztráció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1" action="ppaction://hlinksldjump"/>
              </a:rPr>
              <a:t>Bejelentkezés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2" action="ppaction://hlinksldjump"/>
              </a:rPr>
              <a:t>A fejlesztők céljai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3" action="ppaction://hlinksldjump"/>
              </a:rPr>
              <a:t>Kapcsolat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4" action="ppaction://hlinksldjump"/>
              </a:rPr>
              <a:t>Fiók szerkesztése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5" action="ppaction://hlinksldjump"/>
              </a:rPr>
              <a:t>Foglalás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6" action="ppaction://hlinksldjump"/>
              </a:rPr>
              <a:t>A felhasználó foglalásai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17" action="ppaction://hlinksldjump"/>
              </a:rPr>
              <a:t>Lábléc</a:t>
            </a:r>
            <a:endParaRPr lang="hu-H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2551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242643"/>
            <a:ext cx="12191999" cy="1325563"/>
          </a:xfrm>
        </p:spPr>
        <p:txBody>
          <a:bodyPr/>
          <a:lstStyle/>
          <a:p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/>
          </a:bodyPr>
          <a:lstStyle/>
          <a:p>
            <a:pPr lvl="1"/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/>
            <a:r>
              <a:rPr lang="hu-HU" sz="2400" dirty="0"/>
              <a:t>Visual Studio Code</a:t>
            </a:r>
          </a:p>
          <a:p>
            <a:pPr lvl="2"/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922221"/>
          </a:xfrm>
        </p:spPr>
        <p:txBody>
          <a:bodyPr/>
          <a:lstStyle/>
          <a:p>
            <a:r>
              <a:rPr lang="hu-HU" b="1" dirty="0"/>
              <a:t>Programozási nyelvek</a:t>
            </a:r>
            <a:r>
              <a:rPr lang="hu-HU" sz="2400" b="1" dirty="0"/>
              <a:t>:</a:t>
            </a:r>
          </a:p>
          <a:p>
            <a:pPr lvl="1"/>
            <a:r>
              <a:rPr lang="hu-HU" dirty="0"/>
              <a:t>HTML</a:t>
            </a:r>
          </a:p>
          <a:p>
            <a:pPr lvl="1"/>
            <a:r>
              <a:rPr lang="hu-HU" dirty="0"/>
              <a:t>CSS</a:t>
            </a:r>
          </a:p>
          <a:p>
            <a:pPr lvl="1"/>
            <a:r>
              <a:rPr lang="hu-HU" dirty="0"/>
              <a:t>JavaScript</a:t>
            </a:r>
          </a:p>
          <a:p>
            <a:pPr lvl="1"/>
            <a:r>
              <a:rPr lang="hu-HU" dirty="0"/>
              <a:t>SQL</a:t>
            </a:r>
          </a:p>
          <a:p>
            <a:pPr lvl="1"/>
            <a:r>
              <a:rPr lang="hu-HU" sz="2400" dirty="0"/>
              <a:t>EJS</a:t>
            </a:r>
          </a:p>
          <a:p>
            <a:pPr lvl="1"/>
            <a:r>
              <a:rPr lang="hu-HU" dirty="0"/>
              <a:t>C#</a:t>
            </a:r>
          </a:p>
          <a:p>
            <a:pPr lvl="1"/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b="1" dirty="0"/>
              <a:t>További webfejlesztési eszközök:</a:t>
            </a:r>
          </a:p>
          <a:p>
            <a:pPr lvl="1"/>
            <a:r>
              <a:rPr lang="hu-HU" dirty="0"/>
              <a:t>XAMPP</a:t>
            </a:r>
          </a:p>
          <a:p>
            <a:pPr lvl="1"/>
            <a:r>
              <a:rPr lang="hu-HU" dirty="0"/>
              <a:t>MySQL</a:t>
            </a:r>
          </a:p>
          <a:p>
            <a:pPr lvl="1"/>
            <a:r>
              <a:rPr lang="hu-HU" dirty="0"/>
              <a:t>Node Package Manager</a:t>
            </a:r>
          </a:p>
          <a:p>
            <a:pPr lvl="1"/>
            <a:r>
              <a:rPr lang="hu-HU" dirty="0"/>
              <a:t>Node.js</a:t>
            </a:r>
          </a:p>
          <a:p>
            <a:pPr lvl="1"/>
            <a:endParaRPr lang="hu-HU" dirty="0"/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259" y="2262990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816" y="2716645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6645" y="2252610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7437" y="2634205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3401" y="3137452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321" y="3472551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1500" y="4112021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8091" y="4637261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200" y="5073740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pPr lvl="1"/>
            <a:r>
              <a:rPr lang="hu-HU" dirty="0"/>
              <a:t>Ajánlott: </a:t>
            </a:r>
            <a:r>
              <a:rPr lang="hu-HU" b="1" dirty="0"/>
              <a:t>1.6 GHz</a:t>
            </a:r>
            <a:r>
              <a:rPr lang="hu-HU" dirty="0"/>
              <a:t> vagy gyorsabb, </a:t>
            </a:r>
            <a:r>
              <a:rPr lang="hu-HU" b="1" dirty="0"/>
              <a:t>többmagos</a:t>
            </a:r>
            <a:r>
              <a:rPr lang="hu-HU" dirty="0"/>
              <a:t> </a:t>
            </a:r>
            <a:r>
              <a:rPr lang="hu-HU" b="1" dirty="0"/>
              <a:t>CPU</a:t>
            </a:r>
            <a:r>
              <a:rPr lang="hu-HU" dirty="0"/>
              <a:t>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Minimális sebesség: </a:t>
            </a:r>
            <a:r>
              <a:rPr lang="hu-HU" b="1" dirty="0"/>
              <a:t>2-4 Mbps</a:t>
            </a:r>
            <a:r>
              <a:rPr lang="hu-HU" dirty="0"/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 minimum​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</a:t>
            </a:r>
            <a:r>
              <a:rPr lang="hu-HU" b="1" dirty="0"/>
              <a:t>Chromium-alapú</a:t>
            </a:r>
            <a:r>
              <a:rPr lang="hu-HU" dirty="0"/>
              <a:t> böngészők​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Microsoft Edge​</a:t>
            </a:r>
          </a:p>
          <a:p>
            <a:pPr lvl="2"/>
            <a:r>
              <a:rPr lang="hu-HU" dirty="0"/>
              <a:t>Opera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Parancsok megadása:</a:t>
            </a:r>
          </a:p>
          <a:p>
            <a:pPr lvl="1"/>
            <a:r>
              <a:rPr lang="hu-HU" dirty="0"/>
              <a:t>Fontos, hogy a parancsokat a </a:t>
            </a:r>
            <a:r>
              <a:rPr lang="hu-HU" b="1" dirty="0"/>
              <a:t>ParKing/main </a:t>
            </a:r>
            <a:r>
              <a:rPr lang="hu-HU" dirty="0"/>
              <a:t>mappán belül kell megadni!</a:t>
            </a:r>
          </a:p>
          <a:p>
            <a:pPr lvl="2"/>
            <a:r>
              <a:rPr lang="hu-HU" b="1" dirty="0"/>
              <a:t>npm run dotenv</a:t>
            </a:r>
          </a:p>
          <a:p>
            <a:pPr lvl="2"/>
            <a:r>
              <a:rPr lang="hu-HU" b="1" dirty="0"/>
              <a:t>npm update</a:t>
            </a:r>
          </a:p>
          <a:p>
            <a:pPr lvl="2"/>
            <a:r>
              <a:rPr lang="hu-HU" b="1" dirty="0"/>
              <a:t>npm run setup</a:t>
            </a:r>
          </a:p>
          <a:p>
            <a:pPr lvl="2"/>
            <a:r>
              <a:rPr lang="hu-HU" b="1" dirty="0"/>
              <a:t>node server.js</a:t>
            </a:r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DEC30B-890E-E964-7539-576745D2A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5350" y="3434796"/>
            <a:ext cx="7461300" cy="645656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Adatbázis terv</a:t>
            </a:r>
            <a:endParaRPr lang="hu-HU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28CC540-F6BA-4A79-BB75-52073E741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516" y="103415"/>
            <a:ext cx="3052932" cy="394920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12A2DAF-1E6D-45AA-AC74-3EADC464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831" y="104010"/>
            <a:ext cx="3489294" cy="304458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1197927-F0F5-4075-9DE2-295632F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512" y="4211990"/>
            <a:ext cx="3346939" cy="264601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AD542D5-5B5E-4584-8006-04ED6915F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831" y="4077682"/>
            <a:ext cx="3489294" cy="2591465"/>
          </a:xfrm>
          <a:prstGeom prst="rect">
            <a:avLst/>
          </a:prstGeom>
        </p:spPr>
      </p:pic>
      <p:sp>
        <p:nvSpPr>
          <p:cNvPr id="22" name="Jobb oldali szögletes zárójel 21">
            <a:extLst>
              <a:ext uri="{FF2B5EF4-FFF2-40B4-BE49-F238E27FC236}">
                <a16:creationId xmlns:a16="http://schemas.microsoft.com/office/drawing/2014/main" id="{FC260EFA-5D18-4CAC-8650-32F549227E8B}"/>
              </a:ext>
            </a:extLst>
          </p:cNvPr>
          <p:cNvSpPr/>
          <p:nvPr/>
        </p:nvSpPr>
        <p:spPr>
          <a:xfrm>
            <a:off x="4033864" y="1393865"/>
            <a:ext cx="427643" cy="3436580"/>
          </a:xfrm>
          <a:prstGeom prst="rightBracket">
            <a:avLst>
              <a:gd name="adj" fmla="val 309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" name="Jobb oldali szögletes zárójel 30">
            <a:extLst>
              <a:ext uri="{FF2B5EF4-FFF2-40B4-BE49-F238E27FC236}">
                <a16:creationId xmlns:a16="http://schemas.microsoft.com/office/drawing/2014/main" id="{99A9D81A-5DD9-4C39-9114-852889216328}"/>
              </a:ext>
            </a:extLst>
          </p:cNvPr>
          <p:cNvSpPr/>
          <p:nvPr/>
        </p:nvSpPr>
        <p:spPr>
          <a:xfrm>
            <a:off x="10243125" y="748937"/>
            <a:ext cx="120075" cy="4676493"/>
          </a:xfrm>
          <a:prstGeom prst="righ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45" name="Összekötő: szögletes 44">
            <a:extLst>
              <a:ext uri="{FF2B5EF4-FFF2-40B4-BE49-F238E27FC236}">
                <a16:creationId xmlns:a16="http://schemas.microsoft.com/office/drawing/2014/main" id="{C3310875-39B4-40A7-BD80-8DAA60743231}"/>
              </a:ext>
            </a:extLst>
          </p:cNvPr>
          <p:cNvCxnSpPr/>
          <p:nvPr/>
        </p:nvCxnSpPr>
        <p:spPr>
          <a:xfrm>
            <a:off x="4033864" y="643872"/>
            <a:ext cx="2719967" cy="156754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720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8619" y="1514842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2136" y="2449940"/>
            <a:ext cx="5676902" cy="319325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0D82D9D-E43D-40C0-A014-DD1D5C8C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654" y="3111470"/>
            <a:ext cx="5676901" cy="3193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E2C0BC-E7C9-42C1-B8DF-744DD8B96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115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E42DD3E-FDEC-4EBB-A559-B84436B82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937" y="1297577"/>
            <a:ext cx="10832125" cy="5117225"/>
          </a:xfrm>
        </p:spPr>
      </p:pic>
    </p:spTree>
    <p:extLst>
      <p:ext uri="{BB962C8B-B14F-4D97-AF65-F5344CB8AC3E}">
        <p14:creationId xmlns:p14="http://schemas.microsoft.com/office/powerpoint/2010/main" val="421075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CB503-356C-4A3C-9AE6-7C783AC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8060254D-78D7-49F3-ACFB-C1557704BB7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376" y="1690688"/>
            <a:ext cx="3177248" cy="4900490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7C4FBCB0-4FE2-4838-9058-116FCE220D2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6530" y="1690688"/>
            <a:ext cx="2238375" cy="121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4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B913A5F-C85E-4ABB-871B-986644D9A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55844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67004C89-02E5-4356-AA11-5402434A80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9767" y="1253331"/>
            <a:ext cx="4741458" cy="4351338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101385E-13BD-4CFE-BA59-A069E7F1C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75" y="785081"/>
            <a:ext cx="6096851" cy="3077004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6BBCC28F-A878-495F-A303-2D7231523B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143" y="3963555"/>
            <a:ext cx="5830114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267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BEC097-6F6A-4BAE-AC19-2EADB785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8362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FF963DD-33A7-42BB-91EB-A2572C239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0787" y="2124982"/>
            <a:ext cx="3410426" cy="3629532"/>
          </a:xfr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0EABB33-9B61-41C7-AA5B-AB9E2FDB83E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5434" y="2124982"/>
            <a:ext cx="2631440" cy="131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48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B59-780B-4A65-9DB6-10C8962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B182EB3-8B6B-727F-86D3-482C09D89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512" y="1415561"/>
            <a:ext cx="11388975" cy="505557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3ECDE5B-EF57-069F-A510-F9AAF36D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505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latin typeface="Times New Roman"/>
                <a:ea typeface="Calibri Light"/>
                <a:cs typeface="Calibri Light"/>
              </a:rPr>
              <a:t>Főoldal bejelentkezés után</a:t>
            </a:r>
          </a:p>
        </p:txBody>
      </p:sp>
    </p:spTree>
    <p:extLst>
      <p:ext uri="{BB962C8B-B14F-4D97-AF65-F5344CB8AC3E}">
        <p14:creationId xmlns:p14="http://schemas.microsoft.com/office/powerpoint/2010/main" val="609373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D2C16-0EBF-4317-A505-C5B9051B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fejlesztők céljai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503F14E-82F6-4F16-B7D1-E66E07BC6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46" y="1690688"/>
            <a:ext cx="11582507" cy="4410344"/>
          </a:xfrm>
        </p:spPr>
      </p:pic>
    </p:spTree>
    <p:extLst>
      <p:ext uri="{BB962C8B-B14F-4D97-AF65-F5344CB8AC3E}">
        <p14:creationId xmlns:p14="http://schemas.microsoft.com/office/powerpoint/2010/main" val="294030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7016" y="2006187"/>
            <a:ext cx="11077967" cy="4259181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48" y="755008"/>
            <a:ext cx="2070735" cy="103505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F1C381-E558-4D16-8BDC-91CC1990D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16" y="755008"/>
            <a:ext cx="2193827" cy="107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675" y="5468563"/>
            <a:ext cx="2124932" cy="960279"/>
          </a:xfrm>
          <a:prstGeom prst="rect">
            <a:avLst/>
          </a:prstGeom>
        </p:spPr>
      </p:pic>
      <p:pic>
        <p:nvPicPr>
          <p:cNvPr id="3" name="Kép 2" descr="A képen szöveg, képernyőkép, Betűtípus, Acélkék látható&#10;&#10;Lehet, hogy az AI által létrehozott tartalom helytelen.">
            <a:extLst>
              <a:ext uri="{FF2B5EF4-FFF2-40B4-BE49-F238E27FC236}">
                <a16:creationId xmlns:a16="http://schemas.microsoft.com/office/drawing/2014/main" id="{626B5678-1078-12C2-2F1F-D03EB0D7A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115" y="213234"/>
            <a:ext cx="1975951" cy="132326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t="-2539" r="82886"/>
          <a:stretch/>
        </p:blipFill>
        <p:spPr>
          <a:xfrm>
            <a:off x="3352675" y="2056027"/>
            <a:ext cx="2124932" cy="335465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1763" y="2167741"/>
            <a:ext cx="1901223" cy="3236791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38C9B685-E6BF-4528-B33A-C5BB1BA5B7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5606" y="4389695"/>
            <a:ext cx="2009378" cy="1014837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A6553BDD-972E-480F-85CB-AE6F18C5BB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5754" y="2169358"/>
            <a:ext cx="1989082" cy="1014837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48FEF119-DF90-4637-B160-8CF9EB9DE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5754" y="3282886"/>
            <a:ext cx="2009378" cy="1008117"/>
          </a:xfrm>
          <a:prstGeom prst="rect">
            <a:avLst/>
          </a:prstGeom>
        </p:spPr>
      </p:pic>
      <p:pic>
        <p:nvPicPr>
          <p:cNvPr id="33" name="Kép 32">
            <a:extLst>
              <a:ext uri="{FF2B5EF4-FFF2-40B4-BE49-F238E27FC236}">
                <a16:creationId xmlns:a16="http://schemas.microsoft.com/office/drawing/2014/main" id="{DE98F546-7B06-4239-9117-C218290ED3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22220" y="1114199"/>
            <a:ext cx="1870843" cy="941828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03EBAF2D-7941-4EBC-8F4F-FBC76F2593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51763" y="5468564"/>
            <a:ext cx="1901223" cy="960279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94D9ACFB-F8EB-41F1-B6BA-1472723E1D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2603" y="2132573"/>
            <a:ext cx="2007452" cy="1003726"/>
          </a:xfrm>
          <a:prstGeom prst="rect">
            <a:avLst/>
          </a:prstGeom>
        </p:spPr>
      </p:pic>
      <p:pic>
        <p:nvPicPr>
          <p:cNvPr id="39" name="Kép 38">
            <a:extLst>
              <a:ext uri="{FF2B5EF4-FFF2-40B4-BE49-F238E27FC236}">
                <a16:creationId xmlns:a16="http://schemas.microsoft.com/office/drawing/2014/main" id="{AE8FA99E-4FD5-4000-96A6-0245D457B5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62603" y="3251029"/>
            <a:ext cx="2007452" cy="1023935"/>
          </a:xfrm>
          <a:prstGeom prst="rect">
            <a:avLst/>
          </a:prstGeom>
        </p:spPr>
      </p:pic>
      <p:pic>
        <p:nvPicPr>
          <p:cNvPr id="41" name="Kép 40">
            <a:extLst>
              <a:ext uri="{FF2B5EF4-FFF2-40B4-BE49-F238E27FC236}">
                <a16:creationId xmlns:a16="http://schemas.microsoft.com/office/drawing/2014/main" id="{DBF28461-2EAE-4A98-80FA-4DE969471C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62603" y="4389695"/>
            <a:ext cx="2007452" cy="1001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924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691" y="125084"/>
            <a:ext cx="2391109" cy="1457528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98D6CC8-D3DD-41ED-829A-50D91D587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691" y="1690688"/>
            <a:ext cx="10924061" cy="5080959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8ADAD2C6-20CD-4E04-A0BF-1871C2082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9064" y="677611"/>
            <a:ext cx="2781688" cy="90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53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7143" y="3846321"/>
            <a:ext cx="10597713" cy="2937979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7E357A3-3E8F-42F7-999B-1E89A49C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835269"/>
            <a:ext cx="9510346" cy="259373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7964174-6C21-43D7-85E4-D29681B51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032" y="3626481"/>
            <a:ext cx="1743318" cy="228632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7025" y="896459"/>
            <a:ext cx="1747497" cy="550581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7024" y="1518375"/>
            <a:ext cx="1747497" cy="853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1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B0A783-875B-48E6-AC8C-77E96D3C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Lábléc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BB3075A-9DCD-4AF4-8249-FD4F3CA9E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52" y="2448189"/>
            <a:ext cx="11742295" cy="1961621"/>
          </a:xfr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21B87BE7-801B-4FF4-B115-8797E1FF842B}"/>
              </a:ext>
            </a:extLst>
          </p:cNvPr>
          <p:cNvSpPr txBox="1"/>
          <p:nvPr/>
        </p:nvSpPr>
        <p:spPr>
          <a:xfrm>
            <a:off x="11086012" y="6244046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hlinkClick r:id="rId3" action="ppaction://hlinksldjump"/>
              </a:rPr>
              <a:t>Főoldal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71728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C45E16-A544-4769-AE44-EA0EAB25E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9D1A08-BE99-4F67-9668-82D86316D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ParKing csapata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A4882EB-8F7C-4060-B146-44987AEA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78" y="5648699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86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879</TotalTime>
  <Words>338</Words>
  <Application>Microsoft Office PowerPoint</Application>
  <PresentationFormat>Szélesvásznú</PresentationFormat>
  <Paragraphs>96</Paragraphs>
  <Slides>21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21</vt:i4>
      </vt:variant>
    </vt:vector>
  </HeadingPairs>
  <TitlesOfParts>
    <vt:vector size="25" baseType="lpstr">
      <vt:lpstr>Arial</vt:lpstr>
      <vt:lpstr>Calibri</vt:lpstr>
      <vt:lpstr>Times New Roman</vt:lpstr>
      <vt:lpstr>Office-téma</vt:lpstr>
      <vt:lpstr>ParKing</vt:lpstr>
      <vt:lpstr>Tartalomjegyzék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Adatbázis terv</vt:lpstr>
      <vt:lpstr>A weboldal bemutatása</vt:lpstr>
      <vt:lpstr>Főoldal</vt:lpstr>
      <vt:lpstr>Regisztráció</vt:lpstr>
      <vt:lpstr>Bejelentkezés</vt:lpstr>
      <vt:lpstr>Bejelentkezés</vt:lpstr>
      <vt:lpstr>Főoldal bejelentkezés után</vt:lpstr>
      <vt:lpstr>A fejlesztők céljai</vt:lpstr>
      <vt:lpstr>Kapcsolat</vt:lpstr>
      <vt:lpstr>Fiók szerkesztése</vt:lpstr>
      <vt:lpstr>Foglalás</vt:lpstr>
      <vt:lpstr>A felhasználó foglalásai</vt:lpstr>
      <vt:lpstr>Lábléc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129</cp:revision>
  <dcterms:created xsi:type="dcterms:W3CDTF">2026-01-21T10:12:04Z</dcterms:created>
  <dcterms:modified xsi:type="dcterms:W3CDTF">2026-03-05T11:14:17Z</dcterms:modified>
</cp:coreProperties>
</file>