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305" r:id="rId21"/>
    <p:sldId id="306" r:id="rId22"/>
    <p:sldId id="307" r:id="rId23"/>
    <p:sldId id="308" r:id="rId24"/>
    <p:sldId id="309" r:id="rId25"/>
    <p:sldId id="310" r:id="rId26"/>
    <p:sldId id="311" r:id="rId27"/>
    <p:sldId id="312" r:id="rId28"/>
    <p:sldId id="313" r:id="rId29"/>
    <p:sldId id="314" r:id="rId30"/>
    <p:sldId id="295" r:id="rId31"/>
    <p:sldId id="296" r:id="rId32"/>
    <p:sldId id="298" r:id="rId33"/>
    <p:sldId id="299" r:id="rId34"/>
    <p:sldId id="300" r:id="rId35"/>
    <p:sldId id="301" r:id="rId36"/>
    <p:sldId id="302" r:id="rId37"/>
    <p:sldId id="303" r:id="rId38"/>
    <p:sldId id="293" r:id="rId39"/>
    <p:sldId id="304" r:id="rId40"/>
    <p:sldId id="287" r:id="rId4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>
  <a:tblStyle styleId="{69CF1AB2-1976-4502-BF36-3FF5EA218861}" styleName="Közepesen sötét stílus 4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3C2FFA5D-87B4-456A-9821-1D502468CF0F}" styleName="Téma alapján készült stílus 1 – 1. jelölőszín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incs stílus, csak rács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 autoAdjust="0"/>
    <p:restoredTop sz="96357" autoAdjust="0"/>
  </p:normalViewPr>
  <p:slideViewPr>
    <p:cSldViewPr snapToGrid="0">
      <p:cViewPr>
        <p:scale>
          <a:sx n="100" d="100"/>
          <a:sy n="100" d="100"/>
        </p:scale>
        <p:origin x="39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2026.04.23.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26.png"/><Relationship Id="rId7" Type="http://schemas.openxmlformats.org/officeDocument/2006/relationships/image" Target="../media/image9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95.png"/><Relationship Id="rId9" Type="http://schemas.openxmlformats.org/officeDocument/2006/relationships/image" Target="../media/image9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7" Type="http://schemas.openxmlformats.org/officeDocument/2006/relationships/image" Target="../media/image101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10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11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1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7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10000"/>
              </a:lnSpc>
            </a:pPr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 Code</a:t>
            </a:r>
          </a:p>
          <a:p>
            <a:pPr lvl="2">
              <a:lnSpc>
                <a:spcPct val="110000"/>
              </a:lnSpc>
            </a:pPr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hu-HU" sz="2400" b="1" dirty="0"/>
              <a:t>Webfejlesztés során használt eszközök: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HTML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CSS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JavaScript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SQL</a:t>
            </a:r>
          </a:p>
          <a:p>
            <a:pPr lvl="1">
              <a:lnSpc>
                <a:spcPct val="110000"/>
              </a:lnSpc>
            </a:pPr>
            <a:r>
              <a:rPr lang="hu-HU" sz="2400" dirty="0"/>
              <a:t>EJS</a:t>
            </a:r>
          </a:p>
          <a:p>
            <a:pPr lvl="1">
              <a:lnSpc>
                <a:spcPct val="110000"/>
              </a:lnSpc>
            </a:pPr>
            <a:r>
              <a:rPr lang="hu-HU" dirty="0"/>
              <a:t>C#</a:t>
            </a:r>
          </a:p>
          <a:p>
            <a:pPr lvl="1">
              <a:lnSpc>
                <a:spcPct val="110000"/>
              </a:lnSpc>
            </a:pPr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2400" b="1" dirty="0"/>
              <a:t>További webfejlesztési eszközök: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XAMPP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MySQL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 Package Manager</a:t>
            </a:r>
          </a:p>
          <a:p>
            <a:pPr lvl="1">
              <a:lnSpc>
                <a:spcPct val="100000"/>
              </a:lnSpc>
            </a:pPr>
            <a:r>
              <a:rPr lang="hu-HU" dirty="0"/>
              <a:t>Node.js</a:t>
            </a:r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960" y="2277417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2201" y="2754164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6854" y="220235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3892" y="2607679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3610" y="3099308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8798" y="3449765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4447" y="4197783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4667" y="4770776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6781" y="5263123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895350" lvl="1" indent="-447675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futtatása:</a:t>
            </a:r>
          </a:p>
          <a:p>
            <a:pPr marL="457200" lvl="1" indent="0">
              <a:buNone/>
            </a:pPr>
            <a:r>
              <a:rPr lang="hu-HU" dirty="0"/>
              <a:t>	</a:t>
            </a:r>
            <a:r>
              <a:rPr lang="hu-HU" u="sng" dirty="0"/>
              <a:t>Fontos, hogy a parancsokat a </a:t>
            </a:r>
            <a:r>
              <a:rPr lang="hu-HU" b="1" u="sng" dirty="0"/>
              <a:t>ParKing/main </a:t>
            </a:r>
            <a:r>
              <a:rPr lang="hu-HU" u="sng" dirty="0"/>
              <a:t>mappán belül kell futtatni!</a:t>
            </a:r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dotenv</a:t>
            </a:r>
            <a:r>
              <a:rPr lang="hu-HU" b="1" dirty="0"/>
              <a:t> + .</a:t>
            </a:r>
            <a:r>
              <a:rPr lang="hu-HU" i="1" dirty="0" err="1"/>
              <a:t>env</a:t>
            </a:r>
            <a:r>
              <a:rPr lang="hu-HU" i="1" dirty="0"/>
              <a:t> fájl feltöltése a megfelelő adatokkal!</a:t>
            </a:r>
          </a:p>
          <a:p>
            <a:pPr lvl="2"/>
            <a:r>
              <a:rPr lang="hu-HU" b="1" dirty="0"/>
              <a:t>npm update - </a:t>
            </a:r>
            <a:r>
              <a:rPr lang="hu-HU" i="1" dirty="0" err="1"/>
              <a:t>node_modules</a:t>
            </a:r>
            <a:r>
              <a:rPr lang="hu-HU" i="1" dirty="0"/>
              <a:t> mappa létrehozása</a:t>
            </a:r>
            <a:endParaRPr lang="hu-HU" b="1" dirty="0"/>
          </a:p>
          <a:p>
            <a:pPr lvl="2"/>
            <a:r>
              <a:rPr lang="hu-HU" b="1" dirty="0"/>
              <a:t>npm </a:t>
            </a:r>
            <a:r>
              <a:rPr lang="hu-HU" b="1" dirty="0" err="1"/>
              <a:t>run</a:t>
            </a:r>
            <a:r>
              <a:rPr lang="hu-HU" b="1" dirty="0"/>
              <a:t> </a:t>
            </a:r>
            <a:r>
              <a:rPr lang="hu-HU" b="1" dirty="0" err="1"/>
              <a:t>setup</a:t>
            </a:r>
            <a:r>
              <a:rPr lang="hu-HU" b="1" dirty="0"/>
              <a:t> - </a:t>
            </a:r>
            <a:r>
              <a:rPr lang="hu-HU" i="1" dirty="0"/>
              <a:t>szükséges csomagok letöltése</a:t>
            </a:r>
            <a:endParaRPr lang="hu-HU" b="1" dirty="0"/>
          </a:p>
          <a:p>
            <a:pPr lvl="2"/>
            <a:r>
              <a:rPr lang="hu-HU" b="1" dirty="0"/>
              <a:t>node server.js - </a:t>
            </a:r>
            <a:r>
              <a:rPr lang="hu-HU" i="1" dirty="0"/>
              <a:t>szerver elindítása</a:t>
            </a:r>
            <a:endParaRPr lang="hu-HU" b="1" dirty="0"/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337AE7-E7E1-4AAA-A097-D55937D75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Adminfelület – WPF, Electron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A1777A0-FC69-486B-BF14-AC5E4CC29A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89" y="1541275"/>
            <a:ext cx="7813431" cy="409197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E4F1D5B-B2A9-45A0-916D-55D6B5F7D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6052" y="2070005"/>
            <a:ext cx="8147538" cy="4581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136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F2348A-8F63-4A7B-A710-E5E72F2A9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WPF vs Electron</a:t>
            </a:r>
          </a:p>
        </p:txBody>
      </p:sp>
      <p:graphicFrame>
        <p:nvGraphicFramePr>
          <p:cNvPr id="7" name="Tartalom helye 6">
            <a:extLst>
              <a:ext uri="{FF2B5EF4-FFF2-40B4-BE49-F238E27FC236}">
                <a16:creationId xmlns:a16="http://schemas.microsoft.com/office/drawing/2014/main" id="{E8B90FB1-BFCF-4A27-B2A1-52F5876099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2027993"/>
              </p:ext>
            </p:extLst>
          </p:nvPr>
        </p:nvGraphicFramePr>
        <p:xfrm>
          <a:off x="557984" y="2490788"/>
          <a:ext cx="11076032" cy="2194560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2655897">
                  <a:extLst>
                    <a:ext uri="{9D8B030D-6E8A-4147-A177-3AD203B41FA5}">
                      <a16:colId xmlns:a16="http://schemas.microsoft.com/office/drawing/2014/main" val="2768500571"/>
                    </a:ext>
                  </a:extLst>
                </a:gridCol>
                <a:gridCol w="4120696">
                  <a:extLst>
                    <a:ext uri="{9D8B030D-6E8A-4147-A177-3AD203B41FA5}">
                      <a16:colId xmlns:a16="http://schemas.microsoft.com/office/drawing/2014/main" val="3587214009"/>
                    </a:ext>
                  </a:extLst>
                </a:gridCol>
                <a:gridCol w="4299439">
                  <a:extLst>
                    <a:ext uri="{9D8B030D-6E8A-4147-A177-3AD203B41FA5}">
                      <a16:colId xmlns:a16="http://schemas.microsoft.com/office/drawing/2014/main" val="6937026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hu-HU" b="1" dirty="0"/>
                        <a:t>Szempont</a:t>
                      </a:r>
                      <a:endParaRPr lang="hu-H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b="1" u="sng" dirty="0"/>
                        <a:t>WPF</a:t>
                      </a:r>
                      <a:r>
                        <a:rPr lang="hu-HU" b="1" dirty="0"/>
                        <a:t> </a:t>
                      </a:r>
                      <a:r>
                        <a:rPr lang="hu-HU" b="0" dirty="0"/>
                        <a:t>(Windows Presentation Foundation)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u="sng" dirty="0"/>
                        <a:t>Electron</a:t>
                      </a:r>
                      <a:endParaRPr lang="hu-HU" u="sng" dirty="0"/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25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Platform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Windows-only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/>
                        <a:t>Cross-platform</a:t>
                      </a:r>
                      <a:r>
                        <a:rPr lang="hu-HU" dirty="0"/>
                        <a:t> (Windows, macOS, Linux)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581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Nyelv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dirty="0"/>
                        <a:t>C#, XAML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JavaScript, HTML, CSS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849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UI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Natív (DirectX-alapú)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Webes (Chromium rendereli)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433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/>
                        <a:t>Teljesítmény</a:t>
                      </a:r>
                      <a:endParaRPr lang="hu-H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/>
                        <a:t>Gyorsabb, erőforrás-hatékony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/>
                        <a:t>Nehezebb, több memória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0123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/>
                        <a:t>Ökoszisztéma</a:t>
                      </a:r>
                      <a:endParaRPr lang="hu-H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hu-HU" dirty="0"/>
                        <a:t>.NET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/>
                        <a:t>Webes stack </a:t>
                      </a:r>
                      <a:r>
                        <a:rPr lang="hu-HU" dirty="0"/>
                        <a:t>(nagyon nagy)</a:t>
                      </a:r>
                    </a:p>
                  </a:txBody>
                  <a:tcPr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9323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288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4091" y="1820540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23548" y="182054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23548" y="-2247203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23548" y="-6468054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1920" y="-6420666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013829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4091" y="8339327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45" y="1784261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3045" y="1733738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3045" y="-2487113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5" y="-7279067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0746445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091909" y="7919590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891" y="791959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706" y="1595203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3046" y="1595203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6" y="-3196751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1730252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504864" y="3422309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35955" y="8312363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706" y="8261840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151" y="1627820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3045" y="1335578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14537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4F7B0B-1B1A-4941-B503-5A2B5BB0B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015"/>
            <a:ext cx="10515600" cy="1325563"/>
          </a:xfrm>
        </p:spPr>
        <p:txBody>
          <a:bodyPr/>
          <a:lstStyle/>
          <a:p>
            <a:pPr algn="ctr"/>
            <a:r>
              <a:rPr lang="hu-HU" dirty="0"/>
              <a:t>Adminfelület – Electron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59C7601-20A1-489E-9181-EF5116D125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1504864" y="404695"/>
            <a:ext cx="10443818" cy="3602360"/>
          </a:xfrm>
          <a:ln w="25400">
            <a:solidFill>
              <a:schemeClr val="accent1"/>
            </a:solidFill>
          </a:ln>
          <a:effectLst>
            <a:softEdge rad="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76CCC18-7416-4605-8767-30303A425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235955" y="4644770"/>
            <a:ext cx="10174909" cy="361707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C86A7D6-B69A-4181-9FE5-587BA4E0F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0989634" y="8645298"/>
            <a:ext cx="9928588" cy="366759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7137742-FBA2-41D3-ADD8-C56E0EDFC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27" y="8645298"/>
            <a:ext cx="10221697" cy="3602360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B3D7335-80DA-4F4A-A484-C8530A9744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2623" y="1342268"/>
            <a:ext cx="4046754" cy="4173463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854104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366994-B212-46C5-99F7-F140B35F6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Adminfelület – Chart.js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C41132B4-644F-4592-8172-F4A741AABD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99075" y="1852292"/>
            <a:ext cx="6235700" cy="3782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Nyílt forráskódú 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JavaScript könyvtár adatvizualizációhoz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Könnyen használható 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grafikonok készítésére weboldalakon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HTML5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Canvas alapú megjelenítés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(mobilon is jól működik)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Több diagramtípus: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vonal-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oszlop-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kör-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radar-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területdiagram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stb.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Egyszerűen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testreszabható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(színek, animációk, tooltippek) 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JSON-alapú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adatkezelés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Courier New" panose="02070309020205020404" pitchFamily="49" charset="0"/>
              <a:buChar char="o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Gyakran használják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dashboardokban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kumimoji="0" lang="hu-HU" altLang="hu-HU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felületeken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37F0C27D-A0D5-45C5-88C8-87C910A42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" y="2281235"/>
            <a:ext cx="4619625" cy="292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378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07BB05-16D3-4289-A28D-A21F62C77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Adminfelület – Bootstrap 5.3.8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AE206F7E-CA5D-4E69-A171-F7D280C43A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9450420"/>
              </p:ext>
            </p:extLst>
          </p:nvPr>
        </p:nvGraphicFramePr>
        <p:xfrm>
          <a:off x="838200" y="2766854"/>
          <a:ext cx="10515600" cy="24688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8431307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8227802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Téma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Rövid összefoglaló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51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Bootstrap 5.3.8</a:t>
                      </a:r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Nyílt forráskódú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CSS/JS keretrendszer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reszponzív weboldalakhoz. Előre elkészített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 komponenseket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és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grid rendszert 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kínál, gyors fejlesztést és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könnyű testreszabást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biztosít.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179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Bootstrap Icons</a:t>
                      </a:r>
                      <a:endParaRPr lang="hu-H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Ingyenes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SVG alapú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ikonkészlet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a Bootstraphez. Több száz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skálázható </a:t>
                      </a:r>
                      <a:r>
                        <a:rPr lang="hu-HU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ikon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könnyen beilleszthető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egységes Bootstrap stílusban, </a:t>
                      </a:r>
                      <a:r>
                        <a:rPr lang="hu-HU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külső font nélkül</a:t>
                      </a:r>
                      <a:r>
                        <a:rPr lang="hu-H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829673"/>
                  </a:ext>
                </a:extLst>
              </a:tr>
            </a:tbl>
          </a:graphicData>
        </a:graphic>
      </p:graphicFrame>
      <p:pic>
        <p:nvPicPr>
          <p:cNvPr id="5" name="Kép 4">
            <a:extLst>
              <a:ext uri="{FF2B5EF4-FFF2-40B4-BE49-F238E27FC236}">
                <a16:creationId xmlns:a16="http://schemas.microsoft.com/office/drawing/2014/main" id="{B6D736E7-D460-440E-91A0-F29F07B63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5975" y="414972"/>
            <a:ext cx="1485900" cy="122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68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>
            <a:extLst>
              <a:ext uri="{FF2B5EF4-FFF2-40B4-BE49-F238E27FC236}">
                <a16:creationId xmlns:a16="http://schemas.microsoft.com/office/drawing/2014/main" id="{1D31FA8D-3937-40FC-8C69-BF7FE62C3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5" y="218424"/>
            <a:ext cx="11791950" cy="147069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FEA8572-5238-4981-B8F8-E32A6D7A94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92" t="357"/>
          <a:stretch/>
        </p:blipFill>
        <p:spPr>
          <a:xfrm>
            <a:off x="238125" y="1921669"/>
            <a:ext cx="4772696" cy="4651232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04FEDB3-936A-4361-A138-C4AF32AC7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7637" y="1921669"/>
            <a:ext cx="2867425" cy="1324160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9C4899FA-9D36-4327-A34D-7A3E8A7C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8584" y="3459332"/>
            <a:ext cx="2886478" cy="1314633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6E85391B-D5C4-4B4F-B730-5C5ECB0A99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7163" y="4976186"/>
            <a:ext cx="2857899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40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7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75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50"/>
                            </p:stCondLst>
                            <p:childTnLst>
                              <p:par>
                                <p:cTn id="2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4028" y="1319058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269" y="201778"/>
            <a:ext cx="1529862" cy="932545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D939808-857C-4E6C-B0B4-0695A9E58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" y="1442572"/>
            <a:ext cx="6548928" cy="3683772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C4152D74-755A-4F51-8878-0A2F8E50C2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" y="1419861"/>
            <a:ext cx="6866862" cy="3729192"/>
          </a:xfrm>
          <a:prstGeom prst="rect">
            <a:avLst/>
          </a:prstGeom>
          <a:ln w="38100" cap="sq">
            <a:noFill/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44BD9601-647E-4BB4-A2D7-C716F8D830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0608" y="5921368"/>
            <a:ext cx="6829425" cy="885825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8538A5E0-3985-467D-8D71-280F641C25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7362" y="5198472"/>
            <a:ext cx="5362575" cy="70485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BB30A40C-95AB-4688-AE50-2908E7928F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1797" y="1585498"/>
            <a:ext cx="5006934" cy="3397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325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750"/>
                            </p:stCondLst>
                            <p:childTnLst>
                              <p:par>
                                <p:cTn id="3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184" y="869185"/>
            <a:ext cx="11277616" cy="3126467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004" y="4062695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9241" y="4062695"/>
            <a:ext cx="2141075" cy="104513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E9DDB53-6584-4D9C-AAD2-32A10A43C8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84" y="869185"/>
            <a:ext cx="6798302" cy="3967132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51D0E187-3EC6-4892-B8CC-0343D3650F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84" y="4893168"/>
            <a:ext cx="6059424" cy="193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0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14997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A5B8305B-C9BD-4F54-BA38-0904A4AA0549}"/>
              </a:ext>
            </a:extLst>
          </p:cNvPr>
          <p:cNvSpPr txBox="1"/>
          <p:nvPr/>
        </p:nvSpPr>
        <p:spPr>
          <a:xfrm>
            <a:off x="5190309" y="2278517"/>
            <a:ext cx="181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jest és supertest</a:t>
            </a:r>
          </a:p>
          <a:p>
            <a:r>
              <a:rPr lang="hu-HU" dirty="0"/>
              <a:t>Tesztelési eszköz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DB16A69A-BCCE-4395-9E0E-A4EFD7D38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317" y="3512678"/>
            <a:ext cx="3367365" cy="170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4498D7-1110-47C5-AF9C-748E4B196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Fejlesztési lehetőségek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36B8188-B2DE-453D-A071-C5D669535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/>
          <a:lstStyle/>
          <a:p>
            <a:r>
              <a:rPr lang="hu-HU" dirty="0"/>
              <a:t>Profilkép beállítása</a:t>
            </a:r>
          </a:p>
          <a:p>
            <a:r>
              <a:rPr lang="hu-HU" dirty="0"/>
              <a:t>Elfelejtett jelszó funkció teljes körű működése</a:t>
            </a:r>
          </a:p>
          <a:p>
            <a:r>
              <a:rPr lang="hu-HU" dirty="0"/>
              <a:t>Foglalás esetén működőképes bankkártyás fizetés</a:t>
            </a:r>
          </a:p>
          <a:p>
            <a:r>
              <a:rPr lang="hu-HU" dirty="0"/>
              <a:t>Többnyelvű megjelenítés</a:t>
            </a:r>
          </a:p>
          <a:p>
            <a:r>
              <a:rPr lang="hu-HU" dirty="0"/>
              <a:t>Közösségi oldalak létrehozása a weboldalhoz</a:t>
            </a:r>
          </a:p>
          <a:p>
            <a:r>
              <a:rPr lang="hu-HU" dirty="0"/>
              <a:t>Regisztráció/bejelentkezés parkolóház-tulajdonosként</a:t>
            </a:r>
          </a:p>
          <a:p>
            <a:r>
              <a:rPr lang="hu-HU" dirty="0"/>
              <a:t>Sötét/világos mód felhasználónkénti mentése az adatbázisba</a:t>
            </a:r>
          </a:p>
          <a:p>
            <a:r>
              <a:rPr lang="hu-HU" dirty="0"/>
              <a:t>Electron </a:t>
            </a:r>
            <a:r>
              <a:rPr lang="hu-HU" dirty="0" err="1"/>
              <a:t>adminfelület</a:t>
            </a:r>
            <a:r>
              <a:rPr lang="hu-HU" dirty="0"/>
              <a:t> további fejlesztése (</a:t>
            </a:r>
            <a:r>
              <a:rPr lang="hu-HU" dirty="0" err="1"/>
              <a:t>pl</a:t>
            </a:r>
            <a:r>
              <a:rPr lang="hu-HU" dirty="0"/>
              <a:t>: beállítások lap hozzáadása)</a:t>
            </a:r>
          </a:p>
        </p:txBody>
      </p:sp>
    </p:spTree>
    <p:extLst>
      <p:ext uri="{BB962C8B-B14F-4D97-AF65-F5344CB8AC3E}">
        <p14:creationId xmlns:p14="http://schemas.microsoft.com/office/powerpoint/2010/main" val="2725263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</TotalTime>
  <Words>585</Words>
  <Application>Microsoft Office PowerPoint</Application>
  <PresentationFormat>Szélesvásznú</PresentationFormat>
  <Paragraphs>140</Paragraphs>
  <Slides>40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40</vt:i4>
      </vt:variant>
    </vt:vector>
  </HeadingPairs>
  <TitlesOfParts>
    <vt:vector size="45" baseType="lpstr">
      <vt:lpstr>Arial</vt:lpstr>
      <vt:lpstr>Calibri</vt:lpstr>
      <vt:lpstr>Courier New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Adminfelület – WPF, Electron</vt:lpstr>
      <vt:lpstr>WPF vs Electron</vt:lpstr>
      <vt:lpstr>Adminfelület – Electron</vt:lpstr>
      <vt:lpstr>Adminfelület – Electron</vt:lpstr>
      <vt:lpstr>Adminfelület – Electron</vt:lpstr>
      <vt:lpstr>Adminfelület – Electron</vt:lpstr>
      <vt:lpstr>Adminfelület – Electron</vt:lpstr>
      <vt:lpstr>Adminfelület – Chart.js</vt:lpstr>
      <vt:lpstr>Adminfelület – Bootstrap 5.3.8</vt:lpstr>
      <vt:lpstr>PowerPoint-bemutató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Backend - Foglalás</vt:lpstr>
      <vt:lpstr>A felhasználó foglalásai</vt:lpstr>
      <vt:lpstr>Tesztelés</vt:lpstr>
      <vt:lpstr>Fejlesztési lehetőségek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190</cp:revision>
  <dcterms:created xsi:type="dcterms:W3CDTF">2026-01-21T10:12:04Z</dcterms:created>
  <dcterms:modified xsi:type="dcterms:W3CDTF">2026-04-23T09:24:21Z</dcterms:modified>
</cp:coreProperties>
</file>