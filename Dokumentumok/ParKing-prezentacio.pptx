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8" r:id="rId3"/>
    <p:sldId id="260" r:id="rId4"/>
    <p:sldId id="267" r:id="rId5"/>
    <p:sldId id="268" r:id="rId6"/>
    <p:sldId id="277" r:id="rId7"/>
    <p:sldId id="288" r:id="rId8"/>
    <p:sldId id="276" r:id="rId9"/>
    <p:sldId id="278" r:id="rId10"/>
    <p:sldId id="279" r:id="rId11"/>
    <p:sldId id="280" r:id="rId12"/>
    <p:sldId id="292" r:id="rId13"/>
    <p:sldId id="281" r:id="rId14"/>
    <p:sldId id="282" r:id="rId15"/>
    <p:sldId id="284" r:id="rId16"/>
    <p:sldId id="285" r:id="rId17"/>
    <p:sldId id="294" r:id="rId18"/>
    <p:sldId id="286" r:id="rId19"/>
    <p:sldId id="283" r:id="rId20"/>
    <p:sldId id="295" r:id="rId21"/>
    <p:sldId id="296" r:id="rId22"/>
    <p:sldId id="298" r:id="rId23"/>
    <p:sldId id="299" r:id="rId24"/>
    <p:sldId id="300" r:id="rId25"/>
    <p:sldId id="301" r:id="rId26"/>
    <p:sldId id="293" r:id="rId27"/>
    <p:sldId id="287" r:id="rId28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F920E8-7237-1C1F-F18D-F765C1AB43E2}" v="119" dt="2026-03-04T07:16:34.7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831" autoAdjust="0"/>
    <p:restoredTop sz="96357" autoAdjust="0"/>
  </p:normalViewPr>
  <p:slideViewPr>
    <p:cSldViewPr snapToGrid="0">
      <p:cViewPr varScale="1">
        <p:scale>
          <a:sx n="104" d="100"/>
          <a:sy n="104" d="100"/>
        </p:scale>
        <p:origin x="120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E43DA3-60A0-49BF-B20C-62E8BF76FF0C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 dirty="0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 dirty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3C07E-D996-4915-B0E3-1E8ACA4AF8BD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149546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sz="1800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3C07E-D996-4915-B0E3-1E8ACA4AF8BD}" type="slidenum">
              <a:rPr lang="hu-HU" smtClean="0"/>
              <a:t>1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395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619D970-C486-4780-9C5C-CF25745013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312B497-461D-4976-97E3-E56F7F2D0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 dirty="0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8E097F2-24D0-4CFA-A295-EAAC7A21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94A5E67-F916-46E7-B6F2-9EF03B8A5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3DC4985-8554-4359-B368-5096426DB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92983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BFC3B5-BA70-453F-B2B1-41E6BD10FE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6DD1146-C5DD-48FC-A7E2-B7B977360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4EA7A27-A0D6-4941-A7A4-44A66F537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4D266FF-AF67-437D-8FA3-C382FE837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D33E8D7-2CE7-442D-882C-877CAD275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76331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FEDD21-C29E-4DF4-B101-A83D3C41E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14AA386-6A89-4DC6-9883-2B7329681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12C767E-9D98-4C95-9FC4-A1A8BA165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54A8475-0029-499A-AA4C-448F0AB8D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EB0DCB2-86A3-4E6B-BE5B-1EBD1F557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337066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0DD904-4F65-4A02-B2C1-EBE1943EA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hu-HU" dirty="0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EF8EB0C-5E56-498D-85DA-6C047D5C1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ADB950F-C565-4B4B-8111-0F85EC31B3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8806001-67EB-459C-90A5-16464CCD2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B62A4F2-C9AA-4C36-BD23-BE47795761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24277B4-9E3F-4B82-8E4A-EBD2AA47A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35574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48CC3AB-BB1A-4E9C-9DCF-5824D259B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9E9165A-61B8-422D-AF23-5814A3AA1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0B06BAC6-ADDA-47DA-9801-692FEC365A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684FE0AE-872A-4F81-87B1-23104773AE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BD57E92F-A450-41DE-81D4-FC52711E21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5DFB22DE-66A7-4C14-B294-E31265D74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26C10FBF-982E-413F-AF38-65FE7F290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4983E8B7-4FB4-4FF8-81D3-1F712F691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33533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F90BD7C-CC57-4472-AE74-38FB67F20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74A28D1B-2D00-4473-943A-A392B2FEA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FADBF0D2-FFEE-4247-9C6A-43C049A85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4E957E21-ED70-46A3-BAF7-3598D06AC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07498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FCA78DC2-85A1-40FB-8470-57E71EAD9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41B1D11B-1CFD-4AA7-95FD-8276C9916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442A6FD-D6D5-4CEE-9AB4-98BE29666C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972808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6E82A62-EC3D-435D-B86B-44A38A7B5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C56A8F-B83A-4545-9209-E153A333E2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B3F674C-F07D-44F9-84E7-D9C745CD41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E499820E-4EC5-443A-AA1B-4CA89B62F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C6B69F2F-DB5F-4FF6-B13A-D1766211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63D0A49-429E-4ABB-A4C8-4BAA1DA1E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76779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4029010-7550-439D-AAEB-8DD324833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498E3025-6528-4E1A-A6F8-07E10797F6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 dirty="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0B6FF77-0017-43B8-BC94-EAC1BB8487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247C02A-F214-4083-B8CE-7592256F2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9E1869E7-726F-40A3-AEB1-8EE212136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1FC4ACA2-DCD7-4595-AFAF-CE77384CE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09244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C97E6A6-3F8D-4BFC-AF87-8ABC5CBD5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62522D9-5BCE-40BE-A0B8-0C6333663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B131102-FAF5-4BFF-942B-311113E699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D09130-51E2-49F8-9C09-D9BC188F4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7CA6971-5BE8-4798-8954-D8EF397F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79252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29FC5308-6916-4A6B-9D71-3381EBA434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C78A973-7102-4E3F-BBFB-A9C99AE1F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784DA1C-68F3-4AF8-99EB-7376D3228E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030B71E-450B-40D6-843A-A69A2568B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830436A-A2EB-4B50-84C9-638F20501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33442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55DE118F-34CF-40F4-B9C1-BE87494E9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703069BD-D938-4701-ADC4-BF81DF8B30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462B740-583A-4F80-8195-C4FD63491A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7BE7DF-DD35-4B2A-8B1D-D401538C2D35}" type="datetimeFigureOut">
              <a:rPr lang="hu-HU" smtClean="0"/>
              <a:t>2026.03.27.</a:t>
            </a:fld>
            <a:endParaRPr lang="hu-HU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CD48800-AEF6-4511-89EC-24430C443C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 dirty="0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78911571-BA21-4EB4-9629-A51A7CB76E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DC7AAC-5C4C-4C07-B1FA-6331DBAB6CE2}" type="slidenum">
              <a:rPr lang="hu-HU" smtClean="0"/>
              <a:t>‹#›</a:t>
            </a:fld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1097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png"/><Relationship Id="rId3" Type="http://schemas.openxmlformats.org/officeDocument/2006/relationships/image" Target="../media/image53.jpeg"/><Relationship Id="rId7" Type="http://schemas.openxmlformats.org/officeDocument/2006/relationships/image" Target="../media/image57.png"/><Relationship Id="rId12" Type="http://schemas.openxmlformats.org/officeDocument/2006/relationships/image" Target="../media/image62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11" Type="http://schemas.openxmlformats.org/officeDocument/2006/relationships/image" Target="../media/image61.png"/><Relationship Id="rId5" Type="http://schemas.openxmlformats.org/officeDocument/2006/relationships/image" Target="../media/image5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image" Target="../media/image26.png"/><Relationship Id="rId7" Type="http://schemas.openxmlformats.org/officeDocument/2006/relationships/image" Target="../media/image8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27.png"/><Relationship Id="rId4" Type="http://schemas.openxmlformats.org/officeDocument/2006/relationships/image" Target="../media/image81.png"/><Relationship Id="rId9" Type="http://schemas.openxmlformats.org/officeDocument/2006/relationships/image" Target="../media/image8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7" Type="http://schemas.openxmlformats.org/officeDocument/2006/relationships/image" Target="../media/image8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39.png"/><Relationship Id="rId4" Type="http://schemas.openxmlformats.org/officeDocument/2006/relationships/image" Target="../media/image8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7" Type="http://schemas.openxmlformats.org/officeDocument/2006/relationships/image" Target="../media/image96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5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33610AF-028B-4672-B501-52286EA4B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1"/>
            <a:ext cx="9144000" cy="977778"/>
          </a:xfrm>
        </p:spPr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ParKing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CECFCDB-F517-4153-97A9-282D2C996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14015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hu-HU" dirty="0"/>
              <a:t>Matos Kornél</a:t>
            </a:r>
          </a:p>
          <a:p>
            <a:r>
              <a:rPr lang="hu-HU" dirty="0"/>
              <a:t>Szőnyi Milán</a:t>
            </a:r>
          </a:p>
          <a:p>
            <a:r>
              <a:rPr lang="hu-HU" dirty="0"/>
              <a:t>Tapolcsányi Dávid</a:t>
            </a:r>
          </a:p>
          <a:p>
            <a:endParaRPr lang="hu-HU" dirty="0"/>
          </a:p>
          <a:p>
            <a:r>
              <a:rPr lang="hu-HU" dirty="0"/>
              <a:t>2025/2026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6AFFE99-4C15-44E8-8BE6-5CB41066EF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384" y="5657492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473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B40B292-D450-4B00-9E65-DF08F94CB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ParKing bemutatása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17C2BAF-66BC-48BE-A77A-47CA502B4C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b="1" dirty="0"/>
              <a:t>ParKing</a:t>
            </a:r>
            <a:r>
              <a:rPr lang="hu-HU" dirty="0"/>
              <a:t> egy parkoló bérléssel foglalkozó weboldal​</a:t>
            </a:r>
          </a:p>
          <a:p>
            <a:r>
              <a:rPr lang="hu-HU" dirty="0"/>
              <a:t>A </a:t>
            </a:r>
            <a:r>
              <a:rPr lang="hu-HU" b="1" dirty="0"/>
              <a:t>célja</a:t>
            </a:r>
            <a:r>
              <a:rPr lang="hu-HU" dirty="0"/>
              <a:t>, hogy a felhasználók egyszerűbben tudjanak parkolóhelyet bérelni​</a:t>
            </a:r>
          </a:p>
          <a:p>
            <a:r>
              <a:rPr lang="hu-HU" b="1" dirty="0"/>
              <a:t>Regisztráció</a:t>
            </a:r>
            <a:r>
              <a:rPr lang="hu-HU" dirty="0"/>
              <a:t> és </a:t>
            </a:r>
            <a:r>
              <a:rPr lang="hu-HU" b="1" dirty="0"/>
              <a:t>bejelentkezés</a:t>
            </a:r>
            <a:r>
              <a:rPr lang="hu-HU" dirty="0"/>
              <a:t> után a foglalás elindítható</a:t>
            </a:r>
          </a:p>
          <a:p>
            <a:r>
              <a:rPr lang="hu-HU" dirty="0"/>
              <a:t>Többféle parkolóhely</a:t>
            </a:r>
          </a:p>
          <a:p>
            <a:r>
              <a:rPr lang="hu-HU" b="1" dirty="0"/>
              <a:t>5</a:t>
            </a:r>
            <a:r>
              <a:rPr lang="hu-HU" dirty="0"/>
              <a:t> emelet </a:t>
            </a:r>
          </a:p>
          <a:p>
            <a:endParaRPr lang="hu-HU" dirty="0"/>
          </a:p>
        </p:txBody>
      </p:sp>
      <p:pic>
        <p:nvPicPr>
          <p:cNvPr id="1026" name="Picture 2" descr="A képen embléma, Grafika, szimbólum, clipart látható&#10;&#10;Lehet, hogy az AI által létrehozott tartalom helytelen.">
            <a:extLst>
              <a:ext uri="{FF2B5EF4-FFF2-40B4-BE49-F238E27FC236}">
                <a16:creationId xmlns:a16="http://schemas.microsoft.com/office/drawing/2014/main" id="{D93DF353-B449-4119-BA5C-C3756F1C25B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365" y="2091265"/>
            <a:ext cx="4077269" cy="3820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98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1A3EBB4-209E-4C4A-8963-60A06F01F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259807"/>
            <a:ext cx="12191999" cy="1325563"/>
          </a:xfrm>
        </p:spPr>
        <p:txBody>
          <a:bodyPr/>
          <a:lstStyle/>
          <a:p>
            <a:pPr algn="ctr"/>
            <a:r>
              <a:rPr lang="hu-HU" b="1" dirty="0"/>
              <a:t>A projektben használt webfejlesztési technológiák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76A86F8-05D4-4037-8E0C-A029DF30BF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30470" y="1825625"/>
            <a:ext cx="5181600" cy="1325563"/>
          </a:xfrm>
        </p:spPr>
        <p:txBody>
          <a:bodyPr>
            <a:normAutofit lnSpcReduction="10000"/>
          </a:bodyPr>
          <a:lstStyle/>
          <a:p>
            <a:pPr lvl="1"/>
            <a:r>
              <a:rPr lang="hu-HU" sz="2800" b="1" dirty="0"/>
              <a:t>Fejlesztői környezetek</a:t>
            </a:r>
            <a:r>
              <a:rPr lang="hu-HU" b="1" dirty="0"/>
              <a:t>:</a:t>
            </a:r>
          </a:p>
          <a:p>
            <a:pPr lvl="2"/>
            <a:r>
              <a:rPr lang="hu-HU" sz="2400" dirty="0"/>
              <a:t>Visual Studio Code</a:t>
            </a:r>
          </a:p>
          <a:p>
            <a:pPr lvl="2"/>
            <a:r>
              <a:rPr lang="hu-HU" sz="2400" dirty="0"/>
              <a:t>Visual Studio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A3C452D1-079A-4EC7-9875-40BD3F40FD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3000194"/>
          </a:xfrm>
        </p:spPr>
        <p:txBody>
          <a:bodyPr>
            <a:normAutofit lnSpcReduction="10000"/>
          </a:bodyPr>
          <a:lstStyle/>
          <a:p>
            <a:r>
              <a:rPr lang="hu-HU" sz="2400" b="1" dirty="0"/>
              <a:t>Webfejlesztés során használt eszközök:</a:t>
            </a:r>
          </a:p>
          <a:p>
            <a:pPr lvl="1"/>
            <a:r>
              <a:rPr lang="hu-HU" dirty="0"/>
              <a:t>HTML</a:t>
            </a:r>
          </a:p>
          <a:p>
            <a:pPr lvl="1"/>
            <a:r>
              <a:rPr lang="hu-HU" dirty="0"/>
              <a:t>CSS</a:t>
            </a:r>
          </a:p>
          <a:p>
            <a:pPr lvl="1"/>
            <a:r>
              <a:rPr lang="hu-HU" dirty="0"/>
              <a:t>JavaScript</a:t>
            </a:r>
          </a:p>
          <a:p>
            <a:pPr lvl="1"/>
            <a:r>
              <a:rPr lang="hu-HU" dirty="0"/>
              <a:t>SQL</a:t>
            </a:r>
          </a:p>
          <a:p>
            <a:pPr lvl="1"/>
            <a:r>
              <a:rPr lang="hu-HU" sz="2400" dirty="0"/>
              <a:t>EJS</a:t>
            </a:r>
          </a:p>
          <a:p>
            <a:pPr lvl="1"/>
            <a:r>
              <a:rPr lang="hu-HU" dirty="0"/>
              <a:t>C#</a:t>
            </a:r>
          </a:p>
          <a:p>
            <a:pPr lvl="1"/>
            <a:endParaRPr lang="hu-HU" dirty="0"/>
          </a:p>
        </p:txBody>
      </p:sp>
      <p:sp>
        <p:nvSpPr>
          <p:cNvPr id="5" name="Tartalom helye 3">
            <a:extLst>
              <a:ext uri="{FF2B5EF4-FFF2-40B4-BE49-F238E27FC236}">
                <a16:creationId xmlns:a16="http://schemas.microsoft.com/office/drawing/2014/main" id="{D54CD32B-9123-4C29-A891-C28B17413CF2}"/>
              </a:ext>
            </a:extLst>
          </p:cNvPr>
          <p:cNvSpPr txBox="1">
            <a:spLocks/>
          </p:cNvSpPr>
          <p:nvPr/>
        </p:nvSpPr>
        <p:spPr>
          <a:xfrm>
            <a:off x="914400" y="3455133"/>
            <a:ext cx="5181600" cy="29222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u-HU" sz="2400" b="1" dirty="0"/>
              <a:t>További webfejlesztési eszközök:</a:t>
            </a:r>
          </a:p>
          <a:p>
            <a:pPr lvl="1"/>
            <a:r>
              <a:rPr lang="hu-HU" dirty="0"/>
              <a:t>XAMPP</a:t>
            </a:r>
          </a:p>
          <a:p>
            <a:pPr lvl="1"/>
            <a:r>
              <a:rPr lang="hu-HU" dirty="0"/>
              <a:t>MySQL</a:t>
            </a:r>
          </a:p>
          <a:p>
            <a:pPr lvl="1"/>
            <a:r>
              <a:rPr lang="hu-HU" dirty="0"/>
              <a:t>Node Package Manager</a:t>
            </a:r>
          </a:p>
          <a:p>
            <a:pPr lvl="1"/>
            <a:r>
              <a:rPr lang="hu-HU" dirty="0"/>
              <a:t>Node.js</a:t>
            </a:r>
          </a:p>
          <a:p>
            <a:pPr lvl="1"/>
            <a:endParaRPr lang="hu-HU" dirty="0"/>
          </a:p>
        </p:txBody>
      </p:sp>
      <p:pic>
        <p:nvPicPr>
          <p:cNvPr id="6" name="Picture 2" descr="A képen Grafika, képernyőkép, szimbólum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9B7D3179-5112-4711-B066-9C07B4155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27259" y="2262990"/>
            <a:ext cx="485668" cy="485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E57E36E7-2575-4E4B-9486-39A131848B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2816" y="2716645"/>
            <a:ext cx="365998" cy="365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HTML5 - Wikipedia">
            <a:extLst>
              <a:ext uri="{FF2B5EF4-FFF2-40B4-BE49-F238E27FC236}">
                <a16:creationId xmlns:a16="http://schemas.microsoft.com/office/drawing/2014/main" id="{C71F1B9E-7E33-4E76-BBC2-D91DD8B016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2960" y="2402574"/>
            <a:ext cx="436756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6ECD169C-CCAB-4CEB-AF37-9CF41904B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199" y="2759233"/>
            <a:ext cx="309208" cy="4367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Live Instructor-Led JavaScript Training - Hands-on Interactive Course">
            <a:extLst>
              <a:ext uri="{FF2B5EF4-FFF2-40B4-BE49-F238E27FC236}">
                <a16:creationId xmlns:a16="http://schemas.microsoft.com/office/drawing/2014/main" id="{431B8E77-8BD6-46D0-B419-16BC7A6D6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9537" y="3198681"/>
            <a:ext cx="289579" cy="3263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The Best Way to Learn SQL - Learn to code in 30 Days!">
            <a:extLst>
              <a:ext uri="{FF2B5EF4-FFF2-40B4-BE49-F238E27FC236}">
                <a16:creationId xmlns:a16="http://schemas.microsoft.com/office/drawing/2014/main" id="{1479B6AD-867D-4F03-BE2F-DC03FB6C1A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321" y="3472551"/>
            <a:ext cx="709066" cy="3722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A képen Betűtípus, Grafika, szimbólum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E442CF20-B1F8-4A1B-AF6F-69C9337A3B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9759" y="3810464"/>
            <a:ext cx="487145" cy="488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3">
            <a:extLst>
              <a:ext uri="{FF2B5EF4-FFF2-40B4-BE49-F238E27FC236}">
                <a16:creationId xmlns:a16="http://schemas.microsoft.com/office/drawing/2014/main" id="{92A03FA7-0B33-451D-B0DE-424E7753CC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299" y="4162365"/>
            <a:ext cx="565801" cy="565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A képen Grafika, szimbólum, clipart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14FFCA80-D6F9-4BCB-840B-98E22B43B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8103" y="3846241"/>
            <a:ext cx="486486" cy="491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A képen Grafika, Betűtípus, embléma, Grafikus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075C5926-C733-4DD0-9FF8-9F4F4E1B9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1500" y="4112021"/>
            <a:ext cx="713798" cy="713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 descr="A képen Betűtípus, Grafika, emblém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308771A7-7F15-4CC9-BB9E-5C110B92B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8091" y="4637261"/>
            <a:ext cx="548640" cy="548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A képen képernyőkép, Grafika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70FDB678-6AEA-403B-9193-72A0EC5957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6200" y="5073740"/>
            <a:ext cx="655420" cy="470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988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44D50DE-9756-4147-A6DF-0DE540659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353800" cy="1325563"/>
          </a:xfrm>
        </p:spPr>
        <p:txBody>
          <a:bodyPr/>
          <a:lstStyle/>
          <a:p>
            <a:r>
              <a:rPr lang="hu-HU" b="1" dirty="0"/>
              <a:t>Rendszeráttekintés - hardverkövetelmények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C03E9-4E2C-4846-907B-B8CE8E3F2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61914" cy="4153144"/>
          </a:xfrm>
        </p:spPr>
        <p:txBody>
          <a:bodyPr>
            <a:normAutofit/>
          </a:bodyPr>
          <a:lstStyle/>
          <a:p>
            <a:r>
              <a:rPr lang="hu-HU" dirty="0"/>
              <a:t>A weboldal általánosságban </a:t>
            </a:r>
            <a:r>
              <a:rPr lang="hu-HU" b="1" dirty="0"/>
              <a:t>nem igényel nagy számítási teljesítményt</a:t>
            </a:r>
            <a:r>
              <a:rPr lang="hu-HU" dirty="0"/>
              <a:t>​</a:t>
            </a:r>
          </a:p>
          <a:p>
            <a:r>
              <a:rPr lang="hu-HU" b="1" dirty="0"/>
              <a:t>Processzor:</a:t>
            </a:r>
            <a:r>
              <a:rPr lang="hu-HU" dirty="0"/>
              <a:t> Minimális követelmény: </a:t>
            </a:r>
            <a:r>
              <a:rPr lang="hu-HU" b="1" dirty="0"/>
              <a:t>1.2 GHz</a:t>
            </a:r>
            <a:r>
              <a:rPr lang="hu-HU" dirty="0"/>
              <a:t>-es egy- vagy </a:t>
            </a:r>
            <a:r>
              <a:rPr lang="hu-HU" b="1" dirty="0"/>
              <a:t>kétmagos</a:t>
            </a:r>
            <a:r>
              <a:rPr lang="hu-HU" dirty="0"/>
              <a:t> processzor​</a:t>
            </a:r>
          </a:p>
          <a:p>
            <a:r>
              <a:rPr lang="hu-HU" b="1" dirty="0"/>
              <a:t>Memória</a:t>
            </a:r>
            <a:r>
              <a:rPr lang="hu-HU" dirty="0"/>
              <a:t>: Legalább </a:t>
            </a:r>
            <a:r>
              <a:rPr lang="hu-HU" b="1" dirty="0"/>
              <a:t>4 GB RAM</a:t>
            </a:r>
            <a:r>
              <a:rPr lang="hu-HU" dirty="0"/>
              <a:t>​</a:t>
            </a:r>
          </a:p>
          <a:p>
            <a:r>
              <a:rPr lang="hu-HU" b="1" dirty="0"/>
              <a:t>Kijelző</a:t>
            </a:r>
            <a:r>
              <a:rPr lang="hu-HU" dirty="0"/>
              <a:t>: A weboldal </a:t>
            </a:r>
            <a:r>
              <a:rPr lang="hu-HU" b="1" dirty="0"/>
              <a:t>reszponzív</a:t>
            </a:r>
            <a:r>
              <a:rPr lang="hu-HU" dirty="0"/>
              <a:t>, így bármilyen eszközön megfelelően jelenik meg a tartalom​</a:t>
            </a:r>
          </a:p>
          <a:p>
            <a:r>
              <a:rPr lang="hu-HU" b="1" dirty="0"/>
              <a:t>Internetkapcsolat</a:t>
            </a:r>
            <a:r>
              <a:rPr lang="hu-HU" dirty="0"/>
              <a:t>: A weboldalnak szüksége van </a:t>
            </a:r>
            <a:r>
              <a:rPr lang="hu-HU" b="1" dirty="0"/>
              <a:t>stabil internetkapcsolat</a:t>
            </a:r>
            <a:r>
              <a:rPr lang="hu-HU" dirty="0"/>
              <a:t>ra. </a:t>
            </a:r>
          </a:p>
        </p:txBody>
      </p:sp>
    </p:spTree>
    <p:extLst>
      <p:ext uri="{BB962C8B-B14F-4D97-AF65-F5344CB8AC3E}">
        <p14:creationId xmlns:p14="http://schemas.microsoft.com/office/powerpoint/2010/main" val="3022616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1E021EF-A0DD-461D-B635-667CD64B0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70326" cy="1325563"/>
          </a:xfrm>
        </p:spPr>
        <p:txBody>
          <a:bodyPr/>
          <a:lstStyle/>
          <a:p>
            <a:r>
              <a:rPr lang="hu-HU" b="1" dirty="0"/>
              <a:t>Rendszeráttekintés - szoftverkövetelmények​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CE4E5A-CC29-4C83-93BC-FFD438B8D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hu-HU" b="1" dirty="0"/>
              <a:t>Operációs rendszer:</a:t>
            </a:r>
            <a:r>
              <a:rPr lang="hu-HU" dirty="0"/>
              <a:t> A weboldal a legtöbb modern platformon problémamentesen futtatható.​</a:t>
            </a:r>
          </a:p>
          <a:p>
            <a:pPr lvl="1"/>
            <a:r>
              <a:rPr lang="hu-HU" b="1" dirty="0"/>
              <a:t>Támogatott rendszerek: </a:t>
            </a:r>
            <a:r>
              <a:rPr lang="hu-HU" dirty="0"/>
              <a:t>​</a:t>
            </a:r>
          </a:p>
          <a:p>
            <a:pPr lvl="2"/>
            <a:r>
              <a:rPr lang="hu-HU" dirty="0"/>
              <a:t>Windows 10/11 ajánlott</a:t>
            </a:r>
          </a:p>
          <a:p>
            <a:pPr lvl="2"/>
            <a:r>
              <a:rPr lang="hu-HU" dirty="0"/>
              <a:t>Linux disztribúciók (Ubuntu, Debian)​</a:t>
            </a:r>
          </a:p>
          <a:p>
            <a:pPr lvl="2"/>
            <a:r>
              <a:rPr lang="hu-HU" dirty="0"/>
              <a:t>Android 8.0/iOs 13 (vagy újabb verzió)​</a:t>
            </a:r>
          </a:p>
          <a:p>
            <a:pPr lvl="1"/>
            <a:r>
              <a:rPr lang="hu-HU" b="1" dirty="0"/>
              <a:t>Böngészőkövetelmények</a:t>
            </a:r>
            <a:r>
              <a:rPr lang="hu-HU" dirty="0"/>
              <a:t>: </a:t>
            </a:r>
            <a:r>
              <a:rPr lang="hu-HU" b="1" dirty="0"/>
              <a:t>Chromium-alapú</a:t>
            </a:r>
            <a:r>
              <a:rPr lang="hu-HU" dirty="0"/>
              <a:t> böngészők​</a:t>
            </a:r>
          </a:p>
          <a:p>
            <a:pPr lvl="1"/>
            <a:r>
              <a:rPr lang="hu-HU" b="1" dirty="0"/>
              <a:t>Ajánlott böngészők:​</a:t>
            </a:r>
          </a:p>
          <a:p>
            <a:pPr lvl="2"/>
            <a:r>
              <a:rPr lang="hu-HU" dirty="0"/>
              <a:t>Google Chrome​</a:t>
            </a:r>
          </a:p>
          <a:p>
            <a:pPr lvl="2"/>
            <a:r>
              <a:rPr lang="hu-HU" dirty="0"/>
              <a:t>Microsoft Edge​</a:t>
            </a:r>
          </a:p>
          <a:p>
            <a:pPr lvl="2"/>
            <a:r>
              <a:rPr lang="hu-HU" dirty="0"/>
              <a:t>Opera</a:t>
            </a:r>
          </a:p>
          <a:p>
            <a:pPr lvl="1"/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68260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F523BCB-D4DD-4A43-9673-C199A67B8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elindítása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56CB79F-96BE-45C1-AD00-EDA1507153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180"/>
            <a:ext cx="10515600" cy="4736783"/>
          </a:xfrm>
        </p:spPr>
        <p:txBody>
          <a:bodyPr>
            <a:normAutofit fontScale="85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hu-HU" b="1" dirty="0"/>
              <a:t>Internetkapcsolat</a:t>
            </a:r>
            <a:r>
              <a:rPr lang="hu-HU" dirty="0"/>
              <a:t> ellenőrzése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XAMPP elindítása: </a:t>
            </a:r>
          </a:p>
          <a:p>
            <a:pPr lvl="1"/>
            <a:r>
              <a:rPr lang="hu-HU" b="1" dirty="0"/>
              <a:t>Apache, MySQL futtatása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Adatbázis </a:t>
            </a:r>
            <a:r>
              <a:rPr lang="hu-HU" b="1" dirty="0"/>
              <a:t>importálás</a:t>
            </a:r>
            <a:r>
              <a:rPr lang="hu-HU" dirty="0"/>
              <a:t>a</a:t>
            </a:r>
          </a:p>
          <a:p>
            <a:pPr marL="514350" indent="-514350">
              <a:buFont typeface="+mj-lt"/>
              <a:buAutoNum type="arabicPeriod"/>
            </a:pPr>
            <a:r>
              <a:rPr lang="hu-HU" dirty="0"/>
              <a:t>Projektmappa megnyitása (ajánlott: </a:t>
            </a:r>
            <a:r>
              <a:rPr lang="hu-HU" b="1" dirty="0"/>
              <a:t>Visual Studio Code</a:t>
            </a:r>
            <a:r>
              <a:rPr lang="hu-HU" dirty="0"/>
              <a:t>-ban)</a:t>
            </a:r>
          </a:p>
          <a:p>
            <a:pPr marL="514350" indent="-514350">
              <a:buFont typeface="+mj-lt"/>
              <a:buAutoNum type="arabicPeriod"/>
            </a:pPr>
            <a:r>
              <a:rPr lang="hu-HU" b="1" dirty="0"/>
              <a:t>Terminál</a:t>
            </a:r>
            <a:r>
              <a:rPr lang="hu-HU" dirty="0"/>
              <a:t> megnyitása</a:t>
            </a:r>
          </a:p>
          <a:p>
            <a:pPr marL="971550" lvl="1" indent="-514350">
              <a:buFont typeface="+mj-lt"/>
              <a:buAutoNum type="arabicPeriod"/>
            </a:pPr>
            <a:r>
              <a:rPr lang="hu-HU" dirty="0"/>
              <a:t>Szükséges verziók a futtatáshoz:</a:t>
            </a:r>
          </a:p>
          <a:p>
            <a:pPr lvl="2"/>
            <a:r>
              <a:rPr lang="hu-HU" b="1" dirty="0"/>
              <a:t>Node.js v18.20.5 </a:t>
            </a:r>
          </a:p>
          <a:p>
            <a:pPr lvl="2"/>
            <a:r>
              <a:rPr lang="hu-HU" b="1" dirty="0"/>
              <a:t>Npm v10.8.2</a:t>
            </a:r>
          </a:p>
          <a:p>
            <a:pPr marL="914400" lvl="1" indent="-457200">
              <a:buFont typeface="+mj-lt"/>
              <a:buAutoNum type="arabicPeriod"/>
            </a:pPr>
            <a:r>
              <a:rPr lang="hu-HU" dirty="0"/>
              <a:t>Parancsok megadása:</a:t>
            </a:r>
          </a:p>
          <a:p>
            <a:pPr lvl="1"/>
            <a:r>
              <a:rPr lang="hu-HU" dirty="0"/>
              <a:t>Fontos, hogy a parancsokat a </a:t>
            </a:r>
            <a:r>
              <a:rPr lang="hu-HU" b="1" dirty="0"/>
              <a:t>ParKing/main </a:t>
            </a:r>
            <a:r>
              <a:rPr lang="hu-HU" dirty="0"/>
              <a:t>mappán belül kell megadni!</a:t>
            </a:r>
          </a:p>
          <a:p>
            <a:pPr lvl="2"/>
            <a:r>
              <a:rPr lang="hu-HU" b="1" dirty="0"/>
              <a:t>npm run dotenv</a:t>
            </a:r>
          </a:p>
          <a:p>
            <a:pPr lvl="2"/>
            <a:r>
              <a:rPr lang="hu-HU" b="1" dirty="0"/>
              <a:t>npm update</a:t>
            </a:r>
          </a:p>
          <a:p>
            <a:pPr lvl="2"/>
            <a:r>
              <a:rPr lang="hu-HU" b="1" dirty="0"/>
              <a:t>npm run setup</a:t>
            </a:r>
          </a:p>
          <a:p>
            <a:pPr lvl="2"/>
            <a:r>
              <a:rPr lang="hu-HU" b="1" dirty="0"/>
              <a:t>node server.js</a:t>
            </a:r>
          </a:p>
          <a:p>
            <a:pPr marL="971550" lvl="1" indent="-514350">
              <a:buFont typeface="+mj-lt"/>
              <a:buAutoNum type="arabicPeriod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21804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EDEC30B-890E-E964-7539-576745D2A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65350" y="3434796"/>
            <a:ext cx="7461300" cy="645656"/>
          </a:xfrm>
        </p:spPr>
        <p:txBody>
          <a:bodyPr>
            <a:normAutofit fontScale="90000"/>
          </a:bodyPr>
          <a:lstStyle/>
          <a:p>
            <a:pPr algn="ctr"/>
            <a:r>
              <a:rPr lang="hu-HU" b="1" dirty="0">
                <a:latin typeface="Times New Roman"/>
                <a:cs typeface="Times New Roman"/>
              </a:rPr>
              <a:t>Adatbázis terv</a:t>
            </a:r>
            <a:endParaRPr lang="hu-HU" b="1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28CC540-F6BA-4A79-BB75-52073E741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6516" y="103415"/>
            <a:ext cx="3052932" cy="394920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512A2DAF-1E6D-45AA-AC74-3EADC4640C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831" y="104010"/>
            <a:ext cx="3489294" cy="3044581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31197927-F0F5-4075-9DE2-295632FFAC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42" y="4211990"/>
            <a:ext cx="3346939" cy="264601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4AD542D5-5B5E-4584-8006-04ED6915F2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3831" y="4077682"/>
            <a:ext cx="3489294" cy="2591465"/>
          </a:xfrm>
          <a:prstGeom prst="rect">
            <a:avLst/>
          </a:prstGeom>
        </p:spPr>
      </p:pic>
      <p:sp>
        <p:nvSpPr>
          <p:cNvPr id="22" name="Jobb oldali szögletes zárójel 21">
            <a:extLst>
              <a:ext uri="{FF2B5EF4-FFF2-40B4-BE49-F238E27FC236}">
                <a16:creationId xmlns:a16="http://schemas.microsoft.com/office/drawing/2014/main" id="{FC260EFA-5D18-4CAC-8650-32F549227E8B}"/>
              </a:ext>
            </a:extLst>
          </p:cNvPr>
          <p:cNvSpPr/>
          <p:nvPr/>
        </p:nvSpPr>
        <p:spPr>
          <a:xfrm>
            <a:off x="4033864" y="1393865"/>
            <a:ext cx="427643" cy="3441904"/>
          </a:xfrm>
          <a:prstGeom prst="rightBracket">
            <a:avLst>
              <a:gd name="adj" fmla="val 3098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31" name="Jobb oldali szögletes zárójel 30">
            <a:extLst>
              <a:ext uri="{FF2B5EF4-FFF2-40B4-BE49-F238E27FC236}">
                <a16:creationId xmlns:a16="http://schemas.microsoft.com/office/drawing/2014/main" id="{99A9D81A-5DD9-4C39-9114-852889216328}"/>
              </a:ext>
            </a:extLst>
          </p:cNvPr>
          <p:cNvSpPr/>
          <p:nvPr/>
        </p:nvSpPr>
        <p:spPr>
          <a:xfrm>
            <a:off x="10243125" y="748937"/>
            <a:ext cx="120075" cy="4676493"/>
          </a:xfrm>
          <a:prstGeom prst="righ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cxnSp>
        <p:nvCxnSpPr>
          <p:cNvPr id="45" name="Összekötő: szögletes 44">
            <a:extLst>
              <a:ext uri="{FF2B5EF4-FFF2-40B4-BE49-F238E27FC236}">
                <a16:creationId xmlns:a16="http://schemas.microsoft.com/office/drawing/2014/main" id="{C3310875-39B4-40A7-BD80-8DAA60743231}"/>
              </a:ext>
            </a:extLst>
          </p:cNvPr>
          <p:cNvCxnSpPr>
            <a:cxnSpLocks/>
          </p:cNvCxnSpPr>
          <p:nvPr/>
        </p:nvCxnSpPr>
        <p:spPr>
          <a:xfrm flipV="1">
            <a:off x="4033864" y="800626"/>
            <a:ext cx="2719967" cy="228074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Egyenes összekötő 5">
            <a:extLst>
              <a:ext uri="{FF2B5EF4-FFF2-40B4-BE49-F238E27FC236}">
                <a16:creationId xmlns:a16="http://schemas.microsoft.com/office/drawing/2014/main" id="{C598679A-778A-4E59-8D0C-140DBA3970E6}"/>
              </a:ext>
            </a:extLst>
          </p:cNvPr>
          <p:cNvCxnSpPr/>
          <p:nvPr/>
        </p:nvCxnSpPr>
        <p:spPr>
          <a:xfrm>
            <a:off x="4033864" y="914400"/>
            <a:ext cx="152587" cy="1143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Egyenes összekötő 12">
            <a:extLst>
              <a:ext uri="{FF2B5EF4-FFF2-40B4-BE49-F238E27FC236}">
                <a16:creationId xmlns:a16="http://schemas.microsoft.com/office/drawing/2014/main" id="{6C3429D8-9F1F-4D77-A42E-4897DE02273B}"/>
              </a:ext>
            </a:extLst>
          </p:cNvPr>
          <p:cNvCxnSpPr>
            <a:cxnSpLocks/>
          </p:cNvCxnSpPr>
          <p:nvPr/>
        </p:nvCxnSpPr>
        <p:spPr>
          <a:xfrm flipV="1">
            <a:off x="4033864" y="1028700"/>
            <a:ext cx="152587" cy="1315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Egyenes összekötő 16">
            <a:extLst>
              <a:ext uri="{FF2B5EF4-FFF2-40B4-BE49-F238E27FC236}">
                <a16:creationId xmlns:a16="http://schemas.microsoft.com/office/drawing/2014/main" id="{FF5A53B6-0E60-4F99-968B-72815C70B786}"/>
              </a:ext>
            </a:extLst>
          </p:cNvPr>
          <p:cNvCxnSpPr/>
          <p:nvPr/>
        </p:nvCxnSpPr>
        <p:spPr>
          <a:xfrm>
            <a:off x="4033864" y="1289396"/>
            <a:ext cx="152587" cy="1143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Egyenes összekötő 17">
            <a:extLst>
              <a:ext uri="{FF2B5EF4-FFF2-40B4-BE49-F238E27FC236}">
                <a16:creationId xmlns:a16="http://schemas.microsoft.com/office/drawing/2014/main" id="{661AD45F-393E-4E7A-9ABE-094CA645BBFF}"/>
              </a:ext>
            </a:extLst>
          </p:cNvPr>
          <p:cNvCxnSpPr>
            <a:cxnSpLocks/>
          </p:cNvCxnSpPr>
          <p:nvPr/>
        </p:nvCxnSpPr>
        <p:spPr>
          <a:xfrm flipV="1">
            <a:off x="4033864" y="1393865"/>
            <a:ext cx="152587" cy="13153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Egyenes összekötő 18">
            <a:extLst>
              <a:ext uri="{FF2B5EF4-FFF2-40B4-BE49-F238E27FC236}">
                <a16:creationId xmlns:a16="http://schemas.microsoft.com/office/drawing/2014/main" id="{CD0096D1-5FD7-4EF2-AE2C-E8212D09B5DE}"/>
              </a:ext>
            </a:extLst>
          </p:cNvPr>
          <p:cNvCxnSpPr>
            <a:cxnSpLocks/>
          </p:cNvCxnSpPr>
          <p:nvPr/>
        </p:nvCxnSpPr>
        <p:spPr>
          <a:xfrm flipV="1">
            <a:off x="10225088" y="5425430"/>
            <a:ext cx="138112" cy="10956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Egyenes összekötő 20">
            <a:extLst>
              <a:ext uri="{FF2B5EF4-FFF2-40B4-BE49-F238E27FC236}">
                <a16:creationId xmlns:a16="http://schemas.microsoft.com/office/drawing/2014/main" id="{ED5F477F-9A77-4999-A60B-AEBFF2FDD138}"/>
              </a:ext>
            </a:extLst>
          </p:cNvPr>
          <p:cNvCxnSpPr/>
          <p:nvPr/>
        </p:nvCxnSpPr>
        <p:spPr>
          <a:xfrm>
            <a:off x="10217850" y="5308762"/>
            <a:ext cx="152587" cy="1143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7720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5701B9-334C-48B2-8DCB-F146D1579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A weboldal bemutatása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E975318-F171-47CA-BD46-FFB26D2FD5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36807" y="1514841"/>
            <a:ext cx="5676901" cy="3193257"/>
          </a:xfr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4FBFF79-483C-48DF-AD92-FEB22EA5B2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549" y="2407229"/>
            <a:ext cx="5676902" cy="3193258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40D82D9D-E43D-40C0-A014-DD1D5C8CD4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8292" y="3168189"/>
            <a:ext cx="5676901" cy="3193257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BFCA16E0-5DFC-42BB-A440-1C2E555CC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5965" y="1279597"/>
            <a:ext cx="4288674" cy="822181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AEC6302F-C432-4A30-96F4-D1289716495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5964" y="2225121"/>
            <a:ext cx="4466443" cy="82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932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7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E2C0BC-E7C9-42C1-B8DF-744DD8B96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7115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Főoldal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AE42DD3E-FDEC-4EBB-A559-B84436B82A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79937" y="1297577"/>
            <a:ext cx="10832125" cy="5117225"/>
          </a:xfrm>
        </p:spPr>
      </p:pic>
    </p:spTree>
    <p:extLst>
      <p:ext uri="{BB962C8B-B14F-4D97-AF65-F5344CB8AC3E}">
        <p14:creationId xmlns:p14="http://schemas.microsoft.com/office/powerpoint/2010/main" val="4210757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08CB503-356C-4A3C-9AE6-7C783ACFB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Regisztráció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8060254D-78D7-49F3-ACFB-C1557704BB71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7376" y="1690688"/>
            <a:ext cx="3177248" cy="4900490"/>
          </a:xfrm>
          <a:prstGeom prst="rect">
            <a:avLst/>
          </a:prstGeom>
        </p:spPr>
      </p:pic>
      <p:pic>
        <p:nvPicPr>
          <p:cNvPr id="24" name="Kép 23">
            <a:extLst>
              <a:ext uri="{FF2B5EF4-FFF2-40B4-BE49-F238E27FC236}">
                <a16:creationId xmlns:a16="http://schemas.microsoft.com/office/drawing/2014/main" id="{7C4FBCB0-4FE2-4838-9058-116FCE220D2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6242" y="2987086"/>
            <a:ext cx="3060783" cy="1811113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87827ED-7D73-4156-A491-AEE5A2FBF4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92" y="1646138"/>
            <a:ext cx="2016000" cy="990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99AD9E9-4FE9-4175-BD55-1F5174E2E6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91" y="2908564"/>
            <a:ext cx="2016000" cy="984080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C5B227D5-8B12-4305-A717-1D8BFC8527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493" y="4203375"/>
            <a:ext cx="2016000" cy="101144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8788C1C6-C982-4BBE-860F-441DC3BC29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8685" y="1646138"/>
            <a:ext cx="2016000" cy="990000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37295E5-09CC-4064-9E33-45175C6986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58685" y="2908564"/>
            <a:ext cx="2016000" cy="984080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7881D346-17FF-4BFF-9710-7630C677EE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8685" y="5525548"/>
            <a:ext cx="2016000" cy="967328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78861811-65A5-4634-AF52-1E09338CCC8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991" y="5525547"/>
            <a:ext cx="2016000" cy="967328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87C532DD-6217-4B38-9826-CDCC36DB198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68184" y="4214095"/>
            <a:ext cx="2016000" cy="990000"/>
          </a:xfrm>
          <a:prstGeom prst="rect">
            <a:avLst/>
          </a:prstGeom>
        </p:spPr>
      </p:pic>
      <p:sp>
        <p:nvSpPr>
          <p:cNvPr id="32" name="Téglalap 31">
            <a:extLst>
              <a:ext uri="{FF2B5EF4-FFF2-40B4-BE49-F238E27FC236}">
                <a16:creationId xmlns:a16="http://schemas.microsoft.com/office/drawing/2014/main" id="{D2C3AC7A-1833-4FD0-AF36-1531B8E111E2}"/>
              </a:ext>
            </a:extLst>
          </p:cNvPr>
          <p:cNvSpPr/>
          <p:nvPr/>
        </p:nvSpPr>
        <p:spPr>
          <a:xfrm>
            <a:off x="1" y="1385180"/>
            <a:ext cx="12192000" cy="54728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25" name="Kép 24">
            <a:extLst>
              <a:ext uri="{FF2B5EF4-FFF2-40B4-BE49-F238E27FC236}">
                <a16:creationId xmlns:a16="http://schemas.microsoft.com/office/drawing/2014/main" id="{AC3AFB49-9661-49CF-B660-01CD9497BFB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72547" y="1500796"/>
            <a:ext cx="4846906" cy="1325563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EF0BAD80-140B-4701-A865-30D4E9AE1BA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76119" y="2879141"/>
            <a:ext cx="6039760" cy="1332001"/>
          </a:xfrm>
          <a:prstGeom prst="rect">
            <a:avLst/>
          </a:prstGeom>
        </p:spPr>
      </p:pic>
      <p:pic>
        <p:nvPicPr>
          <p:cNvPr id="31" name="Kép 30">
            <a:extLst>
              <a:ext uri="{FF2B5EF4-FFF2-40B4-BE49-F238E27FC236}">
                <a16:creationId xmlns:a16="http://schemas.microsoft.com/office/drawing/2014/main" id="{2A4CA11A-D64C-40F5-9996-56D21E688F1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30053" y="4269042"/>
            <a:ext cx="5331893" cy="177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64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4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5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70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50"/>
                            </p:stCondLst>
                            <p:childTnLst>
                              <p:par>
                                <p:cTn id="3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150"/>
                            </p:stCondLst>
                            <p:childTnLst>
                              <p:par>
                                <p:cTn id="4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2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2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250"/>
                            </p:stCondLst>
                            <p:childTnLst>
                              <p:par>
                                <p:cTn id="59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2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2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0"/>
                            </p:stCondLst>
                            <p:childTnLst>
                              <p:par>
                                <p:cTn id="64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2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2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0BEC097-6F6A-4BAE-AC19-2EADB7852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7190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Bejelentkezés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BFF963DD-33A7-42BB-91EB-A2572C239A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33412" y="1614234"/>
            <a:ext cx="3410426" cy="3629532"/>
          </a:xfr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00EABB33-9B61-41C7-AA5B-AB9E2FDB83E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2905" y="5362072"/>
            <a:ext cx="2631440" cy="1315085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451B465-C17C-43D4-A301-093FA09D7A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99" y="2358561"/>
            <a:ext cx="2091254" cy="1070439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2C7BFDD9-B196-4AAE-A29A-CBABCBAC47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2799" y="3645077"/>
            <a:ext cx="2091254" cy="107043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AFF3D3F5-C4E5-4E55-A0BB-6CC10F8575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2082" y="1931956"/>
            <a:ext cx="3276862" cy="2994087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A0EAF209-7946-495F-A330-199F3D0C03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4793" y="5362072"/>
            <a:ext cx="2631441" cy="1315086"/>
          </a:xfrm>
          <a:prstGeom prst="rect">
            <a:avLst/>
          </a:prstGeom>
        </p:spPr>
      </p:pic>
      <p:cxnSp>
        <p:nvCxnSpPr>
          <p:cNvPr id="16" name="Egyenes összekötő nyíllal 15">
            <a:extLst>
              <a:ext uri="{FF2B5EF4-FFF2-40B4-BE49-F238E27FC236}">
                <a16:creationId xmlns:a16="http://schemas.microsoft.com/office/drawing/2014/main" id="{AA2E5AAF-7639-401F-99F6-7E5D429CCB3C}"/>
              </a:ext>
            </a:extLst>
          </p:cNvPr>
          <p:cNvCxnSpPr>
            <a:cxnSpLocks/>
          </p:cNvCxnSpPr>
          <p:nvPr/>
        </p:nvCxnSpPr>
        <p:spPr>
          <a:xfrm flipV="1">
            <a:off x="5753100" y="2276475"/>
            <a:ext cx="2333625" cy="11525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4" name="Téglalap 13">
            <a:extLst>
              <a:ext uri="{FF2B5EF4-FFF2-40B4-BE49-F238E27FC236}">
                <a16:creationId xmlns:a16="http://schemas.microsoft.com/office/drawing/2014/main" id="{BDDD8E3E-2A6E-4D09-AC3F-115738585F3C}"/>
              </a:ext>
            </a:extLst>
          </p:cNvPr>
          <p:cNvSpPr/>
          <p:nvPr/>
        </p:nvSpPr>
        <p:spPr>
          <a:xfrm>
            <a:off x="1" y="1385180"/>
            <a:ext cx="12192000" cy="54728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D58F6B37-2358-4383-BB11-B302900991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9375" y="1809749"/>
            <a:ext cx="4924425" cy="3238500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3F811178-D728-4258-9399-7F255FB5FD3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5527" y="1990724"/>
            <a:ext cx="4048125" cy="287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483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50"/>
                            </p:stCondLst>
                            <p:childTnLst>
                              <p:par>
                                <p:cTn id="2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600"/>
                            </p:stCondLst>
                            <p:childTnLst>
                              <p:par>
                                <p:cTn id="32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1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1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250"/>
                            </p:stCondLst>
                            <p:childTnLst>
                              <p:par>
                                <p:cTn id="42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ABB59-780B-4A65-9DB6-10C8962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Tartalom helye 12" descr="A képen szöveg, képernyőkép, Multimédiás szoftver látható">
            <a:extLst>
              <a:ext uri="{FF2B5EF4-FFF2-40B4-BE49-F238E27FC236}">
                <a16:creationId xmlns:a16="http://schemas.microsoft.com/office/drawing/2014/main" id="{FB182EB3-8B6B-727F-86D3-482C09D892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1512" y="1415561"/>
            <a:ext cx="11388975" cy="5055577"/>
          </a:xfrm>
          <a:prstGeom prst="rect">
            <a:avLst/>
          </a:prstGeom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A3ECDE5B-EF57-069F-A510-F9AAF36DA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1505"/>
            <a:ext cx="10515600" cy="1325563"/>
          </a:xfrm>
        </p:spPr>
        <p:txBody>
          <a:bodyPr/>
          <a:lstStyle/>
          <a:p>
            <a:pPr algn="ctr"/>
            <a:r>
              <a:rPr lang="hu-HU" b="1" dirty="0">
                <a:latin typeface="Times New Roman"/>
                <a:ea typeface="Calibri Light"/>
                <a:cs typeface="Calibri Light"/>
              </a:rPr>
              <a:t>Főoldal bejelentkezés után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05BA788-BE1F-4B73-A4D3-524640512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429" y="2344046"/>
            <a:ext cx="6829425" cy="3781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373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BFD2C16-0EBF-4317-A505-C5B9051B5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Rólunk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503F14E-82F6-4F16-B7D1-E66E07BC6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4746" y="1690688"/>
            <a:ext cx="11582507" cy="4410344"/>
          </a:xfrm>
        </p:spPr>
      </p:pic>
    </p:spTree>
    <p:extLst>
      <p:ext uri="{BB962C8B-B14F-4D97-AF65-F5344CB8AC3E}">
        <p14:creationId xmlns:p14="http://schemas.microsoft.com/office/powerpoint/2010/main" val="2940301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9B0C2A-5652-4FCD-B593-705037333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Kapcsolat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40E63AE-1107-4AF9-9427-79C6A322A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7016" y="2006187"/>
            <a:ext cx="11077967" cy="4259181"/>
          </a:xfr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B1FA349-A5BF-4DA6-B6A2-55DD0FDDC02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4248" y="755008"/>
            <a:ext cx="2070735" cy="103505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3F1C381-E558-4D16-8BDC-91CC1990D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016" y="755008"/>
            <a:ext cx="2193827" cy="1070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26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DE4D61-E9AE-49D5-B9D0-AF8EE137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Fiók szerkesztése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8566698-BEF5-4165-A1BE-E17BF627D89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6555" y="5532596"/>
            <a:ext cx="1901223" cy="960279"/>
          </a:xfrm>
          <a:prstGeom prst="rect">
            <a:avLst/>
          </a:prstGeom>
        </p:spPr>
      </p:pic>
      <p:pic>
        <p:nvPicPr>
          <p:cNvPr id="3" name="Kép 2" descr="A képen szöveg, képernyőkép, Betűtípus, Acélkék látható&#10;&#10;Lehet, hogy az AI által létrehozott tartalom helytelen.">
            <a:extLst>
              <a:ext uri="{FF2B5EF4-FFF2-40B4-BE49-F238E27FC236}">
                <a16:creationId xmlns:a16="http://schemas.microsoft.com/office/drawing/2014/main" id="{626B5678-1078-12C2-2F1F-D03EB0D7A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8115" y="213234"/>
            <a:ext cx="1975951" cy="1323261"/>
          </a:xfrm>
          <a:prstGeom prst="rect">
            <a:avLst/>
          </a:prstGeom>
        </p:spPr>
      </p:pic>
      <p:pic>
        <p:nvPicPr>
          <p:cNvPr id="23" name="Tartalom helye 22">
            <a:extLst>
              <a:ext uri="{FF2B5EF4-FFF2-40B4-BE49-F238E27FC236}">
                <a16:creationId xmlns:a16="http://schemas.microsoft.com/office/drawing/2014/main" id="{64D0C92D-91DF-4921-AE5C-FBECA8B00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/>
          <a:srcRect t="-2539" r="82886"/>
          <a:stretch/>
        </p:blipFill>
        <p:spPr>
          <a:xfrm>
            <a:off x="2656945" y="1360787"/>
            <a:ext cx="2560445" cy="4042207"/>
          </a:xfr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C513B7ED-64E6-40C5-98E3-FCA5063E58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0909" y="1482048"/>
            <a:ext cx="2303081" cy="3920946"/>
          </a:xfrm>
          <a:prstGeom prst="rect">
            <a:avLst/>
          </a:prstGeom>
        </p:spPr>
      </p:pic>
      <p:pic>
        <p:nvPicPr>
          <p:cNvPr id="27" name="Kép 26">
            <a:extLst>
              <a:ext uri="{FF2B5EF4-FFF2-40B4-BE49-F238E27FC236}">
                <a16:creationId xmlns:a16="http://schemas.microsoft.com/office/drawing/2014/main" id="{38C9B685-E6BF-4528-B33A-C5BB1BA5B7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4688" y="4388157"/>
            <a:ext cx="2009378" cy="1014837"/>
          </a:xfrm>
          <a:prstGeom prst="rect">
            <a:avLst/>
          </a:prstGeom>
        </p:spPr>
      </p:pic>
      <p:pic>
        <p:nvPicPr>
          <p:cNvPr id="29" name="Kép 28">
            <a:extLst>
              <a:ext uri="{FF2B5EF4-FFF2-40B4-BE49-F238E27FC236}">
                <a16:creationId xmlns:a16="http://schemas.microsoft.com/office/drawing/2014/main" id="{A6553BDD-972E-480F-85CB-AE6F18C5BB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4688" y="2204064"/>
            <a:ext cx="1989082" cy="1014837"/>
          </a:xfrm>
          <a:prstGeom prst="rect">
            <a:avLst/>
          </a:prstGeom>
        </p:spPr>
      </p:pic>
      <p:pic>
        <p:nvPicPr>
          <p:cNvPr id="31" name="Kép 30">
            <a:extLst>
              <a:ext uri="{FF2B5EF4-FFF2-40B4-BE49-F238E27FC236}">
                <a16:creationId xmlns:a16="http://schemas.microsoft.com/office/drawing/2014/main" id="{48FEF119-DF90-4637-B160-8CF9EB9DED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4688" y="3304877"/>
            <a:ext cx="2009378" cy="1008117"/>
          </a:xfrm>
          <a:prstGeom prst="rect">
            <a:avLst/>
          </a:prstGeom>
        </p:spPr>
      </p:pic>
      <p:pic>
        <p:nvPicPr>
          <p:cNvPr id="33" name="Kép 32">
            <a:extLst>
              <a:ext uri="{FF2B5EF4-FFF2-40B4-BE49-F238E27FC236}">
                <a16:creationId xmlns:a16="http://schemas.microsoft.com/office/drawing/2014/main" id="{DE98F546-7B06-4239-9117-C218290ED3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86085" y="1176261"/>
            <a:ext cx="1870843" cy="941828"/>
          </a:xfrm>
          <a:prstGeom prst="rect">
            <a:avLst/>
          </a:prstGeom>
        </p:spPr>
      </p:pic>
      <p:pic>
        <p:nvPicPr>
          <p:cNvPr id="35" name="Kép 34">
            <a:extLst>
              <a:ext uri="{FF2B5EF4-FFF2-40B4-BE49-F238E27FC236}">
                <a16:creationId xmlns:a16="http://schemas.microsoft.com/office/drawing/2014/main" id="{03EBAF2D-7941-4EBC-8F4F-FBC76F25932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1837" y="5559638"/>
            <a:ext cx="1901223" cy="960279"/>
          </a:xfrm>
          <a:prstGeom prst="rect">
            <a:avLst/>
          </a:prstGeom>
        </p:spPr>
      </p:pic>
      <p:pic>
        <p:nvPicPr>
          <p:cNvPr id="37" name="Kép 36">
            <a:extLst>
              <a:ext uri="{FF2B5EF4-FFF2-40B4-BE49-F238E27FC236}">
                <a16:creationId xmlns:a16="http://schemas.microsoft.com/office/drawing/2014/main" id="{94D9ACFB-F8EB-41F1-B6BA-1472723E1DC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5072" y="1457528"/>
            <a:ext cx="2047868" cy="1023934"/>
          </a:xfrm>
          <a:prstGeom prst="rect">
            <a:avLst/>
          </a:prstGeom>
        </p:spPr>
      </p:pic>
      <p:pic>
        <p:nvPicPr>
          <p:cNvPr id="39" name="Kép 38">
            <a:extLst>
              <a:ext uri="{FF2B5EF4-FFF2-40B4-BE49-F238E27FC236}">
                <a16:creationId xmlns:a16="http://schemas.microsoft.com/office/drawing/2014/main" id="{AE8FA99E-4FD5-4000-96A6-0245D457B57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5072" y="2900965"/>
            <a:ext cx="2047868" cy="1044550"/>
          </a:xfrm>
          <a:prstGeom prst="rect">
            <a:avLst/>
          </a:prstGeom>
        </p:spPr>
      </p:pic>
      <p:pic>
        <p:nvPicPr>
          <p:cNvPr id="41" name="Kép 40">
            <a:extLst>
              <a:ext uri="{FF2B5EF4-FFF2-40B4-BE49-F238E27FC236}">
                <a16:creationId xmlns:a16="http://schemas.microsoft.com/office/drawing/2014/main" id="{DBF28461-2EAE-4A98-80FA-4DE969471C3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5072" y="4365508"/>
            <a:ext cx="2047868" cy="1021959"/>
          </a:xfrm>
          <a:prstGeom prst="rect">
            <a:avLst/>
          </a:prstGeom>
        </p:spPr>
      </p:pic>
      <p:cxnSp>
        <p:nvCxnSpPr>
          <p:cNvPr id="9" name="Egyenes összekötő nyíllal 8">
            <a:extLst>
              <a:ext uri="{FF2B5EF4-FFF2-40B4-BE49-F238E27FC236}">
                <a16:creationId xmlns:a16="http://schemas.microsoft.com/office/drawing/2014/main" id="{1B69829B-3529-4F1C-BE27-110E25082B44}"/>
              </a:ext>
            </a:extLst>
          </p:cNvPr>
          <p:cNvCxnSpPr/>
          <p:nvPr/>
        </p:nvCxnSpPr>
        <p:spPr>
          <a:xfrm flipV="1">
            <a:off x="4572000" y="3218901"/>
            <a:ext cx="1524000" cy="185819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2924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5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50"/>
                            </p:stCondLst>
                            <p:childTnLst>
                              <p:par>
                                <p:cTn id="5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750"/>
                            </p:stCondLst>
                            <p:childTnLst>
                              <p:par>
                                <p:cTn id="6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7A81E-2DA7-4146-8607-B8A03FF0F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199095C2-24AC-4914-9409-21FFE7D688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33160"/>
            <a:ext cx="2391109" cy="1457528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EE757A1B-9447-46BE-B933-09F8C7256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84743"/>
            <a:ext cx="9910514" cy="4587870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17DCCFC4-D190-41F6-B614-D5F903674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4206" y="1801931"/>
            <a:ext cx="2078363" cy="101986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413B6F68-180F-426B-8A43-BC523FDC0C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4206" y="2982343"/>
            <a:ext cx="2078363" cy="1023671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17682EAC-16F1-4D6F-A33D-6619CAC9B7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4206" y="4166561"/>
            <a:ext cx="2078363" cy="1019865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D26645A1-7CB3-4815-B757-71B604C1E0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4206" y="5346973"/>
            <a:ext cx="2078364" cy="1019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653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"/>
                            </p:stCondLst>
                            <p:childTnLst>
                              <p:par>
                                <p:cTn id="2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2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50"/>
                            </p:stCondLst>
                            <p:childTnLst>
                              <p:par>
                                <p:cTn id="33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FFEE545-DA10-43EA-AF64-8D33B533C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Foglalás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BADBA9A4-18AB-404D-8244-BF2A06D7BE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6197" y="1533013"/>
            <a:ext cx="10836000" cy="50400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8F687E5A-DE31-4224-8D72-82C1C01A8F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4114" y="496569"/>
            <a:ext cx="2781688" cy="905001"/>
          </a:xfrm>
          <a:prstGeom prst="rect">
            <a:avLst/>
          </a:prstGeom>
        </p:spPr>
      </p:pic>
      <p:sp>
        <p:nvSpPr>
          <p:cNvPr id="3" name="Téglalap 2">
            <a:extLst>
              <a:ext uri="{FF2B5EF4-FFF2-40B4-BE49-F238E27FC236}">
                <a16:creationId xmlns:a16="http://schemas.microsoft.com/office/drawing/2014/main" id="{14F2A74B-F2F0-4B91-8A0E-BD04A429DFF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2D11117C-8B91-48A5-9A7E-20D296ABC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1454" y="993311"/>
            <a:ext cx="7549091" cy="487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052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"/>
                            </p:stCondLst>
                            <p:childTnLst>
                              <p:par>
                                <p:cTn id="2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9F89932-FCC6-4E94-A81B-8A67158CC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53813"/>
            <a:ext cx="10515600" cy="1325563"/>
          </a:xfrm>
        </p:spPr>
        <p:txBody>
          <a:bodyPr/>
          <a:lstStyle/>
          <a:p>
            <a:pPr algn="ctr"/>
            <a:r>
              <a:rPr lang="hu-HU" b="1" dirty="0"/>
              <a:t>A felhasználó foglalásai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E93954D6-AEA6-4A32-AE5D-493E1D0329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180" y="3703825"/>
            <a:ext cx="11277616" cy="3126467"/>
          </a:xfr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27E357A3-3E8F-42F7-999B-1E89A49CE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80" y="835269"/>
            <a:ext cx="9510346" cy="259373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7964174-6C21-43D7-85E4-D29681B51A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80" y="3502901"/>
            <a:ext cx="1743318" cy="228632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0D9E3178-681D-4C19-93F5-581485A92E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0690" y="1171750"/>
            <a:ext cx="2396446" cy="755044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662A152-B112-48E0-B081-6BB2196E3D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8375" y="2132134"/>
            <a:ext cx="2141075" cy="1045134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73E8796-C4CA-4D53-B20A-25F6CB501F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088" y="1296080"/>
            <a:ext cx="4955505" cy="2047484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E879020B-F2CC-4632-B88C-4F76473F9D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18375" y="1386567"/>
            <a:ext cx="5113765" cy="185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913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B0A783-875B-48E6-AC8C-77E96D3C9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Lábléc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5BB3075A-9DCD-4AF4-8249-FD4F3CA9E4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4852" y="2448189"/>
            <a:ext cx="11742295" cy="1961621"/>
          </a:xfr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6C2D152C-34E6-4687-B3BF-C74C038AAF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266" y="4833358"/>
            <a:ext cx="3809467" cy="810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728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Regisztráció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78AF6B28-E13E-4CF1-A0D1-0920FBC124FD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65" y="1512893"/>
            <a:ext cx="3177248" cy="490049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FF3109A5-F5D9-46C3-B6D6-96D1132EAAA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807" y="1519176"/>
            <a:ext cx="2871526" cy="1688573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FC6600AA-5D9B-4FF0-8F30-D229212122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6961" y="1512893"/>
            <a:ext cx="5583187" cy="3278554"/>
          </a:xfrm>
          <a:prstGeom prst="rect">
            <a:avLst/>
          </a:prstGeom>
        </p:spPr>
      </p:pic>
      <p:pic>
        <p:nvPicPr>
          <p:cNvPr id="16" name="Kép 15">
            <a:extLst>
              <a:ext uri="{FF2B5EF4-FFF2-40B4-BE49-F238E27FC236}">
                <a16:creationId xmlns:a16="http://schemas.microsoft.com/office/drawing/2014/main" id="{0842755B-5778-4AD0-9B40-49867D4F9E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7807" y="3404658"/>
            <a:ext cx="2871526" cy="1410124"/>
          </a:xfrm>
          <a:prstGeom prst="rect">
            <a:avLst/>
          </a:prstGeom>
        </p:spPr>
      </p:pic>
      <p:pic>
        <p:nvPicPr>
          <p:cNvPr id="17" name="Kép 16">
            <a:extLst>
              <a:ext uri="{FF2B5EF4-FFF2-40B4-BE49-F238E27FC236}">
                <a16:creationId xmlns:a16="http://schemas.microsoft.com/office/drawing/2014/main" id="{6D810451-D319-4884-B357-42B1F28809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17807" y="5011691"/>
            <a:ext cx="2871526" cy="1401692"/>
          </a:xfrm>
          <a:prstGeom prst="rect">
            <a:avLst/>
          </a:prstGeom>
        </p:spPr>
      </p:pic>
      <p:pic>
        <p:nvPicPr>
          <p:cNvPr id="19" name="Kép 18">
            <a:extLst>
              <a:ext uri="{FF2B5EF4-FFF2-40B4-BE49-F238E27FC236}">
                <a16:creationId xmlns:a16="http://schemas.microsoft.com/office/drawing/2014/main" id="{704D267B-7C4F-409C-828B-B904D7E71D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5249" y="4828986"/>
            <a:ext cx="2674899" cy="1273925"/>
          </a:xfrm>
          <a:prstGeom prst="rect">
            <a:avLst/>
          </a:prstGeom>
        </p:spPr>
      </p:pic>
      <p:pic>
        <p:nvPicPr>
          <p:cNvPr id="21" name="Kép 20">
            <a:extLst>
              <a:ext uri="{FF2B5EF4-FFF2-40B4-BE49-F238E27FC236}">
                <a16:creationId xmlns:a16="http://schemas.microsoft.com/office/drawing/2014/main" id="{CC4F2379-3778-4B07-A4A9-3F4345032D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6961" y="4814782"/>
            <a:ext cx="2868731" cy="1273925"/>
          </a:xfrm>
          <a:prstGeom prst="rect">
            <a:avLst/>
          </a:prstGeom>
        </p:spPr>
      </p:pic>
      <p:pic>
        <p:nvPicPr>
          <p:cNvPr id="23" name="Kép 22">
            <a:extLst>
              <a:ext uri="{FF2B5EF4-FFF2-40B4-BE49-F238E27FC236}">
                <a16:creationId xmlns:a16="http://schemas.microsoft.com/office/drawing/2014/main" id="{DE662869-D7C2-43B0-A46B-B1E617D042C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86560" y="6126246"/>
            <a:ext cx="5219700" cy="70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87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Bejelentkezés</a:t>
            </a:r>
          </a:p>
        </p:txBody>
      </p:sp>
      <p:pic>
        <p:nvPicPr>
          <p:cNvPr id="10" name="Tartalom helye 4">
            <a:extLst>
              <a:ext uri="{FF2B5EF4-FFF2-40B4-BE49-F238E27FC236}">
                <a16:creationId xmlns:a16="http://schemas.microsoft.com/office/drawing/2014/main" id="{F2794826-BC5C-4B80-83D1-39BEE2199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090" y="1394463"/>
            <a:ext cx="3823434" cy="4069074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7D1FC260-9AF8-4268-AEF2-C79ACF2FF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8565" y="1394463"/>
            <a:ext cx="3616191" cy="301159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73A18138-D530-4970-A49F-37C1B18C0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688007"/>
            <a:ext cx="4302073" cy="1907523"/>
          </a:xfrm>
          <a:prstGeom prst="rect">
            <a:avLst/>
          </a:prstGeom>
        </p:spPr>
      </p:pic>
      <p:pic>
        <p:nvPicPr>
          <p:cNvPr id="18" name="Kép 17">
            <a:extLst>
              <a:ext uri="{FF2B5EF4-FFF2-40B4-BE49-F238E27FC236}">
                <a16:creationId xmlns:a16="http://schemas.microsoft.com/office/drawing/2014/main" id="{DCDB5096-A946-4EEA-A4BC-B1C8F6C00429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5691" y="1394463"/>
            <a:ext cx="2631440" cy="1303083"/>
          </a:xfrm>
          <a:prstGeom prst="rect">
            <a:avLst/>
          </a:prstGeom>
        </p:spPr>
      </p:pic>
      <p:pic>
        <p:nvPicPr>
          <p:cNvPr id="20" name="Kép 19">
            <a:extLst>
              <a:ext uri="{FF2B5EF4-FFF2-40B4-BE49-F238E27FC236}">
                <a16:creationId xmlns:a16="http://schemas.microsoft.com/office/drawing/2014/main" id="{49D10876-65B8-48B0-AD46-4E73070A35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5691" y="3059114"/>
            <a:ext cx="2631440" cy="1346940"/>
          </a:xfrm>
          <a:prstGeom prst="rect">
            <a:avLst/>
          </a:prstGeom>
        </p:spPr>
      </p:pic>
      <p:pic>
        <p:nvPicPr>
          <p:cNvPr id="22" name="Kép 21">
            <a:extLst>
              <a:ext uri="{FF2B5EF4-FFF2-40B4-BE49-F238E27FC236}">
                <a16:creationId xmlns:a16="http://schemas.microsoft.com/office/drawing/2014/main" id="{85D7F86C-0C98-494D-8162-11BEC4BB8B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6091" y="5713351"/>
            <a:ext cx="5548910" cy="817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6915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Kijelentkezés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C3FD329B-843D-4F6F-A659-2295AD516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798" y="2450027"/>
            <a:ext cx="3121992" cy="2086332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7C4EC83-A627-401B-99B7-12A494F608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1813" y="1562301"/>
            <a:ext cx="5054126" cy="3733398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05A8B932-9F30-4D38-AFBC-3C71F42B29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6571" y="5593217"/>
            <a:ext cx="5878857" cy="923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335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4A42143-EDF8-46E8-A4DC-1594D80B5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Főoldal bejelentkezés után</a:t>
            </a:r>
          </a:p>
        </p:txBody>
      </p:sp>
      <p:pic>
        <p:nvPicPr>
          <p:cNvPr id="5" name="Tartalom helye 12" descr="A képen szöveg, képernyőkép, Multimédiás szoftver látható">
            <a:extLst>
              <a:ext uri="{FF2B5EF4-FFF2-40B4-BE49-F238E27FC236}">
                <a16:creationId xmlns:a16="http://schemas.microsoft.com/office/drawing/2014/main" id="{F4E71F69-6E87-4EAF-916C-DDFD00CAE2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8038" y="1415560"/>
            <a:ext cx="7704894" cy="342021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F62B83F2-74B3-4AA5-AFE9-8832B535AC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012" y="2963122"/>
            <a:ext cx="7219950" cy="35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5010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A9B0C2A-5652-4FCD-B593-705037333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Kapcsolat</a:t>
            </a:r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40E63AE-1107-4AF9-9427-79C6A322A8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2039" y="1469858"/>
            <a:ext cx="7531907" cy="2895816"/>
          </a:xfr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DB1FA349-A5BF-4DA6-B6A2-55DD0FDDC02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0107" y="1469858"/>
            <a:ext cx="2542482" cy="1270851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2E79A58E-0CFC-424E-AAF6-3169B3D554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2479" y="2795421"/>
            <a:ext cx="8796606" cy="2867042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14F6B68D-4773-4BB5-9B3A-17DB0305AA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0403" y="5717175"/>
            <a:ext cx="7831194" cy="1000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842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4DE4D61-E9AE-49D5-B9D0-AF8EE1378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Backend - Fiók szerkesztése</a:t>
            </a:r>
          </a:p>
        </p:txBody>
      </p:sp>
      <p:pic>
        <p:nvPicPr>
          <p:cNvPr id="15" name="Kép 14">
            <a:extLst>
              <a:ext uri="{FF2B5EF4-FFF2-40B4-BE49-F238E27FC236}">
                <a16:creationId xmlns:a16="http://schemas.microsoft.com/office/drawing/2014/main" id="{B8566698-BEF5-4165-A1BE-E17BF627D894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89" y="5402994"/>
            <a:ext cx="2213994" cy="1215921"/>
          </a:xfrm>
          <a:prstGeom prst="rect">
            <a:avLst/>
          </a:prstGeom>
        </p:spPr>
      </p:pic>
      <p:pic>
        <p:nvPicPr>
          <p:cNvPr id="23" name="Tartalom helye 22">
            <a:extLst>
              <a:ext uri="{FF2B5EF4-FFF2-40B4-BE49-F238E27FC236}">
                <a16:creationId xmlns:a16="http://schemas.microsoft.com/office/drawing/2014/main" id="{64D0C92D-91DF-4921-AE5C-FBECA8B00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/>
          <a:srcRect t="-2539" r="82886"/>
          <a:stretch/>
        </p:blipFill>
        <p:spPr>
          <a:xfrm>
            <a:off x="63214" y="1197797"/>
            <a:ext cx="2560445" cy="4042207"/>
          </a:xfrm>
        </p:spPr>
      </p:pic>
      <p:pic>
        <p:nvPicPr>
          <p:cNvPr id="25" name="Kép 24">
            <a:extLst>
              <a:ext uri="{FF2B5EF4-FFF2-40B4-BE49-F238E27FC236}">
                <a16:creationId xmlns:a16="http://schemas.microsoft.com/office/drawing/2014/main" id="{C513B7ED-64E6-40C5-98E3-FCA5063E58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0060" y="1319058"/>
            <a:ext cx="2303081" cy="392094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E3A9D63C-6567-42C3-B07A-E942DAF49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9542" y="1319058"/>
            <a:ext cx="6457950" cy="341947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3DFD2998-839B-45B5-9CBB-1F4C08E707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6075" y="1309176"/>
            <a:ext cx="6648977" cy="4229766"/>
          </a:xfrm>
          <a:prstGeom prst="rect">
            <a:avLst/>
          </a:prstGeo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0CF7AF20-69FE-4007-88FC-F5851093627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8398" y="5621431"/>
            <a:ext cx="7313296" cy="1145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765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7475EE2-BB72-42F4-8904-7481CAD41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hu-HU" b="1" dirty="0"/>
              <a:t>Tesztelés</a:t>
            </a:r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409E150C-0A81-4912-932E-A551E03038C3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99712"/>
            <a:ext cx="3438525" cy="501491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51F108B-3E7B-40B6-9BBA-4800D580C9B2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5275" y="1499712"/>
            <a:ext cx="3438525" cy="5014912"/>
          </a:xfrm>
          <a:prstGeom prst="rect">
            <a:avLst/>
          </a:prstGeom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4702C48C-1F7F-4480-BA02-96F8BB258B5D}"/>
              </a:ext>
            </a:extLst>
          </p:cNvPr>
          <p:cNvSpPr txBox="1"/>
          <p:nvPr/>
        </p:nvSpPr>
        <p:spPr>
          <a:xfrm>
            <a:off x="5224462" y="3351312"/>
            <a:ext cx="17430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Teszt futtatása: </a:t>
            </a:r>
          </a:p>
          <a:p>
            <a:r>
              <a:rPr lang="hu-HU" b="1" dirty="0"/>
              <a:t>npm run test</a:t>
            </a:r>
          </a:p>
        </p:txBody>
      </p:sp>
    </p:spTree>
    <p:extLst>
      <p:ext uri="{BB962C8B-B14F-4D97-AF65-F5344CB8AC3E}">
        <p14:creationId xmlns:p14="http://schemas.microsoft.com/office/powerpoint/2010/main" val="2571122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C45E16-A544-4769-AE44-EA0EAB25E0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figyelmet!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E49D1A08-BE99-4F67-9668-82D86316D8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ParKing csapata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EA4882EB-8F7C-4060-B146-44987AEAE3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78" y="5648699"/>
            <a:ext cx="1091922" cy="963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1860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1276</TotalTime>
  <Words>312</Words>
  <Application>Microsoft Office PowerPoint</Application>
  <PresentationFormat>Szélesvásznú</PresentationFormat>
  <Paragraphs>86</Paragraphs>
  <Slides>27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27</vt:i4>
      </vt:variant>
    </vt:vector>
  </HeadingPairs>
  <TitlesOfParts>
    <vt:vector size="31" baseType="lpstr">
      <vt:lpstr>Arial</vt:lpstr>
      <vt:lpstr>Calibri</vt:lpstr>
      <vt:lpstr>Times New Roman</vt:lpstr>
      <vt:lpstr>Office-téma</vt:lpstr>
      <vt:lpstr>ParKing</vt:lpstr>
      <vt:lpstr>ParKing bemutatása</vt:lpstr>
      <vt:lpstr>A projektben használt webfejlesztési technológiák</vt:lpstr>
      <vt:lpstr>Rendszeráttekintés - hardverkövetelmények</vt:lpstr>
      <vt:lpstr>Rendszeráttekintés - szoftverkövetelmények​</vt:lpstr>
      <vt:lpstr>A weboldal elindítása</vt:lpstr>
      <vt:lpstr>Adatbázis terv</vt:lpstr>
      <vt:lpstr>A weboldal bemutatása</vt:lpstr>
      <vt:lpstr>Főoldal</vt:lpstr>
      <vt:lpstr>Regisztráció</vt:lpstr>
      <vt:lpstr>Bejelentkezés</vt:lpstr>
      <vt:lpstr>Főoldal bejelentkezés után</vt:lpstr>
      <vt:lpstr>Rólunk</vt:lpstr>
      <vt:lpstr>Kapcsolat</vt:lpstr>
      <vt:lpstr>Fiók szerkesztése</vt:lpstr>
      <vt:lpstr>Foglalás</vt:lpstr>
      <vt:lpstr>Foglalás</vt:lpstr>
      <vt:lpstr>A felhasználó foglalásai</vt:lpstr>
      <vt:lpstr>Lábléc</vt:lpstr>
      <vt:lpstr>Backend - Regisztráció</vt:lpstr>
      <vt:lpstr>Backend - Bejelentkezés</vt:lpstr>
      <vt:lpstr>Backend - Kijelentkezés</vt:lpstr>
      <vt:lpstr>Backend - Főoldal bejelentkezés után</vt:lpstr>
      <vt:lpstr>Backend - Kapcsolat</vt:lpstr>
      <vt:lpstr>Backend - Fiók szerkesztése</vt:lpstr>
      <vt:lpstr>Tesztelés</vt:lpstr>
      <vt:lpstr>Köszönjük a figyelmet!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ParKing</dc:title>
  <dc:creator>Technikus</dc:creator>
  <cp:lastModifiedBy>Technikus</cp:lastModifiedBy>
  <cp:revision>168</cp:revision>
  <dcterms:created xsi:type="dcterms:W3CDTF">2026-01-21T10:12:04Z</dcterms:created>
  <dcterms:modified xsi:type="dcterms:W3CDTF">2026-03-27T06:51:09Z</dcterms:modified>
</cp:coreProperties>
</file>