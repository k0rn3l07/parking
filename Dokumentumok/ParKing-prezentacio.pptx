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6" r:id="rId2"/>
    <p:sldId id="258" r:id="rId3"/>
    <p:sldId id="260" r:id="rId4"/>
    <p:sldId id="267" r:id="rId5"/>
    <p:sldId id="268" r:id="rId6"/>
    <p:sldId id="277" r:id="rId7"/>
    <p:sldId id="288" r:id="rId8"/>
    <p:sldId id="276" r:id="rId9"/>
    <p:sldId id="278" r:id="rId10"/>
    <p:sldId id="279" r:id="rId11"/>
    <p:sldId id="280" r:id="rId12"/>
    <p:sldId id="292" r:id="rId13"/>
    <p:sldId id="281" r:id="rId14"/>
    <p:sldId id="282" r:id="rId15"/>
    <p:sldId id="284" r:id="rId16"/>
    <p:sldId id="285" r:id="rId17"/>
    <p:sldId id="294" r:id="rId18"/>
    <p:sldId id="286" r:id="rId19"/>
    <p:sldId id="283" r:id="rId20"/>
    <p:sldId id="305" r:id="rId21"/>
    <p:sldId id="306" r:id="rId22"/>
    <p:sldId id="307" r:id="rId23"/>
    <p:sldId id="308" r:id="rId24"/>
    <p:sldId id="309" r:id="rId25"/>
    <p:sldId id="310" r:id="rId26"/>
    <p:sldId id="311" r:id="rId27"/>
    <p:sldId id="312" r:id="rId28"/>
    <p:sldId id="313" r:id="rId29"/>
    <p:sldId id="314" r:id="rId30"/>
    <p:sldId id="295" r:id="rId31"/>
    <p:sldId id="296" r:id="rId32"/>
    <p:sldId id="298" r:id="rId33"/>
    <p:sldId id="299" r:id="rId34"/>
    <p:sldId id="300" r:id="rId35"/>
    <p:sldId id="301" r:id="rId36"/>
    <p:sldId id="302" r:id="rId37"/>
    <p:sldId id="303" r:id="rId38"/>
    <p:sldId id="293" r:id="rId39"/>
    <p:sldId id="304" r:id="rId40"/>
    <p:sldId id="287" r:id="rId4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D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>
  <a:tblStyle styleId="{69CF1AB2-1976-4502-BF36-3FF5EA218861}" styleName="Közepesen sötét stílus 4 – 1. jelölőszín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3C2FFA5D-87B4-456A-9821-1D502468CF0F}" styleName="Téma alapján készült stílus 1 – 1. jelölőszín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incs stílus, csak rács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31" autoAdjust="0"/>
    <p:restoredTop sz="96357" autoAdjust="0"/>
  </p:normalViewPr>
  <p:slideViewPr>
    <p:cSldViewPr snapToGrid="0">
      <p:cViewPr>
        <p:scale>
          <a:sx n="100" d="100"/>
          <a:sy n="100" d="100"/>
        </p:scale>
        <p:origin x="94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3" Type="http://schemas.openxmlformats.org/officeDocument/2006/relationships/image" Target="../media/image53.jpe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26.png"/><Relationship Id="rId7" Type="http://schemas.openxmlformats.org/officeDocument/2006/relationships/image" Target="../media/image9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7.png"/><Relationship Id="rId4" Type="http://schemas.openxmlformats.org/officeDocument/2006/relationships/image" Target="../media/image95.png"/><Relationship Id="rId9" Type="http://schemas.openxmlformats.org/officeDocument/2006/relationships/image" Target="../media/image9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7" Type="http://schemas.openxmlformats.org/officeDocument/2006/relationships/image" Target="../media/image10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9.png"/><Relationship Id="rId4" Type="http://schemas.openxmlformats.org/officeDocument/2006/relationships/image" Target="../media/image10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110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114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7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9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59807"/>
            <a:ext cx="12191999" cy="1325563"/>
          </a:xfrm>
        </p:spPr>
        <p:txBody>
          <a:bodyPr/>
          <a:lstStyle/>
          <a:p>
            <a:pPr algn="ctr"/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 fontScale="92500" lnSpcReduction="10000"/>
          </a:bodyPr>
          <a:lstStyle/>
          <a:p>
            <a:pPr lvl="1">
              <a:lnSpc>
                <a:spcPct val="110000"/>
              </a:lnSpc>
            </a:pPr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>
              <a:lnSpc>
                <a:spcPct val="110000"/>
              </a:lnSpc>
            </a:pPr>
            <a:r>
              <a:rPr lang="hu-HU" sz="2400" dirty="0"/>
              <a:t>Visual Studio Code</a:t>
            </a:r>
          </a:p>
          <a:p>
            <a:pPr lvl="2">
              <a:lnSpc>
                <a:spcPct val="110000"/>
              </a:lnSpc>
            </a:pPr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000194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hu-HU" sz="2400" b="1" dirty="0"/>
              <a:t>Webfejlesztés során használt eszközök: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HTML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CSS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JavaScript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SQL</a:t>
            </a:r>
          </a:p>
          <a:p>
            <a:pPr lvl="1">
              <a:lnSpc>
                <a:spcPct val="110000"/>
              </a:lnSpc>
            </a:pPr>
            <a:r>
              <a:rPr lang="hu-HU" sz="2400" dirty="0"/>
              <a:t>EJS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C#</a:t>
            </a:r>
          </a:p>
          <a:p>
            <a:pPr lvl="1">
              <a:lnSpc>
                <a:spcPct val="110000"/>
              </a:lnSpc>
            </a:pPr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2400" b="1" dirty="0"/>
              <a:t>További webfejlesztési eszközök: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XAMPP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MySQL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Node Package Manager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Node.js</a:t>
            </a:r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0960" y="2277417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2201" y="2754164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6854" y="2202350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3892" y="2607679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3610" y="3099308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8798" y="3449765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447" y="4197783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667" y="4770776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6781" y="5263123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10/11 ajánlott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</a:t>
            </a:r>
            <a:r>
              <a:rPr lang="hu-HU" b="1" dirty="0"/>
              <a:t>Chromium-alapú</a:t>
            </a:r>
            <a:r>
              <a:rPr lang="hu-HU" dirty="0"/>
              <a:t> böngészők​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Microsoft Edge​</a:t>
            </a:r>
          </a:p>
          <a:p>
            <a:pPr lvl="2"/>
            <a:r>
              <a:rPr lang="hu-HU" dirty="0"/>
              <a:t>Opera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895350" lvl="1" indent="-447675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Parancsok futtatása:</a:t>
            </a:r>
          </a:p>
          <a:p>
            <a:pPr marL="457200" lvl="1" indent="0">
              <a:buNone/>
            </a:pPr>
            <a:r>
              <a:rPr lang="hu-HU" dirty="0"/>
              <a:t>	</a:t>
            </a:r>
            <a:r>
              <a:rPr lang="hu-HU" u="sng" dirty="0"/>
              <a:t>Fontos, hogy a parancsokat a </a:t>
            </a:r>
            <a:r>
              <a:rPr lang="hu-HU" b="1" u="sng" dirty="0"/>
              <a:t>ParKing/main </a:t>
            </a:r>
            <a:r>
              <a:rPr lang="hu-HU" u="sng" dirty="0"/>
              <a:t>mappán belül kell futtatni!</a:t>
            </a:r>
          </a:p>
          <a:p>
            <a:pPr lvl="2"/>
            <a:r>
              <a:rPr lang="hu-HU" b="1" dirty="0"/>
              <a:t>npm </a:t>
            </a:r>
            <a:r>
              <a:rPr lang="hu-HU" b="1" dirty="0" err="1"/>
              <a:t>run</a:t>
            </a:r>
            <a:r>
              <a:rPr lang="hu-HU" b="1" dirty="0"/>
              <a:t> </a:t>
            </a:r>
            <a:r>
              <a:rPr lang="hu-HU" b="1" dirty="0" err="1"/>
              <a:t>dotenv</a:t>
            </a:r>
            <a:r>
              <a:rPr lang="hu-HU" b="1" dirty="0"/>
              <a:t> + .</a:t>
            </a:r>
            <a:r>
              <a:rPr lang="hu-HU" i="1" dirty="0" err="1"/>
              <a:t>env</a:t>
            </a:r>
            <a:r>
              <a:rPr lang="hu-HU" i="1" dirty="0"/>
              <a:t> fájl feltöltése a megfelelő adatokkal!</a:t>
            </a:r>
          </a:p>
          <a:p>
            <a:pPr lvl="2"/>
            <a:r>
              <a:rPr lang="hu-HU" b="1" dirty="0"/>
              <a:t>npm update - </a:t>
            </a:r>
            <a:r>
              <a:rPr lang="hu-HU" i="1" dirty="0" err="1"/>
              <a:t>node_modules</a:t>
            </a:r>
            <a:r>
              <a:rPr lang="hu-HU" i="1" dirty="0"/>
              <a:t> mappa létrehozása</a:t>
            </a:r>
            <a:endParaRPr lang="hu-HU" b="1" dirty="0"/>
          </a:p>
          <a:p>
            <a:pPr lvl="2"/>
            <a:r>
              <a:rPr lang="hu-HU" b="1" dirty="0"/>
              <a:t>npm </a:t>
            </a:r>
            <a:r>
              <a:rPr lang="hu-HU" b="1" dirty="0" err="1"/>
              <a:t>run</a:t>
            </a:r>
            <a:r>
              <a:rPr lang="hu-HU" b="1" dirty="0"/>
              <a:t> </a:t>
            </a:r>
            <a:r>
              <a:rPr lang="hu-HU" b="1" dirty="0" err="1"/>
              <a:t>setup</a:t>
            </a:r>
            <a:r>
              <a:rPr lang="hu-HU" b="1" dirty="0"/>
              <a:t> - </a:t>
            </a:r>
            <a:r>
              <a:rPr lang="hu-HU" i="1" dirty="0"/>
              <a:t>szükséges csomagok letöltése</a:t>
            </a:r>
            <a:endParaRPr lang="hu-HU" b="1" dirty="0"/>
          </a:p>
          <a:p>
            <a:pPr lvl="2"/>
            <a:r>
              <a:rPr lang="hu-HU" b="1" dirty="0"/>
              <a:t>node server.js - </a:t>
            </a:r>
            <a:r>
              <a:rPr lang="hu-HU" i="1" dirty="0"/>
              <a:t>szerver elindítása</a:t>
            </a:r>
            <a:endParaRPr lang="hu-HU" b="1" dirty="0"/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350" y="3434796"/>
            <a:ext cx="7461300" cy="645656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Adatbázis terv</a:t>
            </a:r>
            <a:endParaRPr lang="hu-HU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8CC540-F6BA-4A79-BB75-52073E741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16" y="103415"/>
            <a:ext cx="3052932" cy="394920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12A2DAF-1E6D-45AA-AC74-3EADC464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831" y="104010"/>
            <a:ext cx="3489294" cy="304458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197927-F0F5-4075-9DE2-295632F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42" y="4211990"/>
            <a:ext cx="3346939" cy="264601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AD542D5-5B5E-4584-8006-04ED6915F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831" y="4077682"/>
            <a:ext cx="3489294" cy="2591465"/>
          </a:xfrm>
          <a:prstGeom prst="rect">
            <a:avLst/>
          </a:prstGeom>
        </p:spPr>
      </p:pic>
      <p:sp>
        <p:nvSpPr>
          <p:cNvPr id="22" name="Jobb oldali szögletes zárójel 21">
            <a:extLst>
              <a:ext uri="{FF2B5EF4-FFF2-40B4-BE49-F238E27FC236}">
                <a16:creationId xmlns:a16="http://schemas.microsoft.com/office/drawing/2014/main" id="{FC260EFA-5D18-4CAC-8650-32F549227E8B}"/>
              </a:ext>
            </a:extLst>
          </p:cNvPr>
          <p:cNvSpPr/>
          <p:nvPr/>
        </p:nvSpPr>
        <p:spPr>
          <a:xfrm>
            <a:off x="4033864" y="1393865"/>
            <a:ext cx="427643" cy="3441904"/>
          </a:xfrm>
          <a:prstGeom prst="rightBracket">
            <a:avLst>
              <a:gd name="adj" fmla="val 309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" name="Jobb oldali szögletes zárójel 30">
            <a:extLst>
              <a:ext uri="{FF2B5EF4-FFF2-40B4-BE49-F238E27FC236}">
                <a16:creationId xmlns:a16="http://schemas.microsoft.com/office/drawing/2014/main" id="{99A9D81A-5DD9-4C39-9114-852889216328}"/>
              </a:ext>
            </a:extLst>
          </p:cNvPr>
          <p:cNvSpPr/>
          <p:nvPr/>
        </p:nvSpPr>
        <p:spPr>
          <a:xfrm>
            <a:off x="10243125" y="748937"/>
            <a:ext cx="120075" cy="4676493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45" name="Összekötő: szögletes 44">
            <a:extLst>
              <a:ext uri="{FF2B5EF4-FFF2-40B4-BE49-F238E27FC236}">
                <a16:creationId xmlns:a16="http://schemas.microsoft.com/office/drawing/2014/main" id="{C3310875-39B4-40A7-BD80-8DAA60743231}"/>
              </a:ext>
            </a:extLst>
          </p:cNvPr>
          <p:cNvCxnSpPr>
            <a:cxnSpLocks/>
          </p:cNvCxnSpPr>
          <p:nvPr/>
        </p:nvCxnSpPr>
        <p:spPr>
          <a:xfrm flipV="1">
            <a:off x="4033864" y="800626"/>
            <a:ext cx="2719967" cy="228074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C598679A-778A-4E59-8D0C-140DBA3970E6}"/>
              </a:ext>
            </a:extLst>
          </p:cNvPr>
          <p:cNvCxnSpPr/>
          <p:nvPr/>
        </p:nvCxnSpPr>
        <p:spPr>
          <a:xfrm>
            <a:off x="4033864" y="914400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6C3429D8-9F1F-4D77-A42E-4897DE02273B}"/>
              </a:ext>
            </a:extLst>
          </p:cNvPr>
          <p:cNvCxnSpPr>
            <a:cxnSpLocks/>
          </p:cNvCxnSpPr>
          <p:nvPr/>
        </p:nvCxnSpPr>
        <p:spPr>
          <a:xfrm flipV="1">
            <a:off x="4033864" y="1028700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FF5A53B6-0E60-4F99-968B-72815C70B786}"/>
              </a:ext>
            </a:extLst>
          </p:cNvPr>
          <p:cNvCxnSpPr/>
          <p:nvPr/>
        </p:nvCxnSpPr>
        <p:spPr>
          <a:xfrm>
            <a:off x="4033864" y="1289396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661AD45F-393E-4E7A-9ABE-094CA645BBFF}"/>
              </a:ext>
            </a:extLst>
          </p:cNvPr>
          <p:cNvCxnSpPr>
            <a:cxnSpLocks/>
          </p:cNvCxnSpPr>
          <p:nvPr/>
        </p:nvCxnSpPr>
        <p:spPr>
          <a:xfrm flipV="1">
            <a:off x="4033864" y="1393865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CD0096D1-5FD7-4EF2-AE2C-E8212D09B5DE}"/>
              </a:ext>
            </a:extLst>
          </p:cNvPr>
          <p:cNvCxnSpPr>
            <a:cxnSpLocks/>
          </p:cNvCxnSpPr>
          <p:nvPr/>
        </p:nvCxnSpPr>
        <p:spPr>
          <a:xfrm flipV="1">
            <a:off x="10225088" y="5425430"/>
            <a:ext cx="138112" cy="1095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Egyenes összekötő 20">
            <a:extLst>
              <a:ext uri="{FF2B5EF4-FFF2-40B4-BE49-F238E27FC236}">
                <a16:creationId xmlns:a16="http://schemas.microsoft.com/office/drawing/2014/main" id="{ED5F477F-9A77-4999-A60B-AEBFF2FDD138}"/>
              </a:ext>
            </a:extLst>
          </p:cNvPr>
          <p:cNvCxnSpPr/>
          <p:nvPr/>
        </p:nvCxnSpPr>
        <p:spPr>
          <a:xfrm>
            <a:off x="10217850" y="5308762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6807" y="1514841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49" y="2407229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292" y="3168189"/>
            <a:ext cx="5676901" cy="319325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BFCA16E0-5DFC-42BB-A440-1C2E555CC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5965" y="1279597"/>
            <a:ext cx="4288674" cy="8221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EC6302F-C432-4A30-96F4-D128971649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5964" y="2225121"/>
            <a:ext cx="4466443" cy="8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15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937" y="1297577"/>
            <a:ext cx="10832125" cy="5117225"/>
          </a:xfrm>
        </p:spPr>
      </p:pic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6242" y="2987086"/>
            <a:ext cx="3060783" cy="1811113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87827ED-7D73-4156-A491-AEE5A2FBF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2" y="1646138"/>
            <a:ext cx="2016000" cy="990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99AD9E9-4FE9-4175-BD55-1F5174E2E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91" y="2908564"/>
            <a:ext cx="2016000" cy="98408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5B227D5-8B12-4305-A717-1D8BFC852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93" y="4203375"/>
            <a:ext cx="2016000" cy="101144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788C1C6-C982-4BBE-860F-441DC3BC29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685" y="1646138"/>
            <a:ext cx="2016000" cy="990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37295E5-09CC-4064-9E33-45175C6986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8685" y="2908564"/>
            <a:ext cx="2016000" cy="984080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7881D346-17FF-4BFF-9710-7630C677EE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685" y="5525548"/>
            <a:ext cx="2016000" cy="96732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8861811-65A5-4634-AF52-1E09338CCC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991" y="5525547"/>
            <a:ext cx="2016000" cy="967328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87C532DD-6217-4B38-9826-CDCC36DB19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8184" y="4214095"/>
            <a:ext cx="2016000" cy="990000"/>
          </a:xfrm>
          <a:prstGeom prst="rect">
            <a:avLst/>
          </a:prstGeom>
        </p:spPr>
      </p:pic>
      <p:sp>
        <p:nvSpPr>
          <p:cNvPr id="32" name="Téglalap 31">
            <a:extLst>
              <a:ext uri="{FF2B5EF4-FFF2-40B4-BE49-F238E27FC236}">
                <a16:creationId xmlns:a16="http://schemas.microsoft.com/office/drawing/2014/main" id="{D2C3AC7A-1833-4FD0-AF36-1531B8E111E2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25" name="Kép 24">
            <a:extLst>
              <a:ext uri="{FF2B5EF4-FFF2-40B4-BE49-F238E27FC236}">
                <a16:creationId xmlns:a16="http://schemas.microsoft.com/office/drawing/2014/main" id="{AC3AFB49-9661-49CF-B660-01CD9497BF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72547" y="1500796"/>
            <a:ext cx="4846906" cy="1325563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EF0BAD80-140B-4701-A865-30D4E9AE1B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119" y="2879141"/>
            <a:ext cx="6039760" cy="1332001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2A4CA11A-D64C-40F5-9996-56D21E688F1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30053" y="4269042"/>
            <a:ext cx="5331893" cy="177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5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5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50"/>
                            </p:stCondLst>
                            <p:childTnLst>
                              <p:par>
                                <p:cTn id="5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7190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3412" y="1614234"/>
            <a:ext cx="3410426" cy="3629532"/>
          </a:xfr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05" y="5362072"/>
            <a:ext cx="2631440" cy="131508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451B465-C17C-43D4-A301-093FA09D7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99" y="2358561"/>
            <a:ext cx="2091254" cy="107043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C7BFDD9-B196-4AAE-A29A-CBABCBAC4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99" y="3645077"/>
            <a:ext cx="2091254" cy="107043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FF3D3F5-C4E5-4E55-A0BB-6CC10F8575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2082" y="1931956"/>
            <a:ext cx="3276862" cy="299408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0EAF209-7946-495F-A330-199F3D0C0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793" y="5362072"/>
            <a:ext cx="2631441" cy="1315086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AA2E5AAF-7639-401F-99F6-7E5D429CCB3C}"/>
              </a:ext>
            </a:extLst>
          </p:cNvPr>
          <p:cNvCxnSpPr>
            <a:cxnSpLocks/>
          </p:cNvCxnSpPr>
          <p:nvPr/>
        </p:nvCxnSpPr>
        <p:spPr>
          <a:xfrm flipV="1">
            <a:off x="5753100" y="2276475"/>
            <a:ext cx="2333625" cy="11525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4" name="Téglalap 13">
            <a:extLst>
              <a:ext uri="{FF2B5EF4-FFF2-40B4-BE49-F238E27FC236}">
                <a16:creationId xmlns:a16="http://schemas.microsoft.com/office/drawing/2014/main" id="{BDDD8E3E-2A6E-4D09-AC3F-115738585F3C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D58F6B37-2358-4383-BB11-B302900991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809749"/>
            <a:ext cx="4924425" cy="32385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3F811178-D728-4258-9399-7F255FB5FD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5527" y="1990724"/>
            <a:ext cx="4048125" cy="287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6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50"/>
                            </p:stCondLst>
                            <p:childTnLst>
                              <p:par>
                                <p:cTn id="42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512" y="1415561"/>
            <a:ext cx="11388975" cy="505557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05BA788-BE1F-4B73-A4D3-524640512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429" y="2344046"/>
            <a:ext cx="6829425" cy="378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Rólunk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6" y="1690688"/>
            <a:ext cx="11582507" cy="4410344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7016" y="2006187"/>
            <a:ext cx="11077967" cy="4259181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48" y="755008"/>
            <a:ext cx="2070735" cy="103505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F1C381-E558-4D16-8BDC-91CC1990D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6" y="755008"/>
            <a:ext cx="2193827" cy="10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555" y="5532596"/>
            <a:ext cx="1901223" cy="960279"/>
          </a:xfrm>
          <a:prstGeom prst="rect">
            <a:avLst/>
          </a:prstGeom>
        </p:spPr>
      </p:pic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115" y="213234"/>
            <a:ext cx="1975951" cy="132326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t="-2539" r="82886"/>
          <a:stretch/>
        </p:blipFill>
        <p:spPr>
          <a:xfrm>
            <a:off x="2656945" y="136078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909" y="1482048"/>
            <a:ext cx="2303081" cy="3920946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38C9B685-E6BF-4528-B33A-C5BB1BA5B7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88" y="4388157"/>
            <a:ext cx="2009378" cy="1014837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A6553BDD-972E-480F-85CB-AE6F18C5BB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88" y="2204064"/>
            <a:ext cx="1989082" cy="1014837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48FEF119-DF90-4637-B160-8CF9EB9DE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4688" y="3304877"/>
            <a:ext cx="2009378" cy="1008117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DE98F546-7B06-4239-9117-C218290ED3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86085" y="1176261"/>
            <a:ext cx="1870843" cy="941828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03EBAF2D-7941-4EBC-8F4F-FBC76F2593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837" y="5559638"/>
            <a:ext cx="1901223" cy="960279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94D9ACFB-F8EB-41F1-B6BA-1472723E1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5072" y="1457528"/>
            <a:ext cx="2047868" cy="1023934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AE8FA99E-4FD5-4000-96A6-0245D457B5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5072" y="2900965"/>
            <a:ext cx="2047868" cy="1044550"/>
          </a:xfrm>
          <a:prstGeom prst="rect">
            <a:avLst/>
          </a:prstGeom>
        </p:spPr>
      </p:pic>
      <p:pic>
        <p:nvPicPr>
          <p:cNvPr id="41" name="Kép 40">
            <a:extLst>
              <a:ext uri="{FF2B5EF4-FFF2-40B4-BE49-F238E27FC236}">
                <a16:creationId xmlns:a16="http://schemas.microsoft.com/office/drawing/2014/main" id="{DBF28461-2EAE-4A98-80FA-4DE969471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5072" y="4365508"/>
            <a:ext cx="2047868" cy="1021959"/>
          </a:xfrm>
          <a:prstGeom prst="rect">
            <a:avLst/>
          </a:prstGeom>
        </p:spPr>
      </p:pic>
      <p:cxnSp>
        <p:nvCxnSpPr>
          <p:cNvPr id="9" name="Egyenes összekötő nyíllal 8">
            <a:extLst>
              <a:ext uri="{FF2B5EF4-FFF2-40B4-BE49-F238E27FC236}">
                <a16:creationId xmlns:a16="http://schemas.microsoft.com/office/drawing/2014/main" id="{1B69829B-3529-4F1C-BE27-110E25082B44}"/>
              </a:ext>
            </a:extLst>
          </p:cNvPr>
          <p:cNvCxnSpPr/>
          <p:nvPr/>
        </p:nvCxnSpPr>
        <p:spPr>
          <a:xfrm flipV="1">
            <a:off x="4572000" y="3218901"/>
            <a:ext cx="1524000" cy="18581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5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33160"/>
            <a:ext cx="2391109" cy="1457528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E757A1B-9447-46BE-B933-09F8C7256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4743"/>
            <a:ext cx="9910514" cy="458787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17DCCFC4-D190-41F6-B614-D5F903674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206" y="1801931"/>
            <a:ext cx="2078363" cy="101986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413B6F68-180F-426B-8A43-BC523FDC0C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206" y="2982343"/>
            <a:ext cx="2078363" cy="1023671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7682EAC-16F1-4D6F-A33D-6619CAC9B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206" y="4166561"/>
            <a:ext cx="2078363" cy="101986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D26645A1-7CB3-4815-B757-71B604C1E0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4206" y="5346973"/>
            <a:ext cx="2078364" cy="10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FEE545-DA10-43EA-AF64-8D33B533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BADBA9A4-18AB-404D-8244-BF2A06D7B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6197" y="1533013"/>
            <a:ext cx="10836000" cy="504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F687E5A-DE31-4224-8D72-82C1C01A8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114" y="496569"/>
            <a:ext cx="2781688" cy="905001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14F2A74B-F2F0-4B91-8A0E-BD04A429DFF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2D11117C-8B91-48A5-9A7E-20D296ABC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1454" y="993311"/>
            <a:ext cx="7549091" cy="487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052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180" y="3703825"/>
            <a:ext cx="11277616" cy="3126467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80" y="835269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0" y="3502901"/>
            <a:ext cx="1743318" cy="228632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0" y="1171750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8375" y="2132134"/>
            <a:ext cx="2141075" cy="104513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73E8796-C4CA-4D53-B20A-25F6CB501F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088" y="1296080"/>
            <a:ext cx="4955505" cy="2047484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E879020B-F2CC-4632-B88C-4F76473F9D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375" y="1386567"/>
            <a:ext cx="5113765" cy="185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52" y="2448189"/>
            <a:ext cx="11742295" cy="1961621"/>
          </a:xfr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6C2D152C-34E6-4687-B3BF-C74C038AA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266" y="4833358"/>
            <a:ext cx="3809467" cy="810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337AE7-E7E1-4AAA-A097-D55937D75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/>
              <a:t>Adminfelület – WPF, Electron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A1777A0-FC69-486B-BF14-AC5E4CC29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89" y="1541275"/>
            <a:ext cx="7813431" cy="409197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E4F1D5B-B2A9-45A0-916D-55D6B5F7D1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052" y="2070005"/>
            <a:ext cx="8147538" cy="4581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713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F2348A-8F63-4A7B-A710-E5E72F2A9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/>
              <a:t>WPF vs Electron</a:t>
            </a:r>
          </a:p>
        </p:txBody>
      </p:sp>
      <p:graphicFrame>
        <p:nvGraphicFramePr>
          <p:cNvPr id="7" name="Tartalom helye 6">
            <a:extLst>
              <a:ext uri="{FF2B5EF4-FFF2-40B4-BE49-F238E27FC236}">
                <a16:creationId xmlns:a16="http://schemas.microsoft.com/office/drawing/2014/main" id="{E8B90FB1-BFCF-4A27-B2A1-52F5876099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2027993"/>
              </p:ext>
            </p:extLst>
          </p:nvPr>
        </p:nvGraphicFramePr>
        <p:xfrm>
          <a:off x="557984" y="2490788"/>
          <a:ext cx="11076032" cy="2194560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2655897">
                  <a:extLst>
                    <a:ext uri="{9D8B030D-6E8A-4147-A177-3AD203B41FA5}">
                      <a16:colId xmlns:a16="http://schemas.microsoft.com/office/drawing/2014/main" val="2768500571"/>
                    </a:ext>
                  </a:extLst>
                </a:gridCol>
                <a:gridCol w="4120696">
                  <a:extLst>
                    <a:ext uri="{9D8B030D-6E8A-4147-A177-3AD203B41FA5}">
                      <a16:colId xmlns:a16="http://schemas.microsoft.com/office/drawing/2014/main" val="3587214009"/>
                    </a:ext>
                  </a:extLst>
                </a:gridCol>
                <a:gridCol w="4299439">
                  <a:extLst>
                    <a:ext uri="{9D8B030D-6E8A-4147-A177-3AD203B41FA5}">
                      <a16:colId xmlns:a16="http://schemas.microsoft.com/office/drawing/2014/main" val="6937026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hu-HU" b="1" dirty="0"/>
                        <a:t>Szempont</a:t>
                      </a:r>
                      <a:endParaRPr lang="hu-H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 b="1" u="sng" dirty="0"/>
                        <a:t>WPF</a:t>
                      </a:r>
                      <a:r>
                        <a:rPr lang="hu-HU" b="1" dirty="0"/>
                        <a:t> </a:t>
                      </a:r>
                      <a:r>
                        <a:rPr lang="hu-HU" b="0" dirty="0"/>
                        <a:t>(Windows Presentation Foundation)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b="1" u="sng" dirty="0"/>
                        <a:t>Electron</a:t>
                      </a:r>
                      <a:endParaRPr lang="hu-HU" u="sng" dirty="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3255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/>
                        <a:t>Platform</a:t>
                      </a:r>
                      <a:endParaRPr lang="hu-H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/>
                        <a:t>Windows-only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b="1" dirty="0"/>
                        <a:t>Cross-platform</a:t>
                      </a:r>
                      <a:r>
                        <a:rPr lang="hu-HU" dirty="0"/>
                        <a:t> (Windows, macOS, Linux)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58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/>
                        <a:t>Nyelv</a:t>
                      </a:r>
                      <a:endParaRPr lang="hu-H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 dirty="0"/>
                        <a:t>C#, XAML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/>
                        <a:t>JavaScript, HTML, CSS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849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/>
                        <a:t>UI</a:t>
                      </a:r>
                      <a:endParaRPr lang="hu-H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/>
                        <a:t>Natív (DirectX-alapú)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/>
                        <a:t>Webes (Chromium rendereli)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4338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/>
                        <a:t>Teljesítmény</a:t>
                      </a:r>
                      <a:endParaRPr lang="hu-H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/>
                        <a:t>Gyorsabb, erőforrás-hatékony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/>
                        <a:t>Nehezebb, több memória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7012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 dirty="0"/>
                        <a:t>Ökoszisztéma</a:t>
                      </a:r>
                      <a:endParaRPr lang="hu-H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 dirty="0"/>
                        <a:t>.NET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b="1" dirty="0"/>
                        <a:t>Webes stack </a:t>
                      </a:r>
                      <a:r>
                        <a:rPr lang="hu-HU" dirty="0"/>
                        <a:t>(nagyon nagy)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93239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4288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4F7B0B-1B1A-4941-B503-5A2B5BB0B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15"/>
            <a:ext cx="10515600" cy="1325563"/>
          </a:xfrm>
        </p:spPr>
        <p:txBody>
          <a:bodyPr/>
          <a:lstStyle/>
          <a:p>
            <a:pPr algn="ctr"/>
            <a:r>
              <a:rPr lang="hu-HU" dirty="0"/>
              <a:t>Adminfelület – Electron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59C7601-20A1-489E-9181-EF5116D125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4091" y="1820540"/>
            <a:ext cx="10443818" cy="3602360"/>
          </a:xfrm>
          <a:ln w="25400">
            <a:solidFill>
              <a:schemeClr val="accent1"/>
            </a:solidFill>
          </a:ln>
          <a:effectLst>
            <a:softEdge rad="0"/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76CCC18-7416-4605-8767-30303A425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3548" y="1820540"/>
            <a:ext cx="10174909" cy="361707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C86A7D6-B69A-4181-9FE5-587BA4E0F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23548" y="-2247203"/>
            <a:ext cx="9928588" cy="366759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7137742-FBA2-41D3-ADD8-C56E0EDFC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23548" y="-6468054"/>
            <a:ext cx="10221697" cy="360236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B3D7335-80DA-4F4A-A484-C8530A9744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1920" y="-6420666"/>
            <a:ext cx="4046754" cy="417346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013829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4F7B0B-1B1A-4941-B503-5A2B5BB0B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15"/>
            <a:ext cx="10515600" cy="1325563"/>
          </a:xfrm>
        </p:spPr>
        <p:txBody>
          <a:bodyPr/>
          <a:lstStyle/>
          <a:p>
            <a:pPr algn="ctr"/>
            <a:r>
              <a:rPr lang="hu-HU" dirty="0"/>
              <a:t>Adminfelület – Electron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59C7601-20A1-489E-9181-EF5116D125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4091" y="8339327"/>
            <a:ext cx="10443818" cy="3602360"/>
          </a:xfrm>
          <a:ln w="25400">
            <a:solidFill>
              <a:schemeClr val="accent1"/>
            </a:solidFill>
          </a:ln>
          <a:effectLst>
            <a:softEdge rad="0"/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76CCC18-7416-4605-8767-30303A425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545" y="1784261"/>
            <a:ext cx="10174909" cy="361707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C86A7D6-B69A-4181-9FE5-587BA4E0F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3045" y="1733738"/>
            <a:ext cx="9928588" cy="366759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7137742-FBA2-41D3-ADD8-C56E0EDFC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3045" y="-2487113"/>
            <a:ext cx="10221697" cy="360236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B3D7335-80DA-4F4A-A484-C8530A9744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3045" y="-7279067"/>
            <a:ext cx="4046754" cy="417346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907464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4F7B0B-1B1A-4941-B503-5A2B5BB0B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15"/>
            <a:ext cx="10515600" cy="1325563"/>
          </a:xfrm>
        </p:spPr>
        <p:txBody>
          <a:bodyPr/>
          <a:lstStyle/>
          <a:p>
            <a:pPr algn="ctr"/>
            <a:r>
              <a:rPr lang="hu-HU" dirty="0"/>
              <a:t>Adminfelület – Electron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59C7601-20A1-489E-9181-EF5116D125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1091909" y="7919590"/>
            <a:ext cx="10443818" cy="3602360"/>
          </a:xfrm>
          <a:ln w="25400">
            <a:solidFill>
              <a:schemeClr val="accent1"/>
            </a:solidFill>
          </a:ln>
          <a:effectLst>
            <a:softEdge rad="0"/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76CCC18-7416-4605-8767-30303A425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891" y="7919590"/>
            <a:ext cx="10174909" cy="361707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C86A7D6-B69A-4181-9FE5-587BA4E0F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706" y="1595203"/>
            <a:ext cx="9928588" cy="366759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7137742-FBA2-41D3-ADD8-C56E0EDFC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3046" y="1595203"/>
            <a:ext cx="10221697" cy="360236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B3D7335-80DA-4F4A-A484-C8530A9744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3046" y="-3196751"/>
            <a:ext cx="4046754" cy="417346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173025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4F7B0B-1B1A-4941-B503-5A2B5BB0B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15"/>
            <a:ext cx="10515600" cy="1325563"/>
          </a:xfrm>
        </p:spPr>
        <p:txBody>
          <a:bodyPr/>
          <a:lstStyle/>
          <a:p>
            <a:pPr algn="ctr"/>
            <a:r>
              <a:rPr lang="hu-HU" dirty="0"/>
              <a:t>Adminfelület – Electron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59C7601-20A1-489E-9181-EF5116D125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1504864" y="3422309"/>
            <a:ext cx="10443818" cy="3602360"/>
          </a:xfrm>
          <a:ln w="25400">
            <a:solidFill>
              <a:schemeClr val="accent1"/>
            </a:solidFill>
          </a:ln>
          <a:effectLst>
            <a:softEdge rad="0"/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76CCC18-7416-4605-8767-30303A425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235955" y="8312363"/>
            <a:ext cx="10174909" cy="361707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C86A7D6-B69A-4181-9FE5-587BA4E0F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706" y="8261840"/>
            <a:ext cx="9928588" cy="366759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7137742-FBA2-41D3-ADD8-C56E0EDFC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151" y="1627820"/>
            <a:ext cx="10221697" cy="360236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B3D7335-80DA-4F4A-A484-C8530A9744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3045" y="1335578"/>
            <a:ext cx="4046754" cy="417346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14537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4F7B0B-1B1A-4941-B503-5A2B5BB0B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15"/>
            <a:ext cx="10515600" cy="1325563"/>
          </a:xfrm>
        </p:spPr>
        <p:txBody>
          <a:bodyPr/>
          <a:lstStyle/>
          <a:p>
            <a:pPr algn="ctr"/>
            <a:r>
              <a:rPr lang="hu-HU" dirty="0"/>
              <a:t>Adminfelület – Electron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59C7601-20A1-489E-9181-EF5116D125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1504864" y="404695"/>
            <a:ext cx="10443818" cy="3602360"/>
          </a:xfrm>
          <a:ln w="25400">
            <a:solidFill>
              <a:schemeClr val="accent1"/>
            </a:solidFill>
          </a:ln>
          <a:effectLst>
            <a:softEdge rad="0"/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76CCC18-7416-4605-8767-30303A425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235955" y="4644770"/>
            <a:ext cx="10174909" cy="361707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C86A7D6-B69A-4181-9FE5-587BA4E0F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989634" y="8645298"/>
            <a:ext cx="9928588" cy="366759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7137742-FBA2-41D3-ADD8-C56E0EDFC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827" y="8645298"/>
            <a:ext cx="10221697" cy="360236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B3D7335-80DA-4F4A-A484-C8530A9744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2623" y="1342268"/>
            <a:ext cx="4046754" cy="417346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1854104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366994-B212-46C5-99F7-F140B35F6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Adminfelület – Chart.js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C41132B4-644F-4592-8172-F4A741AABD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9075" y="1852292"/>
            <a:ext cx="6235700" cy="37820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Nyílt forráskódú 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JavaScript könyvtár adatvizualizációhoz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Könnyen használható 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grafikonok készítésére weboldalakon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HTML5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Canvas alapú megjelenítés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Reszponzív (mobilon is jól működik)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Több diagramtípus: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vonal-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oszlop-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kör-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radar-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területdiagram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stb.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Egyszerűen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testreszabható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(színek, animációk, tooltippek)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JSON-alapú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adatkezelés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Gyakran használják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dashboardokban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felületeken 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37F0C27D-A0D5-45C5-88C8-87C910A42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87" y="2281235"/>
            <a:ext cx="4619625" cy="292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378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07BB05-16D3-4289-A28D-A21F62C77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/>
              <a:t>Adminfelület – Bootstrap 5.3.8</a:t>
            </a:r>
          </a:p>
        </p:txBody>
      </p:sp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AE206F7E-CA5D-4E69-A171-F7D280C43A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69450420"/>
              </p:ext>
            </p:extLst>
          </p:nvPr>
        </p:nvGraphicFramePr>
        <p:xfrm>
          <a:off x="838200" y="2766854"/>
          <a:ext cx="10515600" cy="24688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98431307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8227802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Téma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Rövid összefoglaló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451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Bootstrap 5.3.8</a:t>
                      </a:r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Nyílt forráskódú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CSS/JS keretrendszer 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reszponzív weboldalakhoz. Előre elkészített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UI komponenseket 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és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grid rendszert 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kínál, gyors fejlesztést és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könnyű testreszabást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biztosít.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179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Bootstrap Icons</a:t>
                      </a:r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Ingyenes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SVG alapú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ikonkészlet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 Bootstraphez. Több száz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skálázható </a:t>
                      </a:r>
                      <a:r>
                        <a:rPr lang="hu-HU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ikon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könnyen beilleszthető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egységes Bootstrap stílusban,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külső font nélkül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829673"/>
                  </a:ext>
                </a:extLst>
              </a:tr>
            </a:tbl>
          </a:graphicData>
        </a:graphic>
      </p:graphicFrame>
      <p:pic>
        <p:nvPicPr>
          <p:cNvPr id="5" name="Kép 4">
            <a:extLst>
              <a:ext uri="{FF2B5EF4-FFF2-40B4-BE49-F238E27FC236}">
                <a16:creationId xmlns:a16="http://schemas.microsoft.com/office/drawing/2014/main" id="{B6D736E7-D460-440E-91A0-F29F07B63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5975" y="414972"/>
            <a:ext cx="1485900" cy="1225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6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1D31FA8D-3937-40FC-8C69-BF7FE62C3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" y="218424"/>
            <a:ext cx="11791950" cy="1470692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FEA8572-5238-4981-B8F8-E32A6D7A94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2" t="357"/>
          <a:stretch/>
        </p:blipFill>
        <p:spPr>
          <a:xfrm>
            <a:off x="1753416" y="1834583"/>
            <a:ext cx="4772696" cy="4651232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104FEDB3-936A-4361-A138-C4AF32AC725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r="332" b="914"/>
          <a:stretch/>
        </p:blipFill>
        <p:spPr>
          <a:xfrm>
            <a:off x="6820378" y="1834583"/>
            <a:ext cx="2857898" cy="1312069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9C4899FA-9D36-4327-A34D-7A3E8A7C3D4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59" t="1449" r="331" b="1449"/>
          <a:stretch/>
        </p:blipFill>
        <p:spPr>
          <a:xfrm>
            <a:off x="6820378" y="3521935"/>
            <a:ext cx="2857899" cy="1276528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6E85391B-D5C4-4B4F-B730-5C5ECB0A99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0378" y="5172687"/>
            <a:ext cx="2857899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940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78AF6B28-E13E-4CF1-A0D1-0920FBC124FD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5" y="1512893"/>
            <a:ext cx="3177248" cy="490049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F3109A5-F5D9-46C3-B6D6-96D1132EAAA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807" y="1519176"/>
            <a:ext cx="2871526" cy="1688573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FC6600AA-5D9B-4FF0-8F30-D22921212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6961" y="1512893"/>
            <a:ext cx="5583187" cy="3278554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0842755B-5778-4AD0-9B40-49867D4F9E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7807" y="3404658"/>
            <a:ext cx="2871526" cy="1410124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6D810451-D319-4884-B357-42B1F28809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7807" y="5011691"/>
            <a:ext cx="2871526" cy="1401692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04D267B-7C4F-409C-828B-B904D7E71D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5249" y="4828986"/>
            <a:ext cx="2674899" cy="1273925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CC4F2379-3778-4B07-A4A9-3F4345032D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6961" y="4814782"/>
            <a:ext cx="2868731" cy="1273925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DE662869-D7C2-43B0-A46B-B1E617D042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86560" y="6126246"/>
            <a:ext cx="5219700" cy="70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87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75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"/>
                            </p:stCondLst>
                            <p:childTnLst>
                              <p:par>
                                <p:cTn id="3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5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Bejelentkezés</a:t>
            </a:r>
          </a:p>
        </p:txBody>
      </p:sp>
      <p:pic>
        <p:nvPicPr>
          <p:cNvPr id="10" name="Tartalom helye 4">
            <a:extLst>
              <a:ext uri="{FF2B5EF4-FFF2-40B4-BE49-F238E27FC236}">
                <a16:creationId xmlns:a16="http://schemas.microsoft.com/office/drawing/2014/main" id="{F2794826-BC5C-4B80-83D1-39BEE2199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90" y="1394463"/>
            <a:ext cx="3823434" cy="406907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D1FC260-9AF8-4268-AEF2-C79ACF2FF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565" y="1394463"/>
            <a:ext cx="3616191" cy="301159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3A18138-D530-4970-A49F-37C1B18C0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688007"/>
            <a:ext cx="4302073" cy="1907523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DCDB5096-A946-4EEA-A4BC-B1C8F6C00429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691" y="1394463"/>
            <a:ext cx="2631440" cy="1303083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49D10876-65B8-48B0-AD46-4E73070A35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691" y="3059114"/>
            <a:ext cx="2631440" cy="1346940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85D7F86C-0C98-494D-8162-11BEC4BB8B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6091" y="5713351"/>
            <a:ext cx="5548910" cy="81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915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"/>
                            </p:stCondLst>
                            <p:childTnLst>
                              <p:par>
                                <p:cTn id="2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Kijelentkezés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3FD329B-843D-4F6F-A659-2295AD51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798" y="2450027"/>
            <a:ext cx="3121992" cy="208633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7C4EC83-A627-401B-99B7-12A494F60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813" y="1562301"/>
            <a:ext cx="5054126" cy="373339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5A8B932-9F30-4D38-AFBC-3C71F42B2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571" y="5593217"/>
            <a:ext cx="5878857" cy="92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335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Főoldal bejelentkezés után</a:t>
            </a:r>
          </a:p>
        </p:txBody>
      </p:sp>
      <p:pic>
        <p:nvPicPr>
          <p:cNvPr id="5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4E71F69-6E87-4EAF-916C-DDFD00CAE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038" y="1415560"/>
            <a:ext cx="7704894" cy="342021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62B83F2-74B3-4AA5-AFE9-8832B535A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012" y="2963122"/>
            <a:ext cx="7219950" cy="35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010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2039" y="1469858"/>
            <a:ext cx="7531907" cy="2895816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107" y="1469858"/>
            <a:ext cx="2542482" cy="127085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E79A58E-0CFC-424E-AAF6-3169B3D55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2479" y="2795421"/>
            <a:ext cx="8796606" cy="2867042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4F6B68D-4773-4BB5-9B3A-17DB0305A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403" y="5717175"/>
            <a:ext cx="7831194" cy="1000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842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"/>
                            </p:stCondLst>
                            <p:childTnLst>
                              <p:par>
                                <p:cTn id="2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89" y="5402994"/>
            <a:ext cx="2213994" cy="121592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-2539" r="82886"/>
          <a:stretch/>
        </p:blipFill>
        <p:spPr>
          <a:xfrm>
            <a:off x="63214" y="119779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0060" y="1319058"/>
            <a:ext cx="2303081" cy="392094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3A9D63C-6567-42C3-B07A-E942DAF49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9542" y="1319058"/>
            <a:ext cx="6457950" cy="341947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DFD2998-839B-45B5-9CBB-1F4C08E70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4028" y="1319058"/>
            <a:ext cx="6648977" cy="4229766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CF7AF20-69FE-4007-88FC-F585109362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8398" y="5621431"/>
            <a:ext cx="7313296" cy="1145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765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"/>
                            </p:stCondLst>
                            <p:childTnLst>
                              <p:par>
                                <p:cTn id="3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269" y="201778"/>
            <a:ext cx="1529862" cy="932545"/>
          </a:xfr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D939808-857C-4E6C-B0B4-0695A9E58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9" y="1442572"/>
            <a:ext cx="6548928" cy="3683772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C4152D74-755A-4F51-8878-0A2F8E50C2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" y="1419861"/>
            <a:ext cx="6866862" cy="3729192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44BD9601-647E-4BB4-A2D7-C716F8D830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0608" y="5921368"/>
            <a:ext cx="6829425" cy="885825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8538A5E0-3985-467D-8D71-280F641C2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7362" y="5198472"/>
            <a:ext cx="5362575" cy="704850"/>
          </a:xfrm>
          <a:prstGeom prst="rect">
            <a:avLst/>
          </a:prstGeo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BB30A40C-95AB-4688-AE50-2908E7928F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1797" y="1585498"/>
            <a:ext cx="5006934" cy="33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325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"/>
                            </p:stCondLst>
                            <p:childTnLst>
                              <p:par>
                                <p:cTn id="2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750"/>
                            </p:stCondLst>
                            <p:childTnLst>
                              <p:par>
                                <p:cTn id="3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184" y="869185"/>
            <a:ext cx="11277616" cy="3126467"/>
          </a:xfr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004" y="4062695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9241" y="4062695"/>
            <a:ext cx="2141075" cy="104513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E9DDB53-6584-4D9C-AAD2-32A10A43C8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4" y="869185"/>
            <a:ext cx="6798302" cy="3967132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51D0E187-3EC6-4892-B8CC-0343D3650F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84" y="4893168"/>
            <a:ext cx="6059424" cy="193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508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"/>
                            </p:stCondLst>
                            <p:childTnLst>
                              <p:par>
                                <p:cTn id="2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475EE2-BB72-42F4-8904-7481CAD4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Tesztelés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409E150C-0A81-4912-932E-A551E03038C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712"/>
            <a:ext cx="3438525" cy="501491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51F108B-3E7B-40B6-9BBA-4800D580C9B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75" y="1499712"/>
            <a:ext cx="3438525" cy="501491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702C48C-1F7F-4480-BA02-96F8BB258B5D}"/>
              </a:ext>
            </a:extLst>
          </p:cNvPr>
          <p:cNvSpPr txBox="1"/>
          <p:nvPr/>
        </p:nvSpPr>
        <p:spPr>
          <a:xfrm>
            <a:off x="5224462" y="1499712"/>
            <a:ext cx="1743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Teszt futtatása: </a:t>
            </a:r>
          </a:p>
          <a:p>
            <a:r>
              <a:rPr lang="hu-HU" b="1" dirty="0"/>
              <a:t>npm run test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A5B8305B-C9BD-4F54-BA38-0904A4AA0549}"/>
              </a:ext>
            </a:extLst>
          </p:cNvPr>
          <p:cNvSpPr txBox="1"/>
          <p:nvPr/>
        </p:nvSpPr>
        <p:spPr>
          <a:xfrm>
            <a:off x="5190309" y="2278517"/>
            <a:ext cx="1811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jest és supertest</a:t>
            </a:r>
          </a:p>
          <a:p>
            <a:r>
              <a:rPr lang="hu-HU" dirty="0"/>
              <a:t>Tesztelési eszköz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DB16A69A-BCCE-4395-9E0E-A4EFD7D38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317" y="3512678"/>
            <a:ext cx="3367365" cy="1705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12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"/>
                            </p:stCondLst>
                            <p:childTnLst>
                              <p:par>
                                <p:cTn id="2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4498D7-1110-47C5-AF9C-748E4B196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36B8188-B2DE-453D-A071-C5D669535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/>
          <a:lstStyle/>
          <a:p>
            <a:r>
              <a:rPr lang="hu-HU" dirty="0"/>
              <a:t>Profilkép beállítása</a:t>
            </a:r>
          </a:p>
          <a:p>
            <a:r>
              <a:rPr lang="hu-HU" dirty="0"/>
              <a:t>Elfelejtett jelszó funkció teljes körű működése</a:t>
            </a:r>
          </a:p>
          <a:p>
            <a:r>
              <a:rPr lang="hu-HU" dirty="0"/>
              <a:t>Foglalás esetén működőképes bankkártyás fizetés</a:t>
            </a:r>
          </a:p>
          <a:p>
            <a:r>
              <a:rPr lang="hu-HU" dirty="0"/>
              <a:t>Többnyelvű megjelenítés</a:t>
            </a:r>
          </a:p>
          <a:p>
            <a:r>
              <a:rPr lang="hu-HU" dirty="0"/>
              <a:t>Közösségi oldalak létrehozása a weboldalhoz</a:t>
            </a:r>
          </a:p>
          <a:p>
            <a:r>
              <a:rPr lang="hu-HU" dirty="0"/>
              <a:t>Regisztráció/bejelentkezés parkolóház-tulajdonosként</a:t>
            </a:r>
          </a:p>
          <a:p>
            <a:r>
              <a:rPr lang="hu-HU" dirty="0"/>
              <a:t>Sötét/világos mód felhasználónkénti mentése az adatbázisba</a:t>
            </a:r>
          </a:p>
          <a:p>
            <a:r>
              <a:rPr lang="hu-HU" dirty="0"/>
              <a:t>Electron </a:t>
            </a:r>
            <a:r>
              <a:rPr lang="hu-HU" dirty="0" err="1"/>
              <a:t>adminfelület</a:t>
            </a:r>
            <a:r>
              <a:rPr lang="hu-HU" dirty="0"/>
              <a:t> további fejlesztése (</a:t>
            </a:r>
            <a:r>
              <a:rPr lang="hu-HU" dirty="0" err="1"/>
              <a:t>pl</a:t>
            </a:r>
            <a:r>
              <a:rPr lang="hu-HU" dirty="0"/>
              <a:t>: beállítások lap hozzáadása)</a:t>
            </a:r>
          </a:p>
        </p:txBody>
      </p:sp>
    </p:spTree>
    <p:extLst>
      <p:ext uri="{BB962C8B-B14F-4D97-AF65-F5344CB8AC3E}">
        <p14:creationId xmlns:p14="http://schemas.microsoft.com/office/powerpoint/2010/main" val="2725263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1467</TotalTime>
  <Words>585</Words>
  <Application>Microsoft Office PowerPoint</Application>
  <PresentationFormat>Szélesvásznú</PresentationFormat>
  <Paragraphs>140</Paragraphs>
  <Slides>40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40</vt:i4>
      </vt:variant>
    </vt:vector>
  </HeadingPairs>
  <TitlesOfParts>
    <vt:vector size="45" baseType="lpstr">
      <vt:lpstr>Arial</vt:lpstr>
      <vt:lpstr>Calibri</vt:lpstr>
      <vt:lpstr>Courier New</vt:lpstr>
      <vt:lpstr>Times New Roman</vt:lpstr>
      <vt:lpstr>Office-téma</vt:lpstr>
      <vt:lpstr>ParKing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Főoldal bejelentkezés után</vt:lpstr>
      <vt:lpstr>Rólunk</vt:lpstr>
      <vt:lpstr>Kapcsolat</vt:lpstr>
      <vt:lpstr>Fiók szerkesztése</vt:lpstr>
      <vt:lpstr>Foglalás</vt:lpstr>
      <vt:lpstr>Foglalás</vt:lpstr>
      <vt:lpstr>A felhasználó foglalásai</vt:lpstr>
      <vt:lpstr>Lábléc</vt:lpstr>
      <vt:lpstr>Adminfelület – WPF, Electron</vt:lpstr>
      <vt:lpstr>WPF vs Electron</vt:lpstr>
      <vt:lpstr>Adminfelület – Electron</vt:lpstr>
      <vt:lpstr>Adminfelület – Electron</vt:lpstr>
      <vt:lpstr>Adminfelület – Electron</vt:lpstr>
      <vt:lpstr>Adminfelület – Electron</vt:lpstr>
      <vt:lpstr>Adminfelület – Electron</vt:lpstr>
      <vt:lpstr>Adminfelület – Chart.js</vt:lpstr>
      <vt:lpstr>Adminfelület – Bootstrap 5.3.8</vt:lpstr>
      <vt:lpstr>PowerPoint-bemutató</vt:lpstr>
      <vt:lpstr>Backend - Regisztráció</vt:lpstr>
      <vt:lpstr>Backend - Bejelentkezés</vt:lpstr>
      <vt:lpstr>Backend - Kijelentkezés</vt:lpstr>
      <vt:lpstr>Backend - Főoldal bejelentkezés után</vt:lpstr>
      <vt:lpstr>Backend - Kapcsolat</vt:lpstr>
      <vt:lpstr>Backend - Fiók szerkesztése</vt:lpstr>
      <vt:lpstr>Backend - Foglalás</vt:lpstr>
      <vt:lpstr>A felhasználó foglalásai</vt:lpstr>
      <vt:lpstr>Tesztelés</vt:lpstr>
      <vt:lpstr>Fejlesztési lehetőségek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Pongrácz Gábor</cp:lastModifiedBy>
  <cp:revision>191</cp:revision>
  <dcterms:created xsi:type="dcterms:W3CDTF">2026-01-21T10:12:04Z</dcterms:created>
  <dcterms:modified xsi:type="dcterms:W3CDTF">2026-04-23T09:37:02Z</dcterms:modified>
</cp:coreProperties>
</file>