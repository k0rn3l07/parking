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0" r:id="rId5"/>
    <p:sldId id="267" r:id="rId6"/>
    <p:sldId id="268" r:id="rId7"/>
    <p:sldId id="277" r:id="rId8"/>
    <p:sldId id="288" r:id="rId9"/>
    <p:sldId id="276" r:id="rId10"/>
    <p:sldId id="278" r:id="rId11"/>
    <p:sldId id="279" r:id="rId12"/>
    <p:sldId id="280" r:id="rId13"/>
    <p:sldId id="292" r:id="rId14"/>
    <p:sldId id="281" r:id="rId15"/>
    <p:sldId id="282" r:id="rId16"/>
    <p:sldId id="284" r:id="rId17"/>
    <p:sldId id="285" r:id="rId18"/>
    <p:sldId id="286" r:id="rId19"/>
    <p:sldId id="283" r:id="rId20"/>
    <p:sldId id="287" r:id="rId2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57" autoAdjust="0"/>
  </p:normalViewPr>
  <p:slideViewPr>
    <p:cSldViewPr snapToGrid="0">
      <p:cViewPr varScale="1">
        <p:scale>
          <a:sx n="110" d="100"/>
          <a:sy n="110" d="100"/>
        </p:scale>
        <p:origin x="5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2026.03.04.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15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12" Type="http://schemas.openxmlformats.org/officeDocument/2006/relationships/slide" Target="slide14.xml"/><Relationship Id="rId17" Type="http://schemas.openxmlformats.org/officeDocument/2006/relationships/slide" Target="slide19.xml"/><Relationship Id="rId2" Type="http://schemas.openxmlformats.org/officeDocument/2006/relationships/slide" Target="slide3.xml"/><Relationship Id="rId16" Type="http://schemas.openxmlformats.org/officeDocument/2006/relationships/slide" Target="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11" Type="http://schemas.openxmlformats.org/officeDocument/2006/relationships/slide" Target="slide12.xml"/><Relationship Id="rId5" Type="http://schemas.openxmlformats.org/officeDocument/2006/relationships/slide" Target="slide6.xml"/><Relationship Id="rId15" Type="http://schemas.openxmlformats.org/officeDocument/2006/relationships/slide" Target="slide17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Relationship Id="rId14" Type="http://schemas.openxmlformats.org/officeDocument/2006/relationships/slide" Target="slide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3E8299-2471-4008-A390-958EF2764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032ED8-90B0-43BE-BBDE-DB9344BD7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1573" cy="4406302"/>
          </a:xfrm>
        </p:spPr>
        <p:txBody>
          <a:bodyPr>
            <a:normAutofit/>
          </a:bodyPr>
          <a:lstStyle/>
          <a:p>
            <a:r>
              <a:rPr lang="hu-HU" dirty="0">
                <a:hlinkClick r:id="rId2" action="ppaction://hlinksldjump"/>
              </a:rPr>
              <a:t>ParKing bemutatása</a:t>
            </a:r>
            <a:endParaRPr lang="hu-HU" dirty="0"/>
          </a:p>
          <a:p>
            <a:r>
              <a:rPr lang="hu-HU" dirty="0">
                <a:hlinkClick r:id="rId3" action="ppaction://hlinksldjump"/>
              </a:rPr>
              <a:t>A projektben használt webfejlesztési technológiák</a:t>
            </a:r>
            <a:endParaRPr lang="hu-HU" dirty="0"/>
          </a:p>
          <a:p>
            <a:r>
              <a:rPr lang="hu-HU" dirty="0">
                <a:hlinkClick r:id="rId4" action="ppaction://hlinksldjump"/>
              </a:rPr>
              <a:t>Rendszeráttekintés – hardverkövetelmények</a:t>
            </a:r>
            <a:endParaRPr lang="hu-HU" dirty="0"/>
          </a:p>
          <a:p>
            <a:r>
              <a:rPr lang="hu-HU" dirty="0">
                <a:hlinkClick r:id="rId5" action="ppaction://hlinksldjump"/>
              </a:rPr>
              <a:t>Rendszeráttekintés - szoftverkövetelmények</a:t>
            </a:r>
            <a:endParaRPr lang="hu-HU" dirty="0"/>
          </a:p>
          <a:p>
            <a:r>
              <a:rPr lang="hu-HU" dirty="0">
                <a:hlinkClick r:id="rId6" action="ppaction://hlinksldjump"/>
              </a:rPr>
              <a:t>A weboldal elindítása</a:t>
            </a:r>
            <a:endParaRPr lang="hu-HU" dirty="0"/>
          </a:p>
          <a:p>
            <a:r>
              <a:rPr lang="hu-HU" dirty="0">
                <a:hlinkClick r:id="rId7" action="ppaction://hlinksldjump"/>
              </a:rPr>
              <a:t>Adatbázis terv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DC1F5C83-D83A-4655-8D8E-9C3FA2A7F396}"/>
              </a:ext>
            </a:extLst>
          </p:cNvPr>
          <p:cNvSpPr txBox="1"/>
          <p:nvPr/>
        </p:nvSpPr>
        <p:spPr>
          <a:xfrm>
            <a:off x="6245469" y="1825625"/>
            <a:ext cx="465908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/>
              </a:rPr>
              <a:t>A weboldal bemutatása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9" action="ppaction://hlinksldjump"/>
              </a:rPr>
              <a:t>Főoldal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0" action="ppaction://hlinksldjump"/>
              </a:rPr>
              <a:t>Regisztráció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1" action="ppaction://hlinksldjump"/>
              </a:rPr>
              <a:t>Bejelentkezés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2" action="ppaction://hlinksldjump"/>
              </a:rPr>
              <a:t>A fejlesztők céljai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3" action="ppaction://hlinksldjump"/>
              </a:rPr>
              <a:t>Kapcsolat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4" action="ppaction://hlinksldjump"/>
              </a:rPr>
              <a:t>Fiók szerkesztése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5" action="ppaction://hlinksldjump"/>
              </a:rPr>
              <a:t>Foglalás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6" action="ppaction://hlinksldjump"/>
              </a:rPr>
              <a:t>A felhasználó foglalásai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7" action="ppaction://hlinksldjump"/>
              </a:rPr>
              <a:t>Lábléc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55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242643"/>
            <a:ext cx="12191999" cy="1325563"/>
          </a:xfrm>
        </p:spPr>
        <p:txBody>
          <a:bodyPr/>
          <a:lstStyle/>
          <a:p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922221"/>
          </a:xfrm>
        </p:spPr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645" y="225261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437" y="2634205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3401" y="3137452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pPr lvl="1"/>
            <a:r>
              <a:rPr lang="hu-HU" dirty="0"/>
              <a:t>Ajánlott: </a:t>
            </a:r>
            <a:r>
              <a:rPr lang="hu-HU" b="1" dirty="0"/>
              <a:t>1.6 GHz</a:t>
            </a:r>
            <a:r>
              <a:rPr lang="hu-HU" dirty="0"/>
              <a:t> vagy gyorsabb, </a:t>
            </a:r>
            <a:r>
              <a:rPr lang="hu-HU" b="1" dirty="0"/>
              <a:t>többmagos</a:t>
            </a:r>
            <a:r>
              <a:rPr lang="hu-HU" dirty="0"/>
              <a:t> </a:t>
            </a:r>
            <a:r>
              <a:rPr lang="hu-HU" b="1" dirty="0"/>
              <a:t>CPU</a:t>
            </a:r>
            <a:r>
              <a:rPr lang="hu-HU" dirty="0"/>
              <a:t>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Minimális sebesség: </a:t>
            </a:r>
            <a:r>
              <a:rPr lang="hu-HU" b="1" dirty="0"/>
              <a:t>2-4 Mbps</a:t>
            </a:r>
            <a:r>
              <a:rPr lang="hu-HU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Az oldal előnyben részesíti az olyan böngészőket, amelyek </a:t>
            </a:r>
            <a:r>
              <a:rPr lang="hu-HU" b="1" dirty="0"/>
              <a:t>gyors</a:t>
            </a:r>
            <a:r>
              <a:rPr lang="hu-HU" dirty="0"/>
              <a:t> </a:t>
            </a:r>
            <a:r>
              <a:rPr lang="hu-HU" b="1" dirty="0"/>
              <a:t>JavaScript-futtatást</a:t>
            </a:r>
            <a:r>
              <a:rPr lang="hu-HU" dirty="0"/>
              <a:t> kínálnak​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Mozilla Firefox​</a:t>
            </a:r>
          </a:p>
          <a:p>
            <a:pPr lvl="2"/>
            <a:r>
              <a:rPr lang="hu-HU" dirty="0"/>
              <a:t>Microsoft Edge​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b="1" dirty="0"/>
              <a:t>.env</a:t>
            </a:r>
            <a:r>
              <a:rPr lang="hu-HU" dirty="0"/>
              <a:t> fájl létrehozása a mappán belül:</a:t>
            </a:r>
          </a:p>
          <a:p>
            <a:pPr marL="1428750" lvl="2" indent="-514350">
              <a:buFont typeface="+mj-lt"/>
              <a:buAutoNum type="arabicPeriod"/>
            </a:pPr>
            <a:r>
              <a:rPr lang="hu-HU" dirty="0"/>
              <a:t>.env.example fájl tartalmának átmásolása</a:t>
            </a:r>
          </a:p>
          <a:p>
            <a:pPr marL="1428750" lvl="2" indent="-514350">
              <a:buFont typeface="+mj-lt"/>
              <a:buAutoNum type="arabicPeriod"/>
            </a:pPr>
            <a:r>
              <a:rPr lang="hu-HU" dirty="0"/>
              <a:t>Szükséges adatok megadása:</a:t>
            </a:r>
          </a:p>
          <a:p>
            <a:pPr lvl="3"/>
            <a:r>
              <a:rPr lang="hu-HU" dirty="0"/>
              <a:t>DB_NAME=</a:t>
            </a:r>
            <a:r>
              <a:rPr lang="hu-HU" b="1" dirty="0"/>
              <a:t>parking</a:t>
            </a:r>
            <a:r>
              <a:rPr lang="hu-HU" dirty="0"/>
              <a:t>, DB_USER=</a:t>
            </a:r>
            <a:r>
              <a:rPr lang="hu-HU" b="1" dirty="0"/>
              <a:t>root</a:t>
            </a:r>
            <a:r>
              <a:rPr lang="hu-HU" dirty="0"/>
              <a:t>, DB_PASSWORD=</a:t>
            </a:r>
            <a:r>
              <a:rPr lang="hu-HU" b="1" dirty="0"/>
              <a:t>””</a:t>
            </a:r>
            <a:r>
              <a:rPr lang="hu-HU" dirty="0"/>
              <a:t>, DB_HOST=</a:t>
            </a:r>
            <a:r>
              <a:rPr lang="hu-HU" b="1" dirty="0"/>
              <a:t>localhost</a:t>
            </a:r>
            <a:r>
              <a:rPr lang="hu-HU" dirty="0"/>
              <a:t>, DB_DIALECT=</a:t>
            </a:r>
            <a:r>
              <a:rPr lang="hu-HU" b="1" dirty="0"/>
              <a:t>mysql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>
                <a:latin typeface="Times New Roman"/>
                <a:cs typeface="Times New Roman"/>
              </a:rPr>
              <a:t>Adatbázis terv</a:t>
            </a:r>
            <a:endParaRPr lang="hu-HU"/>
          </a:p>
        </p:txBody>
      </p: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95344FC-5AD1-CB71-C14B-79D89E19F3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2252" y="1545903"/>
            <a:ext cx="4977851" cy="4766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8619" y="1514842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136" y="2449940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654" y="3111470"/>
            <a:ext cx="5676901" cy="319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0551" y="1755286"/>
            <a:ext cx="9210897" cy="4351338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CC54D26-6815-428A-AAD5-E3949FA34AD6}"/>
              </a:ext>
            </a:extLst>
          </p:cNvPr>
          <p:cNvSpPr txBox="1"/>
          <p:nvPr/>
        </p:nvSpPr>
        <p:spPr>
          <a:xfrm>
            <a:off x="668214" y="1207626"/>
            <a:ext cx="134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 logó</a:t>
            </a:r>
          </a:p>
        </p:txBody>
      </p:sp>
      <p:cxnSp>
        <p:nvCxnSpPr>
          <p:cNvPr id="11" name="Egyenes összekötő nyíllal 10">
            <a:extLst>
              <a:ext uri="{FF2B5EF4-FFF2-40B4-BE49-F238E27FC236}">
                <a16:creationId xmlns:a16="http://schemas.microsoft.com/office/drawing/2014/main" id="{5A884402-FD4F-4299-8145-8BA7DB002A76}"/>
              </a:ext>
            </a:extLst>
          </p:cNvPr>
          <p:cNvCxnSpPr>
            <a:cxnSpLocks/>
          </p:cNvCxnSpPr>
          <p:nvPr/>
        </p:nvCxnSpPr>
        <p:spPr>
          <a:xfrm>
            <a:off x="1490551" y="1566028"/>
            <a:ext cx="173649" cy="2493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Jobb oldali kapcsos zárójel 12">
            <a:extLst>
              <a:ext uri="{FF2B5EF4-FFF2-40B4-BE49-F238E27FC236}">
                <a16:creationId xmlns:a16="http://schemas.microsoft.com/office/drawing/2014/main" id="{60CE6E43-1C77-44E1-9FA2-20632EFAEBFD}"/>
              </a:ext>
            </a:extLst>
          </p:cNvPr>
          <p:cNvSpPr/>
          <p:nvPr/>
        </p:nvSpPr>
        <p:spPr>
          <a:xfrm rot="16200000">
            <a:off x="6050939" y="576720"/>
            <a:ext cx="298938" cy="2526873"/>
          </a:xfrm>
          <a:prstGeom prst="rightBrace">
            <a:avLst>
              <a:gd name="adj1" fmla="val 8333"/>
              <a:gd name="adj2" fmla="val 50795"/>
            </a:avLst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DE58F1F4-B656-4E49-9A48-08AE27D6C470}"/>
              </a:ext>
            </a:extLst>
          </p:cNvPr>
          <p:cNvSpPr txBox="1"/>
          <p:nvPr/>
        </p:nvSpPr>
        <p:spPr>
          <a:xfrm>
            <a:off x="5456925" y="1321354"/>
            <a:ext cx="1696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Navigációs sáv</a:t>
            </a:r>
          </a:p>
        </p:txBody>
      </p:sp>
      <p:cxnSp>
        <p:nvCxnSpPr>
          <p:cNvPr id="17" name="Egyenes összekötő nyíllal 16">
            <a:extLst>
              <a:ext uri="{FF2B5EF4-FFF2-40B4-BE49-F238E27FC236}">
                <a16:creationId xmlns:a16="http://schemas.microsoft.com/office/drawing/2014/main" id="{E9784146-963C-4B26-8039-F0AB5068DA78}"/>
              </a:ext>
            </a:extLst>
          </p:cNvPr>
          <p:cNvCxnSpPr/>
          <p:nvPr/>
        </p:nvCxnSpPr>
        <p:spPr>
          <a:xfrm flipH="1">
            <a:off x="10701448" y="1755286"/>
            <a:ext cx="306521" cy="2343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A929086F-BF5C-432F-8685-8ADD014CF6E1}"/>
              </a:ext>
            </a:extLst>
          </p:cNvPr>
          <p:cNvSpPr txBox="1"/>
          <p:nvPr/>
        </p:nvSpPr>
        <p:spPr>
          <a:xfrm>
            <a:off x="10084778" y="1392292"/>
            <a:ext cx="202662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dirty="0">
                <a:latin typeface="Times New Roman"/>
                <a:cs typeface="Times New Roman"/>
              </a:rPr>
              <a:t>Felhasználói fiók</a:t>
            </a:r>
          </a:p>
        </p:txBody>
      </p:sp>
      <p:cxnSp>
        <p:nvCxnSpPr>
          <p:cNvPr id="20" name="Egyenes összekötő nyíllal 19">
            <a:extLst>
              <a:ext uri="{FF2B5EF4-FFF2-40B4-BE49-F238E27FC236}">
                <a16:creationId xmlns:a16="http://schemas.microsoft.com/office/drawing/2014/main" id="{9DEB9047-42CE-4D13-9913-01402D42F2EF}"/>
              </a:ext>
            </a:extLst>
          </p:cNvPr>
          <p:cNvCxnSpPr/>
          <p:nvPr/>
        </p:nvCxnSpPr>
        <p:spPr>
          <a:xfrm flipV="1">
            <a:off x="1239715" y="5992324"/>
            <a:ext cx="337660" cy="228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9821C2D6-1077-4234-B22D-D59AAEE7D6F3}"/>
              </a:ext>
            </a:extLst>
          </p:cNvPr>
          <p:cNvSpPr txBox="1"/>
          <p:nvPr/>
        </p:nvSpPr>
        <p:spPr>
          <a:xfrm>
            <a:off x="147526" y="6171222"/>
            <a:ext cx="303334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dirty="0">
                <a:latin typeface="Times New Roman"/>
                <a:cs typeface="Times New Roman"/>
              </a:rPr>
              <a:t>Sötét mód/világos mód gomb</a:t>
            </a:r>
          </a:p>
        </p:txBody>
      </p:sp>
      <p:cxnSp>
        <p:nvCxnSpPr>
          <p:cNvPr id="23" name="Egyenes összekötő nyíllal 22">
            <a:extLst>
              <a:ext uri="{FF2B5EF4-FFF2-40B4-BE49-F238E27FC236}">
                <a16:creationId xmlns:a16="http://schemas.microsoft.com/office/drawing/2014/main" id="{0879099F-0281-4384-BC63-8817EEBEB570}"/>
              </a:ext>
            </a:extLst>
          </p:cNvPr>
          <p:cNvCxnSpPr>
            <a:cxnSpLocks/>
          </p:cNvCxnSpPr>
          <p:nvPr/>
        </p:nvCxnSpPr>
        <p:spPr>
          <a:xfrm flipV="1">
            <a:off x="1664200" y="4868917"/>
            <a:ext cx="410785" cy="3521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8A2C61D0-722E-44C2-A254-6266052EE991}"/>
              </a:ext>
            </a:extLst>
          </p:cNvPr>
          <p:cNvSpPr txBox="1"/>
          <p:nvPr/>
        </p:nvSpPr>
        <p:spPr>
          <a:xfrm>
            <a:off x="121936" y="5107306"/>
            <a:ext cx="2124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</a:t>
            </a:r>
            <a:r>
              <a:rPr lang="hu-HU" dirty="0"/>
              <a:t> gomb</a:t>
            </a:r>
          </a:p>
        </p:txBody>
      </p:sp>
      <p:cxnSp>
        <p:nvCxnSpPr>
          <p:cNvPr id="29" name="Egyenes összekötő nyíllal 28">
            <a:extLst>
              <a:ext uri="{FF2B5EF4-FFF2-40B4-BE49-F238E27FC236}">
                <a16:creationId xmlns:a16="http://schemas.microsoft.com/office/drawing/2014/main" id="{B56BA5FD-07C7-4062-BD75-BEAB7178A322}"/>
              </a:ext>
            </a:extLst>
          </p:cNvPr>
          <p:cNvCxnSpPr/>
          <p:nvPr/>
        </p:nvCxnSpPr>
        <p:spPr>
          <a:xfrm flipV="1">
            <a:off x="3180874" y="4868917"/>
            <a:ext cx="0" cy="423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zövegdoboz 29">
            <a:extLst>
              <a:ext uri="{FF2B5EF4-FFF2-40B4-BE49-F238E27FC236}">
                <a16:creationId xmlns:a16="http://schemas.microsoft.com/office/drawing/2014/main" id="{E3E4B70B-322B-485A-9C1C-AF504EFE97E8}"/>
              </a:ext>
            </a:extLst>
          </p:cNvPr>
          <p:cNvSpPr txBox="1"/>
          <p:nvPr/>
        </p:nvSpPr>
        <p:spPr>
          <a:xfrm>
            <a:off x="2246123" y="5171333"/>
            <a:ext cx="203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gomb</a:t>
            </a:r>
          </a:p>
        </p:txBody>
      </p:sp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5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25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5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25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animBg="1"/>
      <p:bldP spid="14" grpId="0"/>
      <p:bldP spid="18" grpId="0"/>
      <p:bldP spid="21" grpId="0"/>
      <p:bldP spid="25" grpId="0"/>
      <p:bldP spid="3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cxnSp>
        <p:nvCxnSpPr>
          <p:cNvPr id="8" name="Egyenes összekötő nyíllal 7">
            <a:extLst>
              <a:ext uri="{FF2B5EF4-FFF2-40B4-BE49-F238E27FC236}">
                <a16:creationId xmlns:a16="http://schemas.microsoft.com/office/drawing/2014/main" id="{363022E0-0BBF-4479-BE98-E851A3A00A96}"/>
              </a:ext>
            </a:extLst>
          </p:cNvPr>
          <p:cNvCxnSpPr>
            <a:cxnSpLocks/>
          </p:cNvCxnSpPr>
          <p:nvPr/>
        </p:nvCxnSpPr>
        <p:spPr>
          <a:xfrm>
            <a:off x="3692769" y="2646485"/>
            <a:ext cx="9671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zövegdoboz 8">
            <a:extLst>
              <a:ext uri="{FF2B5EF4-FFF2-40B4-BE49-F238E27FC236}">
                <a16:creationId xmlns:a16="http://schemas.microsoft.com/office/drawing/2014/main" id="{3A60B1A2-8FE9-464D-A176-10228F74E1F3}"/>
              </a:ext>
            </a:extLst>
          </p:cNvPr>
          <p:cNvSpPr txBox="1"/>
          <p:nvPr/>
        </p:nvSpPr>
        <p:spPr>
          <a:xfrm>
            <a:off x="1056469" y="2427310"/>
            <a:ext cx="2977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/>
                <a:cs typeface="Times New Roman"/>
              </a:rPr>
              <a:t>Felhasználónév létrehozása</a:t>
            </a: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BB34A4A2-E5B3-4832-8261-5F5D0AAC2D86}"/>
              </a:ext>
            </a:extLst>
          </p:cNvPr>
          <p:cNvSpPr txBox="1"/>
          <p:nvPr/>
        </p:nvSpPr>
        <p:spPr>
          <a:xfrm>
            <a:off x="1687976" y="2898107"/>
            <a:ext cx="2092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 cím megadása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2AA176E5-8A93-44BF-AD3B-E08E0403F78B}"/>
              </a:ext>
            </a:extLst>
          </p:cNvPr>
          <p:cNvSpPr txBox="1"/>
          <p:nvPr/>
        </p:nvSpPr>
        <p:spPr>
          <a:xfrm>
            <a:off x="1477730" y="3330805"/>
            <a:ext cx="240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Telefonszám megadása</a:t>
            </a:r>
          </a:p>
        </p:txBody>
      </p:sp>
      <p:sp>
        <p:nvSpPr>
          <p:cNvPr id="26" name="Szövegdoboz 25">
            <a:extLst>
              <a:ext uri="{FF2B5EF4-FFF2-40B4-BE49-F238E27FC236}">
                <a16:creationId xmlns:a16="http://schemas.microsoft.com/office/drawing/2014/main" id="{CF53D952-5FA0-45DC-9214-88AE7571C46C}"/>
              </a:ext>
            </a:extLst>
          </p:cNvPr>
          <p:cNvSpPr txBox="1"/>
          <p:nvPr/>
        </p:nvSpPr>
        <p:spPr>
          <a:xfrm>
            <a:off x="2021078" y="3793637"/>
            <a:ext cx="1899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Jelszó létrehozása</a:t>
            </a:r>
          </a:p>
        </p:txBody>
      </p:sp>
      <p:cxnSp>
        <p:nvCxnSpPr>
          <p:cNvPr id="30" name="Egyenes összekötő nyíllal 29">
            <a:extLst>
              <a:ext uri="{FF2B5EF4-FFF2-40B4-BE49-F238E27FC236}">
                <a16:creationId xmlns:a16="http://schemas.microsoft.com/office/drawing/2014/main" id="{06C25DD6-F913-461D-9128-E7A39897216F}"/>
              </a:ext>
            </a:extLst>
          </p:cNvPr>
          <p:cNvCxnSpPr>
            <a:cxnSpLocks/>
          </p:cNvCxnSpPr>
          <p:nvPr/>
        </p:nvCxnSpPr>
        <p:spPr>
          <a:xfrm>
            <a:off x="3692769" y="3082773"/>
            <a:ext cx="9671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gyenes összekötő nyíllal 30">
            <a:extLst>
              <a:ext uri="{FF2B5EF4-FFF2-40B4-BE49-F238E27FC236}">
                <a16:creationId xmlns:a16="http://schemas.microsoft.com/office/drawing/2014/main" id="{CA61854C-2391-4925-BA78-5EEA2B65B04C}"/>
              </a:ext>
            </a:extLst>
          </p:cNvPr>
          <p:cNvCxnSpPr>
            <a:cxnSpLocks/>
          </p:cNvCxnSpPr>
          <p:nvPr/>
        </p:nvCxnSpPr>
        <p:spPr>
          <a:xfrm>
            <a:off x="3692769" y="3528021"/>
            <a:ext cx="9671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gyenes összekötő nyíllal 31">
            <a:extLst>
              <a:ext uri="{FF2B5EF4-FFF2-40B4-BE49-F238E27FC236}">
                <a16:creationId xmlns:a16="http://schemas.microsoft.com/office/drawing/2014/main" id="{499F58E6-C154-408E-947C-9259F1B8E2AD}"/>
              </a:ext>
            </a:extLst>
          </p:cNvPr>
          <p:cNvCxnSpPr>
            <a:cxnSpLocks/>
          </p:cNvCxnSpPr>
          <p:nvPr/>
        </p:nvCxnSpPr>
        <p:spPr>
          <a:xfrm>
            <a:off x="3764499" y="4001123"/>
            <a:ext cx="895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gyenes összekötő nyíllal 33">
            <a:extLst>
              <a:ext uri="{FF2B5EF4-FFF2-40B4-BE49-F238E27FC236}">
                <a16:creationId xmlns:a16="http://schemas.microsoft.com/office/drawing/2014/main" id="{1F8507F3-5AEB-4A01-BF53-F5D635E544AE}"/>
              </a:ext>
            </a:extLst>
          </p:cNvPr>
          <p:cNvCxnSpPr>
            <a:cxnSpLocks/>
          </p:cNvCxnSpPr>
          <p:nvPr/>
        </p:nvCxnSpPr>
        <p:spPr>
          <a:xfrm>
            <a:off x="3785014" y="4461254"/>
            <a:ext cx="895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D07CAA78-48D8-4B50-BDEF-A93DEE894AA9}"/>
              </a:ext>
            </a:extLst>
          </p:cNvPr>
          <p:cNvSpPr txBox="1"/>
          <p:nvPr/>
        </p:nvSpPr>
        <p:spPr>
          <a:xfrm>
            <a:off x="1836987" y="4266738"/>
            <a:ext cx="2332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Jelszó megerősítése</a:t>
            </a:r>
          </a:p>
        </p:txBody>
      </p:sp>
      <p:sp>
        <p:nvSpPr>
          <p:cNvPr id="38" name="Szövegdoboz 37">
            <a:extLst>
              <a:ext uri="{FF2B5EF4-FFF2-40B4-BE49-F238E27FC236}">
                <a16:creationId xmlns:a16="http://schemas.microsoft.com/office/drawing/2014/main" id="{BDE94E3B-2809-4BC9-BF4C-92100BF375D4}"/>
              </a:ext>
            </a:extLst>
          </p:cNvPr>
          <p:cNvSpPr txBox="1"/>
          <p:nvPr/>
        </p:nvSpPr>
        <p:spPr>
          <a:xfrm>
            <a:off x="1836987" y="4611190"/>
            <a:ext cx="24792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ÁSZF és Adatkezelési Szabályzat elfogadása</a:t>
            </a:r>
          </a:p>
        </p:txBody>
      </p:sp>
      <p:cxnSp>
        <p:nvCxnSpPr>
          <p:cNvPr id="39" name="Egyenes összekötő nyíllal 38">
            <a:extLst>
              <a:ext uri="{FF2B5EF4-FFF2-40B4-BE49-F238E27FC236}">
                <a16:creationId xmlns:a16="http://schemas.microsoft.com/office/drawing/2014/main" id="{0280E82B-5F9F-46A3-B129-E4EDF3C4C87F}"/>
              </a:ext>
            </a:extLst>
          </p:cNvPr>
          <p:cNvCxnSpPr>
            <a:cxnSpLocks/>
          </p:cNvCxnSpPr>
          <p:nvPr/>
        </p:nvCxnSpPr>
        <p:spPr>
          <a:xfrm>
            <a:off x="3764499" y="4923255"/>
            <a:ext cx="895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gyenes összekötő nyíllal 39">
            <a:extLst>
              <a:ext uri="{FF2B5EF4-FFF2-40B4-BE49-F238E27FC236}">
                <a16:creationId xmlns:a16="http://schemas.microsoft.com/office/drawing/2014/main" id="{90DABB3F-BD1D-4C26-9F52-E608E6F370D1}"/>
              </a:ext>
            </a:extLst>
          </p:cNvPr>
          <p:cNvCxnSpPr>
            <a:cxnSpLocks/>
          </p:cNvCxnSpPr>
          <p:nvPr/>
        </p:nvCxnSpPr>
        <p:spPr>
          <a:xfrm>
            <a:off x="4232726" y="5515271"/>
            <a:ext cx="895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Szövegdoboz 40">
            <a:extLst>
              <a:ext uri="{FF2B5EF4-FFF2-40B4-BE49-F238E27FC236}">
                <a16:creationId xmlns:a16="http://schemas.microsoft.com/office/drawing/2014/main" id="{9A8143E2-359B-432B-9E4C-FBCAECAD82E6}"/>
              </a:ext>
            </a:extLst>
          </p:cNvPr>
          <p:cNvSpPr txBox="1"/>
          <p:nvPr/>
        </p:nvSpPr>
        <p:spPr>
          <a:xfrm>
            <a:off x="1710001" y="5320934"/>
            <a:ext cx="2733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megerősítése</a:t>
            </a:r>
          </a:p>
        </p:txBody>
      </p:sp>
      <p:cxnSp>
        <p:nvCxnSpPr>
          <p:cNvPr id="44" name="Egyenes összekötő nyíllal 43">
            <a:extLst>
              <a:ext uri="{FF2B5EF4-FFF2-40B4-BE49-F238E27FC236}">
                <a16:creationId xmlns:a16="http://schemas.microsoft.com/office/drawing/2014/main" id="{926A3E5A-0161-4114-AF1A-DEE6ED7A15A2}"/>
              </a:ext>
            </a:extLst>
          </p:cNvPr>
          <p:cNvCxnSpPr>
            <a:cxnSpLocks/>
          </p:cNvCxnSpPr>
          <p:nvPr/>
        </p:nvCxnSpPr>
        <p:spPr>
          <a:xfrm flipH="1">
            <a:off x="6573020" y="6335608"/>
            <a:ext cx="13928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Szövegdoboz 46">
            <a:extLst>
              <a:ext uri="{FF2B5EF4-FFF2-40B4-BE49-F238E27FC236}">
                <a16:creationId xmlns:a16="http://schemas.microsoft.com/office/drawing/2014/main" id="{FD880D04-08ED-4670-9F36-A89AA8982E4F}"/>
              </a:ext>
            </a:extLst>
          </p:cNvPr>
          <p:cNvSpPr txBox="1"/>
          <p:nvPr/>
        </p:nvSpPr>
        <p:spPr>
          <a:xfrm>
            <a:off x="7911694" y="6150942"/>
            <a:ext cx="3177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/>
                <a:cs typeface="Times New Roman"/>
              </a:rPr>
              <a:t>Vissza a főoldalra hivatkozás</a:t>
            </a:r>
          </a:p>
        </p:txBody>
      </p:sp>
      <p:cxnSp>
        <p:nvCxnSpPr>
          <p:cNvPr id="49" name="Egyenes összekötő nyíllal 48">
            <a:extLst>
              <a:ext uri="{FF2B5EF4-FFF2-40B4-BE49-F238E27FC236}">
                <a16:creationId xmlns:a16="http://schemas.microsoft.com/office/drawing/2014/main" id="{4172C311-A356-4DF2-BA81-D0D05A02290C}"/>
              </a:ext>
            </a:extLst>
          </p:cNvPr>
          <p:cNvCxnSpPr/>
          <p:nvPr/>
        </p:nvCxnSpPr>
        <p:spPr>
          <a:xfrm flipH="1">
            <a:off x="7042638" y="6005146"/>
            <a:ext cx="9231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zövegdoboz 49">
            <a:extLst>
              <a:ext uri="{FF2B5EF4-FFF2-40B4-BE49-F238E27FC236}">
                <a16:creationId xmlns:a16="http://schemas.microsoft.com/office/drawing/2014/main" id="{7CB6DA70-0562-4484-87A7-DBEA5CB397E4}"/>
              </a:ext>
            </a:extLst>
          </p:cNvPr>
          <p:cNvSpPr txBox="1"/>
          <p:nvPr/>
        </p:nvSpPr>
        <p:spPr>
          <a:xfrm>
            <a:off x="7904287" y="5820480"/>
            <a:ext cx="3050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/>
                <a:cs typeface="Times New Roman"/>
              </a:rPr>
              <a:t>Bejelentkezés hivatkozás</a:t>
            </a:r>
          </a:p>
        </p:txBody>
      </p:sp>
      <p:sp>
        <p:nvSpPr>
          <p:cNvPr id="52" name="Jobb oldali kapcsos zárójel 51">
            <a:extLst>
              <a:ext uri="{FF2B5EF4-FFF2-40B4-BE49-F238E27FC236}">
                <a16:creationId xmlns:a16="http://schemas.microsoft.com/office/drawing/2014/main" id="{B5767C91-226A-4845-BB2F-985D4059ABAE}"/>
              </a:ext>
            </a:extLst>
          </p:cNvPr>
          <p:cNvSpPr/>
          <p:nvPr/>
        </p:nvSpPr>
        <p:spPr>
          <a:xfrm>
            <a:off x="7492975" y="3824049"/>
            <a:ext cx="492472" cy="78714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Szövegdoboz 52">
            <a:extLst>
              <a:ext uri="{FF2B5EF4-FFF2-40B4-BE49-F238E27FC236}">
                <a16:creationId xmlns:a16="http://schemas.microsoft.com/office/drawing/2014/main" id="{F091A8A2-7CAA-4078-9E01-3492CF27937A}"/>
              </a:ext>
            </a:extLst>
          </p:cNvPr>
          <p:cNvSpPr txBox="1"/>
          <p:nvPr/>
        </p:nvSpPr>
        <p:spPr>
          <a:xfrm>
            <a:off x="8022359" y="4019386"/>
            <a:ext cx="2716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Jelszó megjelenítése ikon</a:t>
            </a:r>
          </a:p>
        </p:txBody>
      </p:sp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530" y="1690688"/>
            <a:ext cx="2238375" cy="1217295"/>
          </a:xfrm>
          <a:prstGeom prst="rect">
            <a:avLst/>
          </a:prstGeom>
        </p:spPr>
      </p:pic>
      <p:cxnSp>
        <p:nvCxnSpPr>
          <p:cNvPr id="25" name="Egyenes összekötő nyíllal 24">
            <a:extLst>
              <a:ext uri="{FF2B5EF4-FFF2-40B4-BE49-F238E27FC236}">
                <a16:creationId xmlns:a16="http://schemas.microsoft.com/office/drawing/2014/main" id="{B2948556-55B9-425C-8A8C-E6B762B93DCD}"/>
              </a:ext>
            </a:extLst>
          </p:cNvPr>
          <p:cNvCxnSpPr>
            <a:cxnSpLocks/>
          </p:cNvCxnSpPr>
          <p:nvPr/>
        </p:nvCxnSpPr>
        <p:spPr>
          <a:xfrm flipV="1">
            <a:off x="9429752" y="2898107"/>
            <a:ext cx="259371" cy="278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zövegdoboz 5">
            <a:extLst>
              <a:ext uri="{FF2B5EF4-FFF2-40B4-BE49-F238E27FC236}">
                <a16:creationId xmlns:a16="http://schemas.microsoft.com/office/drawing/2014/main" id="{A4863447-091F-4803-BCDD-75AC0368B325}"/>
              </a:ext>
            </a:extLst>
          </p:cNvPr>
          <p:cNvSpPr txBox="1"/>
          <p:nvPr/>
        </p:nvSpPr>
        <p:spPr>
          <a:xfrm>
            <a:off x="8182855" y="3126602"/>
            <a:ext cx="2321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/>
                <a:cs typeface="Times New Roman"/>
              </a:rPr>
              <a:t>,,Sikeres regisztráció!” felugró ablak</a:t>
            </a:r>
          </a:p>
        </p:txBody>
      </p:sp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5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75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25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75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250"/>
                            </p:stCondLst>
                            <p:childTnLst>
                              <p:par>
                                <p:cTn id="47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50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75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400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250"/>
                            </p:stCondLst>
                            <p:childTnLst>
                              <p:par>
                                <p:cTn id="59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4500"/>
                            </p:stCondLst>
                            <p:childTnLst>
                              <p:par>
                                <p:cTn id="62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750"/>
                            </p:stCondLst>
                            <p:childTnLst>
                              <p:par>
                                <p:cTn id="6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0"/>
                            </p:stCondLst>
                            <p:childTnLst>
                              <p:par>
                                <p:cTn id="6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5250"/>
                            </p:stCondLst>
                            <p:childTnLst>
                              <p:par>
                                <p:cTn id="71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500"/>
                            </p:stCondLst>
                            <p:childTnLst>
                              <p:par>
                                <p:cTn id="74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750"/>
                            </p:stCondLst>
                            <p:childTnLst>
                              <p:par>
                                <p:cTn id="7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20" grpId="0"/>
      <p:bldP spid="26" grpId="0"/>
      <p:bldP spid="35" grpId="0"/>
      <p:bldP spid="38" grpId="0"/>
      <p:bldP spid="41" grpId="0"/>
      <p:bldP spid="47" grpId="0"/>
      <p:bldP spid="50" grpId="0"/>
      <p:bldP spid="52" grpId="0" animBg="1"/>
      <p:bldP spid="53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0787" y="2186528"/>
            <a:ext cx="3410426" cy="3629532"/>
          </a:xfrm>
        </p:spPr>
      </p:pic>
      <p:cxnSp>
        <p:nvCxnSpPr>
          <p:cNvPr id="7" name="Egyenes összekötő nyíllal 6">
            <a:extLst>
              <a:ext uri="{FF2B5EF4-FFF2-40B4-BE49-F238E27FC236}">
                <a16:creationId xmlns:a16="http://schemas.microsoft.com/office/drawing/2014/main" id="{16D3EA27-7C74-47F4-BC6A-0E9AA8BBFA16}"/>
              </a:ext>
            </a:extLst>
          </p:cNvPr>
          <p:cNvCxnSpPr/>
          <p:nvPr/>
        </p:nvCxnSpPr>
        <p:spPr>
          <a:xfrm>
            <a:off x="3297115" y="3297115"/>
            <a:ext cx="12045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zövegdoboz 7">
            <a:extLst>
              <a:ext uri="{FF2B5EF4-FFF2-40B4-BE49-F238E27FC236}">
                <a16:creationId xmlns:a16="http://schemas.microsoft.com/office/drawing/2014/main" id="{C3E1AE37-ED29-4686-9F82-054FEF2BBEC9}"/>
              </a:ext>
            </a:extLst>
          </p:cNvPr>
          <p:cNvSpPr txBox="1"/>
          <p:nvPr/>
        </p:nvSpPr>
        <p:spPr>
          <a:xfrm>
            <a:off x="1321776" y="3094865"/>
            <a:ext cx="2151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 cím megadása</a:t>
            </a:r>
          </a:p>
        </p:txBody>
      </p:sp>
      <p:cxnSp>
        <p:nvCxnSpPr>
          <p:cNvPr id="11" name="Egyenes összekötő nyíllal 10">
            <a:extLst>
              <a:ext uri="{FF2B5EF4-FFF2-40B4-BE49-F238E27FC236}">
                <a16:creationId xmlns:a16="http://schemas.microsoft.com/office/drawing/2014/main" id="{553CB96C-651E-4AF4-8B98-545E28D9F01F}"/>
              </a:ext>
            </a:extLst>
          </p:cNvPr>
          <p:cNvCxnSpPr/>
          <p:nvPr/>
        </p:nvCxnSpPr>
        <p:spPr>
          <a:xfrm>
            <a:off x="3297115" y="3801207"/>
            <a:ext cx="12045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852D3840-B98C-41D6-B8A0-9F7D95AD87ED}"/>
              </a:ext>
            </a:extLst>
          </p:cNvPr>
          <p:cNvSpPr txBox="1"/>
          <p:nvPr/>
        </p:nvSpPr>
        <p:spPr>
          <a:xfrm>
            <a:off x="1679330" y="3590165"/>
            <a:ext cx="17936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Jelszó megadása</a:t>
            </a:r>
          </a:p>
        </p:txBody>
      </p:sp>
      <p:cxnSp>
        <p:nvCxnSpPr>
          <p:cNvPr id="14" name="Egyenes összekötő nyíllal 13">
            <a:extLst>
              <a:ext uri="{FF2B5EF4-FFF2-40B4-BE49-F238E27FC236}">
                <a16:creationId xmlns:a16="http://schemas.microsoft.com/office/drawing/2014/main" id="{F4D31D12-7184-4D2D-AFFE-0C1CAE263413}"/>
              </a:ext>
            </a:extLst>
          </p:cNvPr>
          <p:cNvCxnSpPr/>
          <p:nvPr/>
        </p:nvCxnSpPr>
        <p:spPr>
          <a:xfrm flipH="1">
            <a:off x="7666892" y="3736731"/>
            <a:ext cx="6242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A590E7E8-8370-4353-8106-DA93126FF521}"/>
              </a:ext>
            </a:extLst>
          </p:cNvPr>
          <p:cNvSpPr txBox="1"/>
          <p:nvPr/>
        </p:nvSpPr>
        <p:spPr>
          <a:xfrm>
            <a:off x="8229602" y="3537413"/>
            <a:ext cx="2725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Jelszó megjelenítése ikon</a:t>
            </a:r>
          </a:p>
        </p:txBody>
      </p:sp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B6A671A0-F893-410B-82F4-F215A212F6AF}"/>
              </a:ext>
            </a:extLst>
          </p:cNvPr>
          <p:cNvCxnSpPr>
            <a:cxnSpLocks/>
          </p:cNvCxnSpPr>
          <p:nvPr/>
        </p:nvCxnSpPr>
        <p:spPr>
          <a:xfrm flipH="1">
            <a:off x="7649308" y="4023976"/>
            <a:ext cx="11166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C3377D5E-2FC1-4CA3-AD6B-AF71A0924825}"/>
              </a:ext>
            </a:extLst>
          </p:cNvPr>
          <p:cNvSpPr txBox="1"/>
          <p:nvPr/>
        </p:nvSpPr>
        <p:spPr>
          <a:xfrm>
            <a:off x="8686801" y="3839310"/>
            <a:ext cx="3410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Elfelejtette a jelszavát? hivatkozás</a:t>
            </a:r>
          </a:p>
        </p:txBody>
      </p:sp>
      <p:cxnSp>
        <p:nvCxnSpPr>
          <p:cNvPr id="21" name="Egyenes összekötő nyíllal 20">
            <a:extLst>
              <a:ext uri="{FF2B5EF4-FFF2-40B4-BE49-F238E27FC236}">
                <a16:creationId xmlns:a16="http://schemas.microsoft.com/office/drawing/2014/main" id="{7A22A051-14D9-4E1C-AF25-EAAA57AF1551}"/>
              </a:ext>
            </a:extLst>
          </p:cNvPr>
          <p:cNvCxnSpPr/>
          <p:nvPr/>
        </p:nvCxnSpPr>
        <p:spPr>
          <a:xfrm>
            <a:off x="3807069" y="4528038"/>
            <a:ext cx="1046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zövegdoboz 21">
            <a:extLst>
              <a:ext uri="{FF2B5EF4-FFF2-40B4-BE49-F238E27FC236}">
                <a16:creationId xmlns:a16="http://schemas.microsoft.com/office/drawing/2014/main" id="{19D4F10C-8ED4-4DAF-9833-5FB3A98DFA7E}"/>
              </a:ext>
            </a:extLst>
          </p:cNvPr>
          <p:cNvSpPr txBox="1"/>
          <p:nvPr/>
        </p:nvSpPr>
        <p:spPr>
          <a:xfrm>
            <a:off x="1846380" y="4325788"/>
            <a:ext cx="2151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 gomb</a:t>
            </a:r>
          </a:p>
        </p:txBody>
      </p:sp>
      <p:cxnSp>
        <p:nvCxnSpPr>
          <p:cNvPr id="24" name="Egyenes összekötő nyíllal 23">
            <a:extLst>
              <a:ext uri="{FF2B5EF4-FFF2-40B4-BE49-F238E27FC236}">
                <a16:creationId xmlns:a16="http://schemas.microsoft.com/office/drawing/2014/main" id="{A22310EB-C180-46DC-915E-F950A50807F4}"/>
              </a:ext>
            </a:extLst>
          </p:cNvPr>
          <p:cNvCxnSpPr/>
          <p:nvPr/>
        </p:nvCxnSpPr>
        <p:spPr>
          <a:xfrm flipH="1">
            <a:off x="7060224" y="5125916"/>
            <a:ext cx="11210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EF452ABF-A365-4D78-8294-38C6E3CCD712}"/>
              </a:ext>
            </a:extLst>
          </p:cNvPr>
          <p:cNvSpPr txBox="1"/>
          <p:nvPr/>
        </p:nvSpPr>
        <p:spPr>
          <a:xfrm>
            <a:off x="8107477" y="4935187"/>
            <a:ext cx="2664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Regisztráljon hivatkozás</a:t>
            </a:r>
          </a:p>
        </p:txBody>
      </p:sp>
      <p:cxnSp>
        <p:nvCxnSpPr>
          <p:cNvPr id="27" name="Egyenes összekötő nyíllal 26">
            <a:extLst>
              <a:ext uri="{FF2B5EF4-FFF2-40B4-BE49-F238E27FC236}">
                <a16:creationId xmlns:a16="http://schemas.microsoft.com/office/drawing/2014/main" id="{D799D37F-9B85-4F7E-B638-24F2D613CE18}"/>
              </a:ext>
            </a:extLst>
          </p:cNvPr>
          <p:cNvCxnSpPr>
            <a:cxnSpLocks/>
          </p:cNvCxnSpPr>
          <p:nvPr/>
        </p:nvCxnSpPr>
        <p:spPr>
          <a:xfrm flipH="1">
            <a:off x="6638192" y="5565531"/>
            <a:ext cx="1469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4C797BE0-5A87-4A04-91FA-3572ADCEDFF1}"/>
              </a:ext>
            </a:extLst>
          </p:cNvPr>
          <p:cNvSpPr txBox="1"/>
          <p:nvPr/>
        </p:nvSpPr>
        <p:spPr>
          <a:xfrm>
            <a:off x="8054721" y="5389514"/>
            <a:ext cx="2919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Vissza a főoldalra hivatkozás</a:t>
            </a: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5581" y="1207914"/>
            <a:ext cx="2631440" cy="1315085"/>
          </a:xfrm>
          <a:prstGeom prst="rect">
            <a:avLst/>
          </a:prstGeom>
        </p:spPr>
      </p:pic>
      <p:cxnSp>
        <p:nvCxnSpPr>
          <p:cNvPr id="4" name="Egyenes összekötő nyíllal 3">
            <a:extLst>
              <a:ext uri="{FF2B5EF4-FFF2-40B4-BE49-F238E27FC236}">
                <a16:creationId xmlns:a16="http://schemas.microsoft.com/office/drawing/2014/main" id="{927E5503-7669-46B4-9F73-0C67EA8FBC68}"/>
              </a:ext>
            </a:extLst>
          </p:cNvPr>
          <p:cNvCxnSpPr>
            <a:cxnSpLocks/>
          </p:cNvCxnSpPr>
          <p:nvPr/>
        </p:nvCxnSpPr>
        <p:spPr>
          <a:xfrm flipV="1">
            <a:off x="9348269" y="2515316"/>
            <a:ext cx="244141" cy="542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zövegdoboz 9">
            <a:extLst>
              <a:ext uri="{FF2B5EF4-FFF2-40B4-BE49-F238E27FC236}">
                <a16:creationId xmlns:a16="http://schemas.microsoft.com/office/drawing/2014/main" id="{54D1EB4C-B256-4DF1-9CEC-4879039D8F95}"/>
              </a:ext>
            </a:extLst>
          </p:cNvPr>
          <p:cNvSpPr txBox="1"/>
          <p:nvPr/>
        </p:nvSpPr>
        <p:spPr>
          <a:xfrm>
            <a:off x="8107477" y="2942435"/>
            <a:ext cx="380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,,Sikeres bejelentkezés!” felugró ablak</a:t>
            </a:r>
          </a:p>
        </p:txBody>
      </p:sp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5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25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7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25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500"/>
                            </p:stCondLst>
                            <p:childTnLst>
                              <p:par>
                                <p:cTn id="46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75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250"/>
                            </p:stCondLst>
                            <p:childTnLst>
                              <p:par>
                                <p:cTn id="5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500"/>
                            </p:stCondLst>
                            <p:childTnLst>
                              <p:par>
                                <p:cTn id="5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5" grpId="0"/>
      <p:bldP spid="19" grpId="0"/>
      <p:bldP spid="22" grpId="0"/>
      <p:bldP spid="25" grpId="0"/>
      <p:bldP spid="29" grpId="0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5210" y="1729882"/>
            <a:ext cx="9712365" cy="4311328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2AB50D6F-2CAD-6982-6630-887469BB6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048" y="1421214"/>
            <a:ext cx="409575" cy="523875"/>
          </a:xfrm>
          <a:prstGeom prst="rect">
            <a:avLst/>
          </a:prstGeom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D2EC84FE-E3A5-5169-ACA0-55A397645715}"/>
              </a:ext>
            </a:extLst>
          </p:cNvPr>
          <p:cNvSpPr txBox="1"/>
          <p:nvPr/>
        </p:nvSpPr>
        <p:spPr>
          <a:xfrm>
            <a:off x="482862" y="1052536"/>
            <a:ext cx="176382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ParKing </a:t>
            </a:r>
            <a:r>
              <a:rPr lang="hu-HU" dirty="0" err="1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logo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Kép 14" descr="A képen képernyőkép, sor, fekete látható&#10;&#10;Lehet, hogy az AI által létrehozott tartalom helytelen.">
            <a:extLst>
              <a:ext uri="{FF2B5EF4-FFF2-40B4-BE49-F238E27FC236}">
                <a16:creationId xmlns:a16="http://schemas.microsoft.com/office/drawing/2014/main" id="{A0D7CE65-B0AA-EB8E-1578-1125F812A0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2037" y="1513269"/>
            <a:ext cx="2708355" cy="436221"/>
          </a:xfrm>
          <a:prstGeom prst="rect">
            <a:avLst/>
          </a:prstGeom>
        </p:spPr>
      </p:pic>
      <p:sp>
        <p:nvSpPr>
          <p:cNvPr id="16" name="Szövegdoboz 15">
            <a:extLst>
              <a:ext uri="{FF2B5EF4-FFF2-40B4-BE49-F238E27FC236}">
                <a16:creationId xmlns:a16="http://schemas.microsoft.com/office/drawing/2014/main" id="{3CE6CE2A-F900-8B04-B05B-B1BC52D1ECE4}"/>
              </a:ext>
            </a:extLst>
          </p:cNvPr>
          <p:cNvSpPr txBox="1"/>
          <p:nvPr/>
        </p:nvSpPr>
        <p:spPr>
          <a:xfrm>
            <a:off x="5413941" y="1233171"/>
            <a:ext cx="233218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>
                <a:latin typeface="Times New Roman"/>
                <a:ea typeface="Calibri"/>
                <a:cs typeface="Calibri"/>
              </a:rPr>
              <a:t>Navigációs sáv</a:t>
            </a:r>
            <a:endParaRPr lang="hu-HU" dirty="0"/>
          </a:p>
        </p:txBody>
      </p:sp>
      <p:pic>
        <p:nvPicPr>
          <p:cNvPr id="17" name="Kép 16" descr="A képen képernyőkép, fekete, tér, sor látható&#10;&#10;Lehet, hogy az AI által létrehozott tartalom helytelen.">
            <a:extLst>
              <a:ext uri="{FF2B5EF4-FFF2-40B4-BE49-F238E27FC236}">
                <a16:creationId xmlns:a16="http://schemas.microsoft.com/office/drawing/2014/main" id="{E6535E5B-65F3-8EEF-A0B7-F643791F91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140000">
            <a:off x="10908234" y="1512665"/>
            <a:ext cx="599834" cy="437428"/>
          </a:xfrm>
          <a:prstGeom prst="rect">
            <a:avLst/>
          </a:prstGeom>
        </p:spPr>
      </p:pic>
      <p:sp>
        <p:nvSpPr>
          <p:cNvPr id="18" name="Szövegdoboz 17">
            <a:extLst>
              <a:ext uri="{FF2B5EF4-FFF2-40B4-BE49-F238E27FC236}">
                <a16:creationId xmlns:a16="http://schemas.microsoft.com/office/drawing/2014/main" id="{CC5F3873-F0E5-0005-7130-1EB43D88CB2B}"/>
              </a:ext>
            </a:extLst>
          </p:cNvPr>
          <p:cNvSpPr txBox="1"/>
          <p:nvPr/>
        </p:nvSpPr>
        <p:spPr>
          <a:xfrm>
            <a:off x="10681591" y="1054581"/>
            <a:ext cx="133927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 err="1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User</a:t>
            </a:r>
            <a:r>
              <a:rPr lang="hu-HU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profil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fejlesztők céljai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99248"/>
            <a:ext cx="10515600" cy="4004091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06187"/>
            <a:ext cx="10515600" cy="4042966"/>
          </a:xfrm>
        </p:spPr>
      </p:pic>
      <p:cxnSp>
        <p:nvCxnSpPr>
          <p:cNvPr id="11" name="Egyenes összekötő nyíllal 10">
            <a:extLst>
              <a:ext uri="{FF2B5EF4-FFF2-40B4-BE49-F238E27FC236}">
                <a16:creationId xmlns:a16="http://schemas.microsoft.com/office/drawing/2014/main" id="{0D51CDBC-558E-4ECB-99E8-E49B4CF70331}"/>
              </a:ext>
            </a:extLst>
          </p:cNvPr>
          <p:cNvCxnSpPr/>
          <p:nvPr/>
        </p:nvCxnSpPr>
        <p:spPr>
          <a:xfrm>
            <a:off x="1186962" y="5099538"/>
            <a:ext cx="0" cy="6066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75B4A44-1B97-4576-92DE-46F669CBF52E}"/>
              </a:ext>
            </a:extLst>
          </p:cNvPr>
          <p:cNvSpPr txBox="1"/>
          <p:nvPr/>
        </p:nvSpPr>
        <p:spPr>
          <a:xfrm>
            <a:off x="838200" y="4487249"/>
            <a:ext cx="1104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Üzenet elküldése</a:t>
            </a:r>
          </a:p>
        </p:txBody>
      </p:sp>
      <p:cxnSp>
        <p:nvCxnSpPr>
          <p:cNvPr id="14" name="Egyenes összekötő nyíllal 13">
            <a:extLst>
              <a:ext uri="{FF2B5EF4-FFF2-40B4-BE49-F238E27FC236}">
                <a16:creationId xmlns:a16="http://schemas.microsoft.com/office/drawing/2014/main" id="{617F59EE-D6C6-4810-BB7F-5DF0870ACF06}"/>
              </a:ext>
            </a:extLst>
          </p:cNvPr>
          <p:cNvCxnSpPr/>
          <p:nvPr/>
        </p:nvCxnSpPr>
        <p:spPr>
          <a:xfrm flipH="1">
            <a:off x="1943099" y="5196254"/>
            <a:ext cx="694592" cy="509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C97F0A44-051A-4E72-BC58-0E830E25DD79}"/>
              </a:ext>
            </a:extLst>
          </p:cNvPr>
          <p:cNvSpPr txBox="1"/>
          <p:nvPr/>
        </p:nvSpPr>
        <p:spPr>
          <a:xfrm>
            <a:off x="2110153" y="4826922"/>
            <a:ext cx="1863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Üzenet törlése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6962" y="363288"/>
            <a:ext cx="2070735" cy="1035050"/>
          </a:xfrm>
          <a:prstGeom prst="rect">
            <a:avLst/>
          </a:prstGeom>
        </p:spPr>
      </p:pic>
      <p:cxnSp>
        <p:nvCxnSpPr>
          <p:cNvPr id="4" name="Egyenes összekötő nyíllal 3">
            <a:extLst>
              <a:ext uri="{FF2B5EF4-FFF2-40B4-BE49-F238E27FC236}">
                <a16:creationId xmlns:a16="http://schemas.microsoft.com/office/drawing/2014/main" id="{5FE27F9D-878E-4B6B-B544-8041F10AEEB9}"/>
              </a:ext>
            </a:extLst>
          </p:cNvPr>
          <p:cNvCxnSpPr>
            <a:cxnSpLocks/>
          </p:cNvCxnSpPr>
          <p:nvPr/>
        </p:nvCxnSpPr>
        <p:spPr>
          <a:xfrm flipV="1">
            <a:off x="2213537" y="1398338"/>
            <a:ext cx="0" cy="290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zövegdoboz 5">
            <a:extLst>
              <a:ext uri="{FF2B5EF4-FFF2-40B4-BE49-F238E27FC236}">
                <a16:creationId xmlns:a16="http://schemas.microsoft.com/office/drawing/2014/main" id="{65AA1098-8E3C-4C6E-82E4-EFDFEB327628}"/>
              </a:ext>
            </a:extLst>
          </p:cNvPr>
          <p:cNvSpPr txBox="1"/>
          <p:nvPr/>
        </p:nvSpPr>
        <p:spPr>
          <a:xfrm>
            <a:off x="720969" y="1605518"/>
            <a:ext cx="3525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Üzenetküldés utáni felugró ablak</a:t>
            </a:r>
          </a:p>
        </p:txBody>
      </p:sp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25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75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25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333D9CC-8B6C-4EE4-AD00-29CEF3AC06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60553"/>
            <a:ext cx="10515600" cy="2221887"/>
          </a:xfrm>
        </p:spPr>
      </p:pic>
      <p:cxnSp>
        <p:nvCxnSpPr>
          <p:cNvPr id="7" name="Egyenes összekötő nyíllal 6">
            <a:extLst>
              <a:ext uri="{FF2B5EF4-FFF2-40B4-BE49-F238E27FC236}">
                <a16:creationId xmlns:a16="http://schemas.microsoft.com/office/drawing/2014/main" id="{7FD777EC-EF93-47C1-BADE-17DE3E9244C6}"/>
              </a:ext>
            </a:extLst>
          </p:cNvPr>
          <p:cNvCxnSpPr/>
          <p:nvPr/>
        </p:nvCxnSpPr>
        <p:spPr>
          <a:xfrm flipV="1">
            <a:off x="838200" y="4440116"/>
            <a:ext cx="322385" cy="439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zövegdoboz 7">
            <a:extLst>
              <a:ext uri="{FF2B5EF4-FFF2-40B4-BE49-F238E27FC236}">
                <a16:creationId xmlns:a16="http://schemas.microsoft.com/office/drawing/2014/main" id="{5D92A126-1463-4B41-A716-C52D9C46426C}"/>
              </a:ext>
            </a:extLst>
          </p:cNvPr>
          <p:cNvSpPr txBox="1"/>
          <p:nvPr/>
        </p:nvSpPr>
        <p:spPr>
          <a:xfrm>
            <a:off x="96715" y="4818184"/>
            <a:ext cx="336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Változtatások mentése gomb</a:t>
            </a: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0D3D4A15-3E76-4383-8B5A-61A64799FB04}"/>
              </a:ext>
            </a:extLst>
          </p:cNvPr>
          <p:cNvCxnSpPr/>
          <p:nvPr/>
        </p:nvCxnSpPr>
        <p:spPr>
          <a:xfrm flipH="1" flipV="1">
            <a:off x="2136531" y="4440116"/>
            <a:ext cx="395654" cy="3341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D279F83C-76E0-4012-B7DC-7783CD642061}"/>
              </a:ext>
            </a:extLst>
          </p:cNvPr>
          <p:cNvSpPr txBox="1"/>
          <p:nvPr/>
        </p:nvSpPr>
        <p:spPr>
          <a:xfrm>
            <a:off x="2461846" y="4628663"/>
            <a:ext cx="1855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Vissza gomb</a:t>
            </a:r>
          </a:p>
        </p:txBody>
      </p:sp>
      <p:cxnSp>
        <p:nvCxnSpPr>
          <p:cNvPr id="14" name="Egyenes összekötő nyíllal 13">
            <a:extLst>
              <a:ext uri="{FF2B5EF4-FFF2-40B4-BE49-F238E27FC236}">
                <a16:creationId xmlns:a16="http://schemas.microsoft.com/office/drawing/2014/main" id="{1D9C372A-1BD2-4A84-B8C7-F0633943297F}"/>
              </a:ext>
            </a:extLst>
          </p:cNvPr>
          <p:cNvCxnSpPr>
            <a:cxnSpLocks/>
          </p:cNvCxnSpPr>
          <p:nvPr/>
        </p:nvCxnSpPr>
        <p:spPr>
          <a:xfrm flipH="1">
            <a:off x="1271954" y="2981875"/>
            <a:ext cx="8645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A363995A-C682-44FD-A2E4-BFD0332A6204}"/>
              </a:ext>
            </a:extLst>
          </p:cNvPr>
          <p:cNvSpPr txBox="1"/>
          <p:nvPr/>
        </p:nvSpPr>
        <p:spPr>
          <a:xfrm>
            <a:off x="2068403" y="2806000"/>
            <a:ext cx="2325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 neve</a:t>
            </a:r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89336AFA-0176-4983-9C2C-C17675EB7DFA}"/>
              </a:ext>
            </a:extLst>
          </p:cNvPr>
          <p:cNvSpPr txBox="1"/>
          <p:nvPr/>
        </p:nvSpPr>
        <p:spPr>
          <a:xfrm>
            <a:off x="2532187" y="3285860"/>
            <a:ext cx="2732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 email címe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C7D8AF48-F07F-426F-A0BE-2C72CCFC956C}"/>
              </a:ext>
            </a:extLst>
          </p:cNvPr>
          <p:cNvSpPr txBox="1"/>
          <p:nvPr/>
        </p:nvSpPr>
        <p:spPr>
          <a:xfrm>
            <a:off x="2453054" y="3812905"/>
            <a:ext cx="320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 telefonszáma</a:t>
            </a:r>
          </a:p>
        </p:txBody>
      </p:sp>
      <p:cxnSp>
        <p:nvCxnSpPr>
          <p:cNvPr id="20" name="Egyenes összekötő nyíllal 19">
            <a:extLst>
              <a:ext uri="{FF2B5EF4-FFF2-40B4-BE49-F238E27FC236}">
                <a16:creationId xmlns:a16="http://schemas.microsoft.com/office/drawing/2014/main" id="{71A1A932-78F6-48CD-8D6E-DB36E15104B2}"/>
              </a:ext>
            </a:extLst>
          </p:cNvPr>
          <p:cNvCxnSpPr>
            <a:cxnSpLocks/>
          </p:cNvCxnSpPr>
          <p:nvPr/>
        </p:nvCxnSpPr>
        <p:spPr>
          <a:xfrm flipH="1">
            <a:off x="1759196" y="3465951"/>
            <a:ext cx="8645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gyenes összekötő nyíllal 20">
            <a:extLst>
              <a:ext uri="{FF2B5EF4-FFF2-40B4-BE49-F238E27FC236}">
                <a16:creationId xmlns:a16="http://schemas.microsoft.com/office/drawing/2014/main" id="{58C2D9BF-3CE3-4016-BA56-E51182015321}"/>
              </a:ext>
            </a:extLst>
          </p:cNvPr>
          <p:cNvCxnSpPr>
            <a:cxnSpLocks/>
          </p:cNvCxnSpPr>
          <p:nvPr/>
        </p:nvCxnSpPr>
        <p:spPr>
          <a:xfrm flipH="1">
            <a:off x="1667608" y="3970044"/>
            <a:ext cx="8645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4955" y="4997995"/>
            <a:ext cx="2259965" cy="1155700"/>
          </a:xfrm>
          <a:prstGeom prst="rect">
            <a:avLst/>
          </a:prstGeom>
        </p:spPr>
      </p:pic>
      <p:cxnSp>
        <p:nvCxnSpPr>
          <p:cNvPr id="4" name="Egyenes összekötő nyíllal 3">
            <a:extLst>
              <a:ext uri="{FF2B5EF4-FFF2-40B4-BE49-F238E27FC236}">
                <a16:creationId xmlns:a16="http://schemas.microsoft.com/office/drawing/2014/main" id="{180855A6-6778-417D-A8B0-28428246C74A}"/>
              </a:ext>
            </a:extLst>
          </p:cNvPr>
          <p:cNvCxnSpPr>
            <a:endCxn id="15" idx="3"/>
          </p:cNvCxnSpPr>
          <p:nvPr/>
        </p:nvCxnSpPr>
        <p:spPr>
          <a:xfrm flipH="1">
            <a:off x="7524920" y="5575845"/>
            <a:ext cx="6519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zövegdoboz 5">
            <a:extLst>
              <a:ext uri="{FF2B5EF4-FFF2-40B4-BE49-F238E27FC236}">
                <a16:creationId xmlns:a16="http://schemas.microsoft.com/office/drawing/2014/main" id="{5DE0C63B-68C6-4500-BDE7-5B9C6E75D9CF}"/>
              </a:ext>
            </a:extLst>
          </p:cNvPr>
          <p:cNvSpPr txBox="1"/>
          <p:nvPr/>
        </p:nvSpPr>
        <p:spPr>
          <a:xfrm>
            <a:off x="8176846" y="5252679"/>
            <a:ext cx="2708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,,Sikeres módosítás!” felugró ablak</a:t>
            </a:r>
          </a:p>
        </p:txBody>
      </p:sp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19" y="563542"/>
            <a:ext cx="2105025" cy="1409700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32EFF085-F318-C3AE-A073-66437ED35085}"/>
              </a:ext>
            </a:extLst>
          </p:cNvPr>
          <p:cNvCxnSpPr/>
          <p:nvPr/>
        </p:nvCxnSpPr>
        <p:spPr>
          <a:xfrm flipH="1" flipV="1">
            <a:off x="2848374" y="985073"/>
            <a:ext cx="395654" cy="3341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zövegdoboz 21">
            <a:extLst>
              <a:ext uri="{FF2B5EF4-FFF2-40B4-BE49-F238E27FC236}">
                <a16:creationId xmlns:a16="http://schemas.microsoft.com/office/drawing/2014/main" id="{99952DA8-BB46-1247-D52D-23745E6F7671}"/>
              </a:ext>
            </a:extLst>
          </p:cNvPr>
          <p:cNvSpPr txBox="1"/>
          <p:nvPr/>
        </p:nvSpPr>
        <p:spPr>
          <a:xfrm>
            <a:off x="3144254" y="1275626"/>
            <a:ext cx="31158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>
                <a:ea typeface="Calibri"/>
                <a:cs typeface="Calibri"/>
              </a:rPr>
              <a:t>Fiók </a:t>
            </a:r>
            <a:r>
              <a:rPr lang="hu-HU">
                <a:ea typeface="Calibri"/>
                <a:cs typeface="Calibri"/>
              </a:rPr>
              <a:t>szerkesztése/kijelentkezés</a:t>
            </a:r>
            <a:endParaRPr lang="hu-HU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5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25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7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25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50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750"/>
                            </p:stCondLst>
                            <p:childTnLst>
                              <p:par>
                                <p:cTn id="49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7" grpId="0"/>
      <p:bldP spid="18" grpId="0"/>
      <p:bldP spid="19" grpId="0"/>
      <p:bldP spid="6" grpId="0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691" y="233160"/>
            <a:ext cx="2391109" cy="1457528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98D6CC8-D3DD-41ED-829A-50D91D587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299" y="1877460"/>
            <a:ext cx="9677401" cy="4501117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3FEA0084-E5F7-4569-8A04-9BFFB0B56FC9}"/>
              </a:ext>
            </a:extLst>
          </p:cNvPr>
          <p:cNvCxnSpPr>
            <a:cxnSpLocks/>
          </p:cNvCxnSpPr>
          <p:nvPr/>
        </p:nvCxnSpPr>
        <p:spPr>
          <a:xfrm flipV="1">
            <a:off x="628649" y="1690688"/>
            <a:ext cx="209551" cy="622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zövegdoboz 9">
            <a:extLst>
              <a:ext uri="{FF2B5EF4-FFF2-40B4-BE49-F238E27FC236}">
                <a16:creationId xmlns:a16="http://schemas.microsoft.com/office/drawing/2014/main" id="{95405ECE-1DA2-4586-9F3C-A5F3D1145AAF}"/>
              </a:ext>
            </a:extLst>
          </p:cNvPr>
          <p:cNvSpPr txBox="1"/>
          <p:nvPr/>
        </p:nvSpPr>
        <p:spPr>
          <a:xfrm>
            <a:off x="-3509" y="2312988"/>
            <a:ext cx="1257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Foglalás indítása</a:t>
            </a:r>
          </a:p>
        </p:txBody>
      </p:sp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5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7143" y="3846321"/>
            <a:ext cx="10597713" cy="2937979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827" y="857563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4340" y="3534491"/>
            <a:ext cx="1743318" cy="22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122947"/>
            <a:ext cx="10515600" cy="1756694"/>
          </a:xfrm>
        </p:spPr>
      </p:pic>
      <p:sp>
        <p:nvSpPr>
          <p:cNvPr id="3" name="Bal oldali kapcsos zárójel 2">
            <a:extLst>
              <a:ext uri="{FF2B5EF4-FFF2-40B4-BE49-F238E27FC236}">
                <a16:creationId xmlns:a16="http://schemas.microsoft.com/office/drawing/2014/main" id="{9FC75125-8892-4C8D-8351-9B3FC7C789E4}"/>
              </a:ext>
            </a:extLst>
          </p:cNvPr>
          <p:cNvSpPr/>
          <p:nvPr/>
        </p:nvSpPr>
        <p:spPr>
          <a:xfrm>
            <a:off x="2697481" y="3509554"/>
            <a:ext cx="45719" cy="46155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712610C6-B475-4E00-ABD1-7F7B9B54D6CA}"/>
              </a:ext>
            </a:extLst>
          </p:cNvPr>
          <p:cNvSpPr txBox="1"/>
          <p:nvPr/>
        </p:nvSpPr>
        <p:spPr>
          <a:xfrm>
            <a:off x="1326969" y="3555665"/>
            <a:ext cx="1530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Menüpontok</a:t>
            </a:r>
          </a:p>
        </p:txBody>
      </p:sp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757</TotalTime>
  <Words>506</Words>
  <Application>Microsoft Office PowerPoint</Application>
  <PresentationFormat>Szélesvásznú</PresentationFormat>
  <Paragraphs>137</Paragraphs>
  <Slides>20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4" baseType="lpstr">
      <vt:lpstr>Arial</vt:lpstr>
      <vt:lpstr>Calibri</vt:lpstr>
      <vt:lpstr>Times New Roman</vt:lpstr>
      <vt:lpstr>Office-téma</vt:lpstr>
      <vt:lpstr>ParKing</vt:lpstr>
      <vt:lpstr>Tartalomjegyzék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A fejlesztők céljai</vt:lpstr>
      <vt:lpstr>Kapcsolat</vt:lpstr>
      <vt:lpstr>Fiók szerkesztése</vt:lpstr>
      <vt:lpstr>Foglalás</vt:lpstr>
      <vt:lpstr>A felhasználó foglalásai</vt:lpstr>
      <vt:lpstr>Lábléc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Pongrácz Gábor</cp:lastModifiedBy>
  <cp:revision>115</cp:revision>
  <dcterms:created xsi:type="dcterms:W3CDTF">2026-01-21T10:12:04Z</dcterms:created>
  <dcterms:modified xsi:type="dcterms:W3CDTF">2026-03-04T09:44:09Z</dcterms:modified>
</cp:coreProperties>
</file>