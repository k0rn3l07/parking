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60" r:id="rId5"/>
    <p:sldId id="263" r:id="rId6"/>
    <p:sldId id="274" r:id="rId7"/>
    <p:sldId id="270" r:id="rId8"/>
    <p:sldId id="271" r:id="rId9"/>
    <p:sldId id="272" r:id="rId10"/>
    <p:sldId id="273" r:id="rId11"/>
    <p:sldId id="264" r:id="rId12"/>
    <p:sldId id="275" r:id="rId13"/>
    <p:sldId id="261" r:id="rId14"/>
    <p:sldId id="262" r:id="rId15"/>
    <p:sldId id="266" r:id="rId16"/>
    <p:sldId id="265" r:id="rId17"/>
    <p:sldId id="267" r:id="rId18"/>
    <p:sldId id="268" r:id="rId19"/>
    <p:sldId id="277" r:id="rId20"/>
    <p:sldId id="276" r:id="rId2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357" autoAdjust="0"/>
  </p:normalViewPr>
  <p:slideViewPr>
    <p:cSldViewPr snapToGrid="0">
      <p:cViewPr>
        <p:scale>
          <a:sx n="125" d="100"/>
          <a:sy n="125" d="100"/>
        </p:scale>
        <p:origin x="90" y="-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2026.01.23.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3E8299-2471-4008-A390-958EF2764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Tartalomjegyzék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5032ED8-90B0-43BE-BBDE-DB9344BD7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ParKing bemutatása</a:t>
            </a:r>
          </a:p>
          <a:p>
            <a:r>
              <a:rPr lang="hu-HU" dirty="0"/>
              <a:t>A projektben használt webfejlesztési technológiák</a:t>
            </a:r>
          </a:p>
          <a:p>
            <a:r>
              <a:rPr lang="hu-HU" dirty="0"/>
              <a:t>Rendszeráttekintés</a:t>
            </a:r>
          </a:p>
        </p:txBody>
      </p:sp>
    </p:spTree>
    <p:extLst>
      <p:ext uri="{BB962C8B-B14F-4D97-AF65-F5344CB8AC3E}">
        <p14:creationId xmlns:p14="http://schemas.microsoft.com/office/powerpoint/2010/main" val="2802551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242643"/>
            <a:ext cx="12191999" cy="1325563"/>
          </a:xfrm>
        </p:spPr>
        <p:txBody>
          <a:bodyPr/>
          <a:lstStyle/>
          <a:p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/>
          </a:bodyPr>
          <a:lstStyle/>
          <a:p>
            <a:pPr lvl="1"/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/>
            <a:r>
              <a:rPr lang="hu-HU" sz="2400" dirty="0"/>
              <a:t>Visual Studio Code</a:t>
            </a:r>
          </a:p>
          <a:p>
            <a:pPr lvl="2"/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922221"/>
          </a:xfrm>
        </p:spPr>
        <p:txBody>
          <a:bodyPr/>
          <a:lstStyle/>
          <a:p>
            <a:r>
              <a:rPr lang="hu-HU" b="1" dirty="0"/>
              <a:t>Programozási nyelvek</a:t>
            </a:r>
            <a:r>
              <a:rPr lang="hu-HU" sz="2400" b="1" dirty="0"/>
              <a:t>:</a:t>
            </a:r>
          </a:p>
          <a:p>
            <a:pPr lvl="1"/>
            <a:r>
              <a:rPr lang="hu-HU" dirty="0"/>
              <a:t>HTML</a:t>
            </a:r>
          </a:p>
          <a:p>
            <a:pPr lvl="1"/>
            <a:r>
              <a:rPr lang="hu-HU" dirty="0"/>
              <a:t>CSS</a:t>
            </a:r>
          </a:p>
          <a:p>
            <a:pPr lvl="1"/>
            <a:r>
              <a:rPr lang="hu-HU" dirty="0"/>
              <a:t>JavaScript</a:t>
            </a:r>
          </a:p>
          <a:p>
            <a:pPr lvl="1"/>
            <a:r>
              <a:rPr lang="hu-HU" dirty="0"/>
              <a:t>SQL</a:t>
            </a:r>
          </a:p>
          <a:p>
            <a:pPr lvl="1"/>
            <a:r>
              <a:rPr lang="hu-HU" sz="2400" dirty="0"/>
              <a:t>EJS</a:t>
            </a:r>
          </a:p>
          <a:p>
            <a:pPr lvl="1"/>
            <a:r>
              <a:rPr lang="hu-HU" dirty="0"/>
              <a:t>C#</a:t>
            </a:r>
          </a:p>
          <a:p>
            <a:pPr lvl="1"/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b="1" dirty="0"/>
              <a:t>További webfejlesztési eszközök:</a:t>
            </a:r>
          </a:p>
          <a:p>
            <a:pPr lvl="1"/>
            <a:r>
              <a:rPr lang="hu-HU" dirty="0"/>
              <a:t>XAMPP</a:t>
            </a:r>
          </a:p>
          <a:p>
            <a:pPr lvl="1"/>
            <a:r>
              <a:rPr lang="hu-HU" dirty="0"/>
              <a:t>MySQL</a:t>
            </a:r>
          </a:p>
          <a:p>
            <a:pPr lvl="1"/>
            <a:r>
              <a:rPr lang="hu-HU" dirty="0"/>
              <a:t>Node Package Manager (npm)</a:t>
            </a:r>
          </a:p>
          <a:p>
            <a:pPr lvl="1"/>
            <a:r>
              <a:rPr lang="hu-HU" dirty="0"/>
              <a:t>Node.js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6671AA-82B3-4D47-8770-4A1A72DE7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Visual Studio Code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32EB196-65E0-445A-9403-9E52C7D63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189617" cy="3546475"/>
          </a:xfrm>
        </p:spPr>
        <p:txBody>
          <a:bodyPr/>
          <a:lstStyle/>
          <a:p>
            <a:r>
              <a:rPr lang="hu-HU" dirty="0"/>
              <a:t>A </a:t>
            </a:r>
            <a:r>
              <a:rPr lang="hu-HU" b="1" dirty="0"/>
              <a:t>Visual Studio Code</a:t>
            </a:r>
            <a:r>
              <a:rPr lang="hu-HU" dirty="0"/>
              <a:t> egy ingyenes, nyílt forráskódú fejlesztői környezet</a:t>
            </a:r>
          </a:p>
          <a:p>
            <a:r>
              <a:rPr lang="hu-HU" dirty="0"/>
              <a:t>Széles körben használják különböző </a:t>
            </a:r>
            <a:r>
              <a:rPr lang="hu-HU" b="1" dirty="0"/>
              <a:t>programozási nyelvekhez</a:t>
            </a:r>
            <a:r>
              <a:rPr lang="hu-HU" dirty="0"/>
              <a:t>, például </a:t>
            </a:r>
            <a:r>
              <a:rPr lang="hu-HU" b="1" dirty="0"/>
              <a:t>Python, JavaScript, C++, PHP</a:t>
            </a:r>
            <a:r>
              <a:rPr lang="hu-HU" dirty="0"/>
              <a:t> és </a:t>
            </a:r>
            <a:r>
              <a:rPr lang="hu-HU" b="1" dirty="0"/>
              <a:t>HTML/CSS </a:t>
            </a:r>
            <a:r>
              <a:rPr lang="hu-HU" dirty="0"/>
              <a:t>fejlesztéséhez</a:t>
            </a:r>
          </a:p>
          <a:p>
            <a:r>
              <a:rPr lang="hu-HU" dirty="0"/>
              <a:t>Egyszerű kezelőfelület</a:t>
            </a:r>
          </a:p>
          <a:p>
            <a:r>
              <a:rPr lang="hu-HU" dirty="0"/>
              <a:t>Beépített terminál</a:t>
            </a:r>
          </a:p>
          <a:p>
            <a:endParaRPr lang="hu-HU" dirty="0"/>
          </a:p>
        </p:txBody>
      </p:sp>
      <p:pic>
        <p:nvPicPr>
          <p:cNvPr id="5122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E4194B34-95C7-40C0-9C4E-C82D70EEF37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7248" y="2113018"/>
            <a:ext cx="3776552" cy="3776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03448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0471ADF-8549-4C8D-A71F-2F7E91D7D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Visual Studio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FE79256-A273-4A4E-B5DB-79C075BD6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23085" cy="3722321"/>
          </a:xfrm>
        </p:spPr>
        <p:txBody>
          <a:bodyPr/>
          <a:lstStyle/>
          <a:p>
            <a:r>
              <a:rPr lang="hu-HU" dirty="0"/>
              <a:t>Programozáshoz használt </a:t>
            </a:r>
            <a:r>
              <a:rPr lang="hu-HU" b="1" dirty="0"/>
              <a:t>fejlesztői környezet </a:t>
            </a:r>
            <a:r>
              <a:rPr lang="hu-HU" dirty="0"/>
              <a:t>(</a:t>
            </a:r>
            <a:r>
              <a:rPr lang="hu-HU" b="1" dirty="0"/>
              <a:t>IDE</a:t>
            </a:r>
            <a:r>
              <a:rPr lang="hu-HU" dirty="0"/>
              <a:t>)</a:t>
            </a:r>
          </a:p>
          <a:p>
            <a:r>
              <a:rPr lang="hu-HU" dirty="0"/>
              <a:t>Asztali alkalmazások fejlesztése</a:t>
            </a:r>
          </a:p>
          <a:p>
            <a:r>
              <a:rPr lang="hu-HU" dirty="0"/>
              <a:t>Leginkább használt programozási nyelvek:</a:t>
            </a:r>
          </a:p>
          <a:p>
            <a:pPr lvl="1"/>
            <a:r>
              <a:rPr lang="hu-HU" b="1" dirty="0"/>
              <a:t>C#, .NET, C++</a:t>
            </a:r>
          </a:p>
          <a:p>
            <a:r>
              <a:rPr lang="hu-HU" dirty="0"/>
              <a:t> Hibakeresés</a:t>
            </a:r>
          </a:p>
          <a:p>
            <a:r>
              <a:rPr lang="hu-HU" dirty="0"/>
              <a:t>Beépített terminál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C8A921B-EF72-47FF-B6B0-522E88EC4A0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4370" y="2444901"/>
            <a:ext cx="2763655" cy="2763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0614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8C8D12D-6C90-4E0A-A623-F709589B7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HTML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A990279-5021-463C-8D5A-8DECE415F4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182395" cy="4346575"/>
          </a:xfrm>
        </p:spPr>
        <p:txBody>
          <a:bodyPr>
            <a:normAutofit lnSpcReduction="10000"/>
          </a:bodyPr>
          <a:lstStyle/>
          <a:p>
            <a:r>
              <a:rPr lang="hu-HU" b="1" dirty="0"/>
              <a:t>HyperText Markup Language</a:t>
            </a:r>
          </a:p>
          <a:p>
            <a:r>
              <a:rPr lang="hu-HU" b="1" dirty="0"/>
              <a:t>Weboldalak</a:t>
            </a:r>
            <a:r>
              <a:rPr lang="hu-HU" dirty="0"/>
              <a:t> és webes alkalmazások készítésére használnak.</a:t>
            </a:r>
          </a:p>
          <a:p>
            <a:r>
              <a:rPr lang="hu-HU" b="1" dirty="0"/>
              <a:t>Tartalom megjelenítése</a:t>
            </a:r>
            <a:r>
              <a:rPr lang="hu-HU" dirty="0"/>
              <a:t>: szöveg, képek, videók, linkek</a:t>
            </a:r>
          </a:p>
          <a:p>
            <a:r>
              <a:rPr lang="hu-HU" b="1" dirty="0"/>
              <a:t>Szerkezet kialakítása</a:t>
            </a:r>
            <a:r>
              <a:rPr lang="hu-HU" dirty="0"/>
              <a:t>: címek, bekezdések, listák, táblázatok</a:t>
            </a:r>
          </a:p>
          <a:p>
            <a:r>
              <a:rPr lang="hu-HU" b="1" dirty="0"/>
              <a:t>Linkelés</a:t>
            </a:r>
            <a:r>
              <a:rPr lang="hu-HU" dirty="0"/>
              <a:t>: oldalak összekapcsolása (hiperhivatkozások)</a:t>
            </a:r>
          </a:p>
          <a:p>
            <a:r>
              <a:rPr lang="hu-HU" b="1" dirty="0"/>
              <a:t>Űrlapok</a:t>
            </a:r>
            <a:r>
              <a:rPr lang="hu-HU" dirty="0"/>
              <a:t>: bejelentkezés, regisztráció, keresés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1026" name="Picture 2" descr="HTML5 - Wikipedia">
            <a:extLst>
              <a:ext uri="{FF2B5EF4-FFF2-40B4-BE49-F238E27FC236}">
                <a16:creationId xmlns:a16="http://schemas.microsoft.com/office/drawing/2014/main" id="{D66D0830-2FEF-41EB-8F66-886D742D73A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4889" y="2697458"/>
            <a:ext cx="2381250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084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C3DEFC1-5713-4667-AA91-D5948EC16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CSS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E007366-14AD-4673-8BB0-5AF3CC2802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80611" cy="3358310"/>
          </a:xfrm>
        </p:spPr>
        <p:txBody>
          <a:bodyPr/>
          <a:lstStyle/>
          <a:p>
            <a:r>
              <a:rPr lang="hu-HU" b="1" dirty="0"/>
              <a:t>Cascading Style Sheets</a:t>
            </a:r>
          </a:p>
          <a:p>
            <a:r>
              <a:rPr lang="hu-HU" b="1" dirty="0"/>
              <a:t>Kinézet formázása </a:t>
            </a:r>
            <a:r>
              <a:rPr lang="hu-HU" dirty="0"/>
              <a:t>(szövegszín, betűtípus, betűméret, háttérszín…)</a:t>
            </a:r>
          </a:p>
          <a:p>
            <a:r>
              <a:rPr lang="hu-HU" b="1" dirty="0"/>
              <a:t>Elrendezés</a:t>
            </a:r>
            <a:r>
              <a:rPr lang="hu-HU" dirty="0"/>
              <a:t> (középre igazítás, elemek egymás mellett/alatt, oszlopok…)</a:t>
            </a:r>
          </a:p>
          <a:p>
            <a:r>
              <a:rPr lang="hu-HU" b="1" dirty="0"/>
              <a:t>Reszponzív</a:t>
            </a:r>
            <a:r>
              <a:rPr lang="hu-HU" dirty="0"/>
              <a:t> dizájn</a:t>
            </a:r>
          </a:p>
          <a:p>
            <a:r>
              <a:rPr lang="hu-HU" b="1" dirty="0"/>
              <a:t>Átláthatóbb</a:t>
            </a:r>
            <a:r>
              <a:rPr lang="hu-HU" dirty="0"/>
              <a:t> weboldal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E4622C-1D4B-4C5A-A663-6F8CDFE0370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8074" y="2110128"/>
            <a:ext cx="2176146" cy="3073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4087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A486FBC-1CDA-42DC-80F4-CE7D64C6E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JavaScript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5280050-7E42-44A8-B8D3-E53262A2C1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313023" cy="4351338"/>
          </a:xfrm>
        </p:spPr>
        <p:txBody>
          <a:bodyPr>
            <a:normAutofit lnSpcReduction="10000"/>
          </a:bodyPr>
          <a:lstStyle/>
          <a:p>
            <a:r>
              <a:rPr lang="hu-HU" b="1" dirty="0"/>
              <a:t>Sokoldalú</a:t>
            </a:r>
            <a:r>
              <a:rPr lang="hu-HU" dirty="0"/>
              <a:t> programozási nyelv</a:t>
            </a:r>
          </a:p>
          <a:p>
            <a:r>
              <a:rPr lang="hu-HU" b="1" dirty="0"/>
              <a:t>Interaktív, dinamikus </a:t>
            </a:r>
            <a:r>
              <a:rPr lang="hu-HU" dirty="0"/>
              <a:t>és </a:t>
            </a:r>
            <a:r>
              <a:rPr lang="hu-HU" b="1" dirty="0"/>
              <a:t>modern</a:t>
            </a:r>
            <a:r>
              <a:rPr lang="hu-HU" dirty="0"/>
              <a:t> alkalmazások készítésére használják</a:t>
            </a:r>
          </a:p>
          <a:p>
            <a:r>
              <a:rPr lang="hu-HU" b="1" dirty="0"/>
              <a:t>Komplex alkalmazások </a:t>
            </a:r>
            <a:r>
              <a:rPr lang="hu-HU" dirty="0"/>
              <a:t>fejlesztése (Facebook, YouTube, Gmail)</a:t>
            </a:r>
          </a:p>
          <a:p>
            <a:r>
              <a:rPr lang="hu-HU" b="1" dirty="0"/>
              <a:t>Szerveroldali</a:t>
            </a:r>
            <a:r>
              <a:rPr lang="hu-HU" dirty="0"/>
              <a:t> fejlesztés Node.js segítségével (backend, API, Adatbázis)</a:t>
            </a:r>
          </a:p>
          <a:p>
            <a:r>
              <a:rPr lang="hu-HU" b="1" dirty="0"/>
              <a:t>Mobilalkalmazások</a:t>
            </a:r>
            <a:r>
              <a:rPr lang="hu-HU" dirty="0"/>
              <a:t> (Android, iOs appok)</a:t>
            </a:r>
          </a:p>
          <a:p>
            <a:r>
              <a:rPr lang="hu-HU" b="1" dirty="0"/>
              <a:t>Asztali alkalmazások</a:t>
            </a:r>
          </a:p>
          <a:p>
            <a:r>
              <a:rPr lang="hu-HU" dirty="0"/>
              <a:t>Minden modern böngésző támogatja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3074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676174F6-53DA-4FA2-815C-0A332A532B1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016" y="2565853"/>
            <a:ext cx="2594321" cy="2924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52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2E5C4D-4ADC-4CA2-A9A1-1A67E7F53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SQL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A264D85-B5DD-40ED-90A9-BDFD310B40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269480" cy="4074013"/>
          </a:xfrm>
        </p:spPr>
        <p:txBody>
          <a:bodyPr>
            <a:normAutofit fontScale="92500" lnSpcReduction="20000"/>
          </a:bodyPr>
          <a:lstStyle/>
          <a:p>
            <a:r>
              <a:rPr lang="hu-HU" b="1" dirty="0"/>
              <a:t>Structured Query Language</a:t>
            </a:r>
          </a:p>
          <a:p>
            <a:r>
              <a:rPr lang="hu-HU" b="1" dirty="0"/>
              <a:t>Adatbázis-kezelő</a:t>
            </a:r>
            <a:r>
              <a:rPr lang="hu-HU" dirty="0"/>
              <a:t> nyelv</a:t>
            </a:r>
          </a:p>
          <a:p>
            <a:r>
              <a:rPr lang="hu-HU" dirty="0"/>
              <a:t>Adatokat lehet </a:t>
            </a:r>
            <a:r>
              <a:rPr lang="hu-HU" b="1" dirty="0"/>
              <a:t>lekérdezni</a:t>
            </a:r>
            <a:r>
              <a:rPr lang="hu-HU" dirty="0"/>
              <a:t>, </a:t>
            </a:r>
            <a:r>
              <a:rPr lang="hu-HU" b="1" dirty="0"/>
              <a:t>módosítani</a:t>
            </a:r>
            <a:r>
              <a:rPr lang="hu-HU" dirty="0"/>
              <a:t> és </a:t>
            </a:r>
            <a:r>
              <a:rPr lang="hu-HU" b="1" dirty="0"/>
              <a:t>kezelni</a:t>
            </a:r>
            <a:r>
              <a:rPr lang="hu-HU" dirty="0"/>
              <a:t> pl.: Felhasználó adatainak tárolása (név, email, jelszó)</a:t>
            </a:r>
          </a:p>
          <a:p>
            <a:r>
              <a:rPr lang="hu-HU" dirty="0"/>
              <a:t>Használható:</a:t>
            </a:r>
          </a:p>
          <a:p>
            <a:pPr lvl="1"/>
            <a:r>
              <a:rPr lang="hu-HU" dirty="0"/>
              <a:t>Weboldalak </a:t>
            </a:r>
            <a:r>
              <a:rPr lang="hu-HU" b="1" dirty="0"/>
              <a:t>backend</a:t>
            </a:r>
            <a:r>
              <a:rPr lang="hu-HU" dirty="0"/>
              <a:t> részében</a:t>
            </a:r>
          </a:p>
          <a:p>
            <a:pPr lvl="1"/>
            <a:r>
              <a:rPr lang="hu-HU" dirty="0"/>
              <a:t>Alkalmazások </a:t>
            </a:r>
            <a:r>
              <a:rPr lang="hu-HU" b="1" dirty="0"/>
              <a:t>adatkezelés</a:t>
            </a:r>
            <a:r>
              <a:rPr lang="hu-HU" dirty="0"/>
              <a:t>éhez </a:t>
            </a:r>
          </a:p>
          <a:p>
            <a:r>
              <a:rPr lang="hu-HU" dirty="0"/>
              <a:t>Gyakori alkalmazások:</a:t>
            </a:r>
          </a:p>
          <a:p>
            <a:pPr lvl="1"/>
            <a:r>
              <a:rPr lang="hu-HU" b="1" dirty="0"/>
              <a:t>MySQL</a:t>
            </a:r>
          </a:p>
          <a:p>
            <a:pPr lvl="1"/>
            <a:r>
              <a:rPr lang="hu-HU" b="1" dirty="0"/>
              <a:t>PostgreSQL</a:t>
            </a:r>
          </a:p>
          <a:p>
            <a:pPr lvl="1"/>
            <a:r>
              <a:rPr lang="hu-HU" b="1" dirty="0"/>
              <a:t>SQLite</a:t>
            </a:r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pic>
        <p:nvPicPr>
          <p:cNvPr id="4098" name="Picture 2" descr="The Best Way to Learn SQL - Learn to code in 30 Days!">
            <a:extLst>
              <a:ext uri="{FF2B5EF4-FFF2-40B4-BE49-F238E27FC236}">
                <a16:creationId xmlns:a16="http://schemas.microsoft.com/office/drawing/2014/main" id="{10528509-BE40-480F-BB3E-17AF99A56563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0069" y="2867547"/>
            <a:ext cx="5181600" cy="2720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9916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9DDA91B-E3C5-4F19-9176-E32111030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EJS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438B136-DE12-407E-AB47-50C57564E6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250578" cy="4351338"/>
          </a:xfrm>
        </p:spPr>
        <p:txBody>
          <a:bodyPr>
            <a:normAutofit/>
          </a:bodyPr>
          <a:lstStyle/>
          <a:p>
            <a:r>
              <a:rPr lang="hu-HU" dirty="0"/>
              <a:t>Könnyen használható, szerveroldali sablonmotor</a:t>
            </a:r>
            <a:endParaRPr lang="hu-HU" b="1" dirty="0"/>
          </a:p>
          <a:p>
            <a:r>
              <a:rPr lang="hu-HU" b="1" dirty="0"/>
              <a:t>Embedded JavaScript Templates</a:t>
            </a:r>
          </a:p>
          <a:p>
            <a:r>
              <a:rPr lang="hu-HU" dirty="0"/>
              <a:t>Lehetővé teszi </a:t>
            </a:r>
            <a:r>
              <a:rPr lang="hu-HU" b="1" dirty="0"/>
              <a:t>dinamikus</a:t>
            </a:r>
            <a:r>
              <a:rPr lang="hu-HU" dirty="0"/>
              <a:t> </a:t>
            </a:r>
            <a:r>
              <a:rPr lang="hu-HU" b="1" dirty="0"/>
              <a:t>HTML</a:t>
            </a:r>
            <a:r>
              <a:rPr lang="hu-HU" dirty="0"/>
              <a:t> oldalak generálását </a:t>
            </a:r>
            <a:r>
              <a:rPr lang="hu-HU" b="1" dirty="0"/>
              <a:t>JavaScript</a:t>
            </a:r>
            <a:r>
              <a:rPr lang="hu-HU" dirty="0"/>
              <a:t> használatával​</a:t>
            </a:r>
          </a:p>
          <a:p>
            <a:r>
              <a:rPr lang="hu-HU" dirty="0"/>
              <a:t>A sablonok </a:t>
            </a:r>
            <a:r>
              <a:rPr lang="hu-HU" b="1" dirty="0"/>
              <a:t>’.ejs’ </a:t>
            </a:r>
            <a:r>
              <a:rPr lang="hu-HU" dirty="0"/>
              <a:t>kiterjesztést kapnak</a:t>
            </a:r>
          </a:p>
          <a:p>
            <a:r>
              <a:rPr lang="hu-HU" b="1" dirty="0"/>
              <a:t>HTML markup</a:t>
            </a:r>
            <a:r>
              <a:rPr lang="hu-HU" dirty="0"/>
              <a:t>ot kombinálnak</a:t>
            </a:r>
          </a:p>
          <a:p>
            <a:r>
              <a:rPr lang="hu-HU" dirty="0"/>
              <a:t>Könnyen tanulható</a:t>
            </a:r>
          </a:p>
          <a:p>
            <a:endParaRPr lang="hu-HU" dirty="0"/>
          </a:p>
        </p:txBody>
      </p:sp>
      <p:pic>
        <p:nvPicPr>
          <p:cNvPr id="6146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41BF6FD1-5EFD-44C4-898A-C205033D808D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4742" y="2662844"/>
            <a:ext cx="2667372" cy="2676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9760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5FB818A-8187-40E4-A325-968E10318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C#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44E8C85-258C-4A3B-9F95-8482285C7C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216" cy="3854206"/>
          </a:xfrm>
        </p:spPr>
        <p:txBody>
          <a:bodyPr>
            <a:normAutofit/>
          </a:bodyPr>
          <a:lstStyle/>
          <a:p>
            <a:r>
              <a:rPr lang="hu-HU" b="1" dirty="0"/>
              <a:t>Objektumorientált </a:t>
            </a:r>
            <a:r>
              <a:rPr lang="hu-HU" dirty="0"/>
              <a:t>programozási nyelv</a:t>
            </a:r>
          </a:p>
          <a:p>
            <a:r>
              <a:rPr lang="hu-HU" b="1" dirty="0"/>
              <a:t>Asztali alkalmazások </a:t>
            </a:r>
            <a:r>
              <a:rPr lang="hu-HU" dirty="0"/>
              <a:t>fejlesztése</a:t>
            </a:r>
          </a:p>
          <a:p>
            <a:r>
              <a:rPr lang="hu-HU" b="1" dirty="0"/>
              <a:t>Backend</a:t>
            </a:r>
            <a:r>
              <a:rPr lang="hu-HU" dirty="0"/>
              <a:t> rendszerek</a:t>
            </a:r>
          </a:p>
          <a:p>
            <a:r>
              <a:rPr lang="hu-HU" b="1" dirty="0"/>
              <a:t>Osztály</a:t>
            </a:r>
            <a:r>
              <a:rPr lang="hu-HU" dirty="0"/>
              <a:t> (class) – program alapegysége</a:t>
            </a:r>
          </a:p>
          <a:p>
            <a:r>
              <a:rPr lang="hu-HU" b="1" dirty="0"/>
              <a:t>Metódus (method)</a:t>
            </a:r>
            <a:r>
              <a:rPr lang="hu-HU" dirty="0"/>
              <a:t> – művelet végrehajtása</a:t>
            </a:r>
          </a:p>
          <a:p>
            <a:r>
              <a:rPr lang="hu-HU" b="1" dirty="0"/>
              <a:t>Objektum</a:t>
            </a:r>
            <a:r>
              <a:rPr lang="hu-HU" dirty="0"/>
              <a:t> – egy osztály példánya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2051" name="Picture 3">
            <a:extLst>
              <a:ext uri="{FF2B5EF4-FFF2-40B4-BE49-F238E27FC236}">
                <a16:creationId xmlns:a16="http://schemas.microsoft.com/office/drawing/2014/main" id="{5E40A14A-EAE9-48D9-BDC6-B37E2AC53B9C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2462" y="1577059"/>
            <a:ext cx="4351338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17393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D008545-464B-41ED-9A58-F60D85651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XAMPP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658FA1B-4B84-4442-8085-E215854563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057" y="1825625"/>
            <a:ext cx="8055429" cy="4047637"/>
          </a:xfrm>
        </p:spPr>
        <p:txBody>
          <a:bodyPr>
            <a:noAutofit/>
          </a:bodyPr>
          <a:lstStyle/>
          <a:p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Az </a:t>
            </a: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XAMPP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egy ingyenes és nyílt forráskódú szoftvercsomag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X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bármilyen operációs rendszer (Windows, Linux)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Apache (webszerver)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MySQL vagy MariaDB (adatbázis-kezelő rendszer)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PHP (szerveroldali programozási nyelv)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Perl (szintén programozási nyelv)</a:t>
            </a:r>
            <a:r>
              <a:rPr lang="hu-HU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hu-HU" sz="24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Segítségével </a:t>
            </a: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egyszerűen l</a:t>
            </a:r>
            <a:r>
              <a:rPr lang="hu-HU" sz="2400" b="1" dirty="0">
                <a:solidFill>
                  <a:srgbClr val="000000"/>
                </a:solidFill>
              </a:rPr>
              <a:t>étrehozható </a:t>
            </a:r>
            <a:r>
              <a:rPr lang="hu-HU" sz="2400" dirty="0">
                <a:solidFill>
                  <a:srgbClr val="000000"/>
                </a:solidFill>
              </a:rPr>
              <a:t>egy </a:t>
            </a:r>
            <a:r>
              <a:rPr lang="hu-HU" sz="2400" b="1" dirty="0">
                <a:solidFill>
                  <a:srgbClr val="000000"/>
                </a:solidFill>
              </a:rPr>
              <a:t>helyi webszerver</a:t>
            </a:r>
          </a:p>
          <a:p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 fejlesztők </a:t>
            </a: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helyben futtathatják 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</a:t>
            </a:r>
            <a:r>
              <a:rPr lang="hu-HU" sz="2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tesztelhetik</a:t>
            </a:r>
            <a:r>
              <a:rPr lang="hu-HU" sz="2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webes alkalmazásaikat a felületen</a:t>
            </a:r>
            <a:endParaRPr lang="hu-HU" sz="2400" dirty="0">
              <a:solidFill>
                <a:srgbClr val="000000"/>
              </a:solidFill>
            </a:endParaRPr>
          </a:p>
        </p:txBody>
      </p:sp>
      <p:pic>
        <p:nvPicPr>
          <p:cNvPr id="307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0232ACF3-161E-4534-9268-5243A5FB3223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0491" y="2590443"/>
            <a:ext cx="2795452" cy="282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710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C307D6-464B-4532-96E8-F8D087B37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MySQL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11B29F4-E1E8-4C39-86FB-2E704EB1DE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781800" cy="4012467"/>
          </a:xfrm>
        </p:spPr>
        <p:txBody>
          <a:bodyPr/>
          <a:lstStyle/>
          <a:p>
            <a:r>
              <a:rPr lang="hu-HU" dirty="0"/>
              <a:t>A </a:t>
            </a:r>
            <a:r>
              <a:rPr lang="hu-HU" b="1" dirty="0"/>
              <a:t>MySQL</a:t>
            </a:r>
            <a:r>
              <a:rPr lang="hu-HU" dirty="0"/>
              <a:t> egy nyílt forráskódú relációs adatbázis-kezelő rendszer</a:t>
            </a:r>
          </a:p>
          <a:p>
            <a:r>
              <a:rPr lang="hu-HU" dirty="0"/>
              <a:t>Az adatok </a:t>
            </a:r>
            <a:r>
              <a:rPr lang="hu-HU" b="1" dirty="0"/>
              <a:t>táblákban</a:t>
            </a:r>
            <a:r>
              <a:rPr lang="hu-HU" dirty="0"/>
              <a:t> kerülnek tárolásra</a:t>
            </a:r>
          </a:p>
          <a:p>
            <a:r>
              <a:rPr lang="hu-HU" dirty="0"/>
              <a:t>Strukturált lekérdezési nyelvet (</a:t>
            </a:r>
            <a:r>
              <a:rPr lang="hu-HU" b="1" dirty="0"/>
              <a:t>SQL</a:t>
            </a:r>
            <a:r>
              <a:rPr lang="hu-HU" dirty="0"/>
              <a:t>) használja az adatok lekérdezésére, módosítására és kezelésére​</a:t>
            </a:r>
          </a:p>
          <a:p>
            <a:r>
              <a:rPr lang="hu-HU" dirty="0"/>
              <a:t>Gyakran használatos </a:t>
            </a:r>
            <a:r>
              <a:rPr lang="hu-HU" b="1" dirty="0"/>
              <a:t>PHP</a:t>
            </a:r>
            <a:r>
              <a:rPr lang="hu-HU" dirty="0"/>
              <a:t> </a:t>
            </a:r>
            <a:r>
              <a:rPr lang="hu-HU" b="1" dirty="0"/>
              <a:t>alapú weboldalak </a:t>
            </a:r>
            <a:r>
              <a:rPr lang="hu-HU" dirty="0"/>
              <a:t>és </a:t>
            </a:r>
            <a:r>
              <a:rPr lang="hu-HU" b="1" dirty="0"/>
              <a:t>dinamikus alkalmazások</a:t>
            </a:r>
            <a:r>
              <a:rPr lang="hu-HU" dirty="0"/>
              <a:t> adatbázisaként pl.:</a:t>
            </a:r>
            <a:r>
              <a:rPr lang="hu-HU" dirty="0">
                <a:sym typeface="Wingdings" panose="05000000000000000000" pitchFamily="2" charset="2"/>
              </a:rPr>
              <a:t>(</a:t>
            </a:r>
            <a:r>
              <a:rPr lang="hu-HU" b="1" dirty="0">
                <a:sym typeface="Wingdings" panose="05000000000000000000" pitchFamily="2" charset="2"/>
              </a:rPr>
              <a:t>WordPress</a:t>
            </a:r>
            <a:r>
              <a:rPr lang="hu-HU" dirty="0">
                <a:sym typeface="Wingdings" panose="05000000000000000000" pitchFamily="2" charset="2"/>
              </a:rPr>
              <a:t>)</a:t>
            </a:r>
            <a:endParaRPr lang="hu-HU" dirty="0"/>
          </a:p>
        </p:txBody>
      </p:sp>
      <p:pic>
        <p:nvPicPr>
          <p:cNvPr id="4100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98D544E-7498-47E6-9F07-3CFB0FBA0C37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9345" y="2464912"/>
            <a:ext cx="3072763" cy="3072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20708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79052FA-7280-4750-96F9-85B2FFA30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Node Package Manager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14CC74-C4D5-482A-AE6B-5514A6F6BC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154783" cy="4081622"/>
          </a:xfrm>
        </p:spPr>
        <p:txBody>
          <a:bodyPr>
            <a:normAutofit lnSpcReduction="10000"/>
          </a:bodyPr>
          <a:lstStyle/>
          <a:p>
            <a:r>
              <a:rPr lang="hu-HU" b="1" dirty="0"/>
              <a:t>Node Package Manager (npm)</a:t>
            </a:r>
          </a:p>
          <a:p>
            <a:r>
              <a:rPr lang="hu-HU" b="1" dirty="0"/>
              <a:t>Node.js </a:t>
            </a:r>
            <a:r>
              <a:rPr lang="hu-HU" dirty="0"/>
              <a:t>platformhoz tartozó </a:t>
            </a:r>
            <a:r>
              <a:rPr lang="hu-HU" b="1" dirty="0"/>
              <a:t>csomagkezelő rendszer</a:t>
            </a:r>
          </a:p>
          <a:p>
            <a:r>
              <a:rPr lang="hu-HU" b="1" dirty="0"/>
              <a:t>JavaScript</a:t>
            </a:r>
            <a:r>
              <a:rPr lang="hu-HU" dirty="0"/>
              <a:t> és </a:t>
            </a:r>
            <a:r>
              <a:rPr lang="hu-HU" b="1" dirty="0"/>
              <a:t>TypeScript</a:t>
            </a:r>
            <a:r>
              <a:rPr lang="hu-HU" dirty="0"/>
              <a:t> alapú projektekben használnak​</a:t>
            </a:r>
          </a:p>
          <a:p>
            <a:r>
              <a:rPr lang="hu-HU" dirty="0"/>
              <a:t>Segítségével könnyen telepíthetőek, frissíthetőek és kezelhetőek különböző </a:t>
            </a:r>
            <a:r>
              <a:rPr lang="hu-HU" b="1" dirty="0"/>
              <a:t>modulok</a:t>
            </a:r>
            <a:r>
              <a:rPr lang="hu-HU" dirty="0"/>
              <a:t>, </a:t>
            </a:r>
            <a:r>
              <a:rPr lang="hu-HU" b="1" dirty="0"/>
              <a:t>könyvtárak</a:t>
            </a:r>
          </a:p>
          <a:p>
            <a:r>
              <a:rPr lang="hu-HU" dirty="0"/>
              <a:t>Kulcsszerepet játszik modern keretrendszerekben pl.: Angular, React</a:t>
            </a:r>
          </a:p>
        </p:txBody>
      </p:sp>
      <p:pic>
        <p:nvPicPr>
          <p:cNvPr id="8194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27C619E-B8F0-46E8-B597-84C3FA91AEB9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3368" y="2540431"/>
            <a:ext cx="3366816" cy="3366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47768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44EC5D3-BE0C-4D6C-8A5C-DB7316943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Node.js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680158E-DA1B-4781-AEEB-E7A506A88E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854859" cy="4144352"/>
          </a:xfrm>
        </p:spPr>
        <p:txBody>
          <a:bodyPr>
            <a:normAutofit fontScale="92500" lnSpcReduction="10000"/>
          </a:bodyPr>
          <a:lstStyle/>
          <a:p>
            <a:r>
              <a:rPr lang="hu-HU" dirty="0"/>
              <a:t>A </a:t>
            </a:r>
            <a:r>
              <a:rPr lang="hu-HU" b="1" dirty="0"/>
              <a:t>Node.js </a:t>
            </a:r>
            <a:r>
              <a:rPr lang="hu-HU" dirty="0"/>
              <a:t>egy nyílt forráskódú, </a:t>
            </a:r>
            <a:r>
              <a:rPr lang="hu-HU" b="1" dirty="0"/>
              <a:t>JavaScript-alapú </a:t>
            </a:r>
            <a:r>
              <a:rPr lang="hu-HU" dirty="0"/>
              <a:t>futtatókörnyezet</a:t>
            </a:r>
          </a:p>
          <a:p>
            <a:r>
              <a:rPr lang="hu-HU" dirty="0"/>
              <a:t>Lehetővé teszi, hogy a </a:t>
            </a:r>
            <a:r>
              <a:rPr lang="hu-HU" b="1" dirty="0"/>
              <a:t>JavaScriptet</a:t>
            </a:r>
            <a:r>
              <a:rPr lang="hu-HU" dirty="0"/>
              <a:t> ne csak a böngészőben, hanem a </a:t>
            </a:r>
            <a:r>
              <a:rPr lang="hu-HU" b="1" dirty="0"/>
              <a:t>szerveroldalon</a:t>
            </a:r>
            <a:r>
              <a:rPr lang="hu-HU" dirty="0"/>
              <a:t> is használjuk​</a:t>
            </a:r>
          </a:p>
          <a:p>
            <a:r>
              <a:rPr lang="hu-HU" dirty="0"/>
              <a:t>A </a:t>
            </a:r>
            <a:r>
              <a:rPr lang="hu-HU" b="1" dirty="0"/>
              <a:t>Node.js</a:t>
            </a:r>
            <a:r>
              <a:rPr lang="hu-HU" dirty="0"/>
              <a:t> a </a:t>
            </a:r>
            <a:r>
              <a:rPr lang="hu-HU" b="1" dirty="0"/>
              <a:t>Google Chrome</a:t>
            </a:r>
            <a:r>
              <a:rPr lang="hu-HU" dirty="0"/>
              <a:t> motorjára épül</a:t>
            </a:r>
          </a:p>
          <a:p>
            <a:r>
              <a:rPr lang="hu-HU" b="1" dirty="0"/>
              <a:t>Jól skálázható </a:t>
            </a:r>
            <a:r>
              <a:rPr lang="hu-HU" dirty="0"/>
              <a:t>– gyakran alkalmazzák </a:t>
            </a:r>
            <a:r>
              <a:rPr lang="hu-HU" b="1" dirty="0"/>
              <a:t>chatprogramok</a:t>
            </a:r>
            <a:r>
              <a:rPr lang="hu-HU" dirty="0"/>
              <a:t> vagy </a:t>
            </a:r>
            <a:r>
              <a:rPr lang="hu-HU" b="1" dirty="0"/>
              <a:t>online játékok </a:t>
            </a:r>
            <a:r>
              <a:rPr lang="hu-HU" dirty="0"/>
              <a:t>fejlesztésére</a:t>
            </a:r>
          </a:p>
          <a:p>
            <a:r>
              <a:rPr lang="hu-HU" dirty="0"/>
              <a:t>A </a:t>
            </a:r>
            <a:r>
              <a:rPr lang="hu-HU" b="1" dirty="0"/>
              <a:t>Node.js </a:t>
            </a:r>
            <a:r>
              <a:rPr lang="hu-HU" dirty="0"/>
              <a:t>szorosan </a:t>
            </a:r>
            <a:r>
              <a:rPr lang="hu-HU" b="1" dirty="0"/>
              <a:t>együttműködik</a:t>
            </a:r>
            <a:r>
              <a:rPr lang="hu-HU" dirty="0"/>
              <a:t> az </a:t>
            </a:r>
            <a:r>
              <a:rPr lang="hu-HU" b="1" dirty="0"/>
              <a:t>npm csomagkezelővel</a:t>
            </a:r>
          </a:p>
          <a:p>
            <a:endParaRPr lang="hu-HU" dirty="0"/>
          </a:p>
        </p:txBody>
      </p:sp>
      <p:pic>
        <p:nvPicPr>
          <p:cNvPr id="7170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B84397AA-5833-4C2D-9DED-1FAD9462716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3059" y="2742122"/>
            <a:ext cx="3660741" cy="2628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51242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hardwarekövetelmények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pPr lvl="1"/>
            <a:r>
              <a:rPr lang="hu-HU" dirty="0"/>
              <a:t>Ajánlott: </a:t>
            </a:r>
            <a:r>
              <a:rPr lang="hu-HU" b="1" dirty="0"/>
              <a:t>1.6 GHz</a:t>
            </a:r>
            <a:r>
              <a:rPr lang="hu-HU" dirty="0"/>
              <a:t> vagy gyorsabb, </a:t>
            </a:r>
            <a:r>
              <a:rPr lang="hu-HU" b="1" dirty="0"/>
              <a:t>többmagos</a:t>
            </a:r>
            <a:r>
              <a:rPr lang="hu-HU" dirty="0"/>
              <a:t> </a:t>
            </a:r>
            <a:r>
              <a:rPr lang="hu-HU" b="1" dirty="0"/>
              <a:t>CPU</a:t>
            </a:r>
            <a:r>
              <a:rPr lang="hu-HU" dirty="0"/>
              <a:t>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Minimális sebesség: </a:t>
            </a:r>
            <a:r>
              <a:rPr lang="hu-HU" b="1" dirty="0"/>
              <a:t>2-4 Mbps</a:t>
            </a:r>
            <a:r>
              <a:rPr lang="hu-HU" dirty="0"/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 minimum​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Az oldal előnyben részesíti az olyan böngészőket, amelyek </a:t>
            </a:r>
            <a:r>
              <a:rPr lang="hu-HU" b="1" dirty="0"/>
              <a:t>gyors</a:t>
            </a:r>
            <a:r>
              <a:rPr lang="hu-HU" dirty="0"/>
              <a:t> </a:t>
            </a:r>
            <a:r>
              <a:rPr lang="hu-HU" b="1" dirty="0"/>
              <a:t>JavaScript-futtatást</a:t>
            </a:r>
            <a:r>
              <a:rPr lang="hu-HU" dirty="0"/>
              <a:t> kínálnak​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Mozilla Firefox​</a:t>
            </a:r>
          </a:p>
          <a:p>
            <a:pPr lvl="2"/>
            <a:r>
              <a:rPr lang="hu-HU" dirty="0"/>
              <a:t>Microsoft Edge​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b="1" dirty="0"/>
              <a:t>.env</a:t>
            </a:r>
            <a:r>
              <a:rPr lang="hu-HU" dirty="0"/>
              <a:t> fájl létrehozása a mappán belül:</a:t>
            </a:r>
          </a:p>
          <a:p>
            <a:pPr marL="1428750" lvl="2" indent="-514350">
              <a:buFont typeface="+mj-lt"/>
              <a:buAutoNum type="arabicPeriod"/>
            </a:pPr>
            <a:r>
              <a:rPr lang="hu-HU" dirty="0"/>
              <a:t>.env.example fájl tartalmának átmásolása</a:t>
            </a:r>
          </a:p>
          <a:p>
            <a:pPr marL="1428750" lvl="2" indent="-514350">
              <a:buFont typeface="+mj-lt"/>
              <a:buAutoNum type="arabicPeriod"/>
            </a:pPr>
            <a:r>
              <a:rPr lang="hu-HU" dirty="0"/>
              <a:t>Szükséges adatok megadása:</a:t>
            </a:r>
          </a:p>
          <a:p>
            <a:pPr lvl="3"/>
            <a:r>
              <a:rPr lang="hu-HU" dirty="0"/>
              <a:t>DB_NAME=</a:t>
            </a:r>
            <a:r>
              <a:rPr lang="hu-HU" b="1" dirty="0"/>
              <a:t>parking</a:t>
            </a:r>
            <a:r>
              <a:rPr lang="hu-HU" dirty="0"/>
              <a:t>, DB_USER=</a:t>
            </a:r>
            <a:r>
              <a:rPr lang="hu-HU" b="1" dirty="0"/>
              <a:t>root</a:t>
            </a:r>
            <a:r>
              <a:rPr lang="hu-HU" dirty="0"/>
              <a:t>, DB_PASSWORD=</a:t>
            </a:r>
            <a:r>
              <a:rPr lang="hu-HU" b="1" dirty="0"/>
              <a:t>””</a:t>
            </a:r>
            <a:r>
              <a:rPr lang="hu-HU" dirty="0"/>
              <a:t>, DB_HOST=</a:t>
            </a:r>
            <a:r>
              <a:rPr lang="hu-HU" b="1" dirty="0"/>
              <a:t>localhost</a:t>
            </a:r>
            <a:r>
              <a:rPr lang="hu-HU" dirty="0"/>
              <a:t>, DB_DIALECT=</a:t>
            </a:r>
            <a:r>
              <a:rPr lang="hu-HU" b="1" dirty="0"/>
              <a:t>mysql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Parancsok megadása:</a:t>
            </a:r>
          </a:p>
          <a:p>
            <a:pPr lvl="1"/>
            <a:r>
              <a:rPr lang="hu-HU" dirty="0"/>
              <a:t>Fontos, hogy a parancsokat a </a:t>
            </a:r>
            <a:r>
              <a:rPr lang="hu-HU" b="1" dirty="0"/>
              <a:t>ParKing/main </a:t>
            </a:r>
            <a:r>
              <a:rPr lang="hu-HU" dirty="0"/>
              <a:t>mappán belül kell megadni!</a:t>
            </a:r>
          </a:p>
          <a:p>
            <a:pPr lvl="2"/>
            <a:r>
              <a:rPr lang="hu-HU" b="1" dirty="0"/>
              <a:t>npm update</a:t>
            </a:r>
          </a:p>
          <a:p>
            <a:pPr lvl="2"/>
            <a:r>
              <a:rPr lang="hu-HU" b="1" dirty="0"/>
              <a:t>npm run setup</a:t>
            </a:r>
          </a:p>
          <a:p>
            <a:pPr lvl="2"/>
            <a:r>
              <a:rPr lang="hu-HU" b="1" dirty="0"/>
              <a:t>node server.js</a:t>
            </a:r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8619" y="1514842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2136" y="2449940"/>
            <a:ext cx="5676902" cy="319325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8D477BE-AD14-40F3-A5BE-E4EF282912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6479" y="3299617"/>
            <a:ext cx="5676902" cy="3193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</TotalTime>
  <Words>844</Words>
  <Application>Microsoft Office PowerPoint</Application>
  <PresentationFormat>Szélesvásznú</PresentationFormat>
  <Paragraphs>157</Paragraphs>
  <Slides>20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20</vt:i4>
      </vt:variant>
    </vt:vector>
  </HeadingPairs>
  <TitlesOfParts>
    <vt:vector size="24" baseType="lpstr">
      <vt:lpstr>Arial</vt:lpstr>
      <vt:lpstr>Calibri</vt:lpstr>
      <vt:lpstr>Times New Roman</vt:lpstr>
      <vt:lpstr>Office-téma</vt:lpstr>
      <vt:lpstr>ParKing</vt:lpstr>
      <vt:lpstr>Tartalomjegyzék</vt:lpstr>
      <vt:lpstr>ParKing bemutatása</vt:lpstr>
      <vt:lpstr>A projektben használt webfejlesztési technológiák</vt:lpstr>
      <vt:lpstr>Visual Studio Code</vt:lpstr>
      <vt:lpstr>Visual Studio</vt:lpstr>
      <vt:lpstr>HTML</vt:lpstr>
      <vt:lpstr>CSS</vt:lpstr>
      <vt:lpstr>JavaScript</vt:lpstr>
      <vt:lpstr>SQL</vt:lpstr>
      <vt:lpstr>EJS</vt:lpstr>
      <vt:lpstr>C#</vt:lpstr>
      <vt:lpstr>XAMPP</vt:lpstr>
      <vt:lpstr>MySQL</vt:lpstr>
      <vt:lpstr>Node Package Manager</vt:lpstr>
      <vt:lpstr>Node.js</vt:lpstr>
      <vt:lpstr>Rendszeráttekintés - hardwarekövetelmények</vt:lpstr>
      <vt:lpstr>Rendszeráttekintés - szoftverkövetelmények​</vt:lpstr>
      <vt:lpstr>A weboldal elindítása</vt:lpstr>
      <vt:lpstr>A weboldal bemutatása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37</cp:revision>
  <dcterms:created xsi:type="dcterms:W3CDTF">2026-01-21T10:12:04Z</dcterms:created>
  <dcterms:modified xsi:type="dcterms:W3CDTF">2026-01-23T11:20:30Z</dcterms:modified>
</cp:coreProperties>
</file>