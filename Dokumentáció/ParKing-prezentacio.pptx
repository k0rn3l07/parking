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0" r:id="rId12"/>
    <p:sldId id="271" r:id="rId13"/>
    <p:sldId id="272" r:id="rId14"/>
    <p:sldId id="273" r:id="rId15"/>
    <p:sldId id="267" r:id="rId16"/>
    <p:sldId id="268" r:id="rId1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57" autoAdjust="0"/>
  </p:normalViewPr>
  <p:slideViewPr>
    <p:cSldViewPr snapToGrid="0">
      <p:cViewPr varScale="1">
        <p:scale>
          <a:sx n="109" d="100"/>
          <a:sy n="109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 err="1"/>
              <a:t>Tapolcsányi</a:t>
            </a:r>
            <a:r>
              <a:rPr lang="hu-HU" dirty="0"/>
              <a:t>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ParKing bemutatása</a:t>
            </a:r>
          </a:p>
          <a:p>
            <a:r>
              <a:rPr lang="hu-HU" dirty="0"/>
              <a:t>A projektben használt fejlesztői környezetek és programozási nyelvek</a:t>
            </a:r>
          </a:p>
          <a:p>
            <a:r>
              <a:rPr lang="hu-HU" dirty="0"/>
              <a:t>Rendszeráttekintés</a:t>
            </a: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A projektben használt fejlesztői környezetek és programozási nyelvek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XAMPP</a:t>
            </a:r>
          </a:p>
          <a:p>
            <a:pPr lvl="2"/>
            <a:r>
              <a:rPr lang="hu-HU" sz="2400" dirty="0"/>
              <a:t>MySQL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EJS</a:t>
            </a:r>
          </a:p>
          <a:p>
            <a:pPr lvl="2"/>
            <a:r>
              <a:rPr lang="hu-HU" sz="2400" dirty="0"/>
              <a:t>Node.js</a:t>
            </a:r>
          </a:p>
          <a:p>
            <a:pPr lvl="2"/>
            <a:r>
              <a:rPr lang="hu-HU" sz="2400" dirty="0"/>
              <a:t>npm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HTML5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008545-464B-41ED-9A58-F60D8565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XAMPP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58FA1B-4B84-4442-8085-E215854563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7" y="1825625"/>
            <a:ext cx="8055429" cy="4351338"/>
          </a:xfrm>
        </p:spPr>
        <p:txBody>
          <a:bodyPr>
            <a:noAutofit/>
          </a:bodyPr>
          <a:lstStyle/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Az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XAMPP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egy ingyenes és nyílt forráskódú szoftvercsomag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bármilyen operációs rendszer (Windows, Linux)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Apache (webszerver)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MySQL vagy MariaDB (adatbázis-kezelő rendszer)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PHP (szerveroldali programozási nyelv)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Perl (szintén programozási nyelv)</a:t>
            </a:r>
            <a:r>
              <a:rPr lang="hu-H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hu-HU" sz="24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Segítségével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egyszerűen l</a:t>
            </a:r>
            <a:r>
              <a:rPr lang="hu-HU" sz="2400" b="1" dirty="0">
                <a:solidFill>
                  <a:srgbClr val="000000"/>
                </a:solidFill>
              </a:rPr>
              <a:t>étrehozható </a:t>
            </a:r>
            <a:r>
              <a:rPr lang="hu-HU" sz="2400" dirty="0">
                <a:solidFill>
                  <a:srgbClr val="000000"/>
                </a:solidFill>
              </a:rPr>
              <a:t>egy </a:t>
            </a:r>
            <a:r>
              <a:rPr lang="hu-HU" sz="2400" b="1" dirty="0">
                <a:solidFill>
                  <a:srgbClr val="000000"/>
                </a:solidFill>
              </a:rPr>
              <a:t>helyi webszerver</a:t>
            </a: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fejlesztők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helyben futtathatják 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tesztelhetik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webes alkalmazásaikat a felületen</a:t>
            </a:r>
            <a:endParaRPr lang="hu-HU" sz="2400" dirty="0">
              <a:solidFill>
                <a:srgbClr val="000000"/>
              </a:solidFill>
            </a:endParaRPr>
          </a:p>
        </p:txBody>
      </p:sp>
      <p:pic>
        <p:nvPicPr>
          <p:cNvPr id="307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0232ACF3-161E-4534-9268-5243A5FB322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491" y="2590443"/>
            <a:ext cx="2795452" cy="282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71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C307D6-464B-4532-96E8-F8D087B37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MySQL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1B29F4-E1E8-4C39-86FB-2E704EB1D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81800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MySQL</a:t>
            </a:r>
            <a:r>
              <a:rPr lang="hu-HU" dirty="0"/>
              <a:t> egy nyílt forráskódú relációs adatbázis-kezelő rendszer</a:t>
            </a:r>
          </a:p>
          <a:p>
            <a:r>
              <a:rPr lang="hu-HU" dirty="0"/>
              <a:t>Az adatok </a:t>
            </a:r>
            <a:r>
              <a:rPr lang="hu-HU" b="1" dirty="0"/>
              <a:t>táblákban</a:t>
            </a:r>
            <a:r>
              <a:rPr lang="hu-HU" dirty="0"/>
              <a:t> kerülnek tárolásra</a:t>
            </a:r>
          </a:p>
          <a:p>
            <a:r>
              <a:rPr lang="hu-HU" dirty="0"/>
              <a:t>Strukturált lekérdezési nyelvet (</a:t>
            </a:r>
            <a:r>
              <a:rPr lang="hu-HU" b="1" dirty="0"/>
              <a:t>SQL</a:t>
            </a:r>
            <a:r>
              <a:rPr lang="hu-HU" dirty="0"/>
              <a:t>) használja az adatok lekérdezésére, módosítására és kezelésére​</a:t>
            </a:r>
          </a:p>
          <a:p>
            <a:r>
              <a:rPr lang="hu-HU" dirty="0"/>
              <a:t>Gyakran használatos </a:t>
            </a:r>
            <a:r>
              <a:rPr lang="hu-HU" b="1" dirty="0"/>
              <a:t>PHP</a:t>
            </a:r>
            <a:r>
              <a:rPr lang="hu-HU" dirty="0"/>
              <a:t> </a:t>
            </a:r>
            <a:r>
              <a:rPr lang="hu-HU" b="1" dirty="0"/>
              <a:t>alapú weboldalak </a:t>
            </a:r>
            <a:r>
              <a:rPr lang="hu-HU" dirty="0"/>
              <a:t>és </a:t>
            </a:r>
            <a:r>
              <a:rPr lang="hu-HU" b="1" dirty="0"/>
              <a:t>dinamikus alkalmazások</a:t>
            </a:r>
            <a:r>
              <a:rPr lang="hu-HU" dirty="0"/>
              <a:t> adatbázisaként pl.:</a:t>
            </a:r>
            <a:r>
              <a:rPr lang="hu-HU" dirty="0">
                <a:sym typeface="Wingdings" panose="05000000000000000000" pitchFamily="2" charset="2"/>
              </a:rPr>
              <a:t>(</a:t>
            </a:r>
            <a:r>
              <a:rPr lang="hu-HU" b="1" dirty="0">
                <a:sym typeface="Wingdings" panose="05000000000000000000" pitchFamily="2" charset="2"/>
              </a:rPr>
              <a:t>WordPress</a:t>
            </a:r>
            <a:r>
              <a:rPr lang="hu-HU" dirty="0">
                <a:sym typeface="Wingdings" panose="05000000000000000000" pitchFamily="2" charset="2"/>
              </a:rPr>
              <a:t>)</a:t>
            </a:r>
            <a:endParaRPr lang="hu-HU" dirty="0"/>
          </a:p>
        </p:txBody>
      </p:sp>
      <p:pic>
        <p:nvPicPr>
          <p:cNvPr id="4100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98D544E-7498-47E6-9F07-3CFB0FBA0C3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345" y="2464912"/>
            <a:ext cx="3072763" cy="307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2070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6671AA-82B3-4D47-8770-4A1A72DE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Visual Studio Code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2EB196-65E0-445A-9403-9E52C7D6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89617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Visual Studio Code</a:t>
            </a:r>
            <a:r>
              <a:rPr lang="hu-HU" dirty="0"/>
              <a:t> egy ingyenes, nyílt forráskódú fejlesztői környezet</a:t>
            </a:r>
          </a:p>
          <a:p>
            <a:r>
              <a:rPr lang="hu-HU" dirty="0"/>
              <a:t>Széles körben használják különböző </a:t>
            </a:r>
            <a:r>
              <a:rPr lang="hu-HU" b="1" dirty="0"/>
              <a:t>programozási nyelvekhez</a:t>
            </a:r>
            <a:r>
              <a:rPr lang="hu-HU" dirty="0"/>
              <a:t>, például </a:t>
            </a:r>
            <a:r>
              <a:rPr lang="hu-HU" b="1" dirty="0"/>
              <a:t>Python, JavaScript, C++, PHP</a:t>
            </a:r>
            <a:r>
              <a:rPr lang="hu-HU" dirty="0"/>
              <a:t> és </a:t>
            </a:r>
            <a:r>
              <a:rPr lang="hu-HU" b="1" dirty="0"/>
              <a:t>HTML/CSS </a:t>
            </a:r>
            <a:r>
              <a:rPr lang="hu-HU" dirty="0"/>
              <a:t>fejlesztéséhez</a:t>
            </a:r>
          </a:p>
          <a:p>
            <a:r>
              <a:rPr lang="hu-HU" dirty="0"/>
              <a:t>Egyszerű kezelőfelület</a:t>
            </a:r>
          </a:p>
          <a:p>
            <a:r>
              <a:rPr lang="hu-HU" dirty="0"/>
              <a:t>Beépített terminál</a:t>
            </a:r>
          </a:p>
          <a:p>
            <a:endParaRPr lang="hu-HU" dirty="0"/>
          </a:p>
        </p:txBody>
      </p:sp>
      <p:pic>
        <p:nvPicPr>
          <p:cNvPr id="5122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4194B34-95C7-40C0-9C4E-C82D70EEF37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248" y="2113018"/>
            <a:ext cx="3776552" cy="3776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0344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DDA91B-E3C5-4F19-9176-E321110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EJS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438B136-DE12-407E-AB47-50C57564E6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250578" cy="4351338"/>
          </a:xfrm>
        </p:spPr>
        <p:txBody>
          <a:bodyPr>
            <a:normAutofit/>
          </a:bodyPr>
          <a:lstStyle/>
          <a:p>
            <a:r>
              <a:rPr lang="hu-HU" dirty="0"/>
              <a:t>Könnyen használható, szerveroldali sablonmotor</a:t>
            </a:r>
            <a:endParaRPr lang="hu-HU" b="1" dirty="0"/>
          </a:p>
          <a:p>
            <a:r>
              <a:rPr lang="hu-HU" b="1" dirty="0"/>
              <a:t>Embedded JavaScript Templates</a:t>
            </a:r>
          </a:p>
          <a:p>
            <a:r>
              <a:rPr lang="hu-HU" dirty="0"/>
              <a:t>Lehetővé teszi </a:t>
            </a:r>
            <a:r>
              <a:rPr lang="hu-HU" b="1" dirty="0"/>
              <a:t>dinamikus</a:t>
            </a:r>
            <a:r>
              <a:rPr lang="hu-HU" dirty="0"/>
              <a:t> </a:t>
            </a:r>
            <a:r>
              <a:rPr lang="hu-HU" b="1" dirty="0"/>
              <a:t>HTML</a:t>
            </a:r>
            <a:r>
              <a:rPr lang="hu-HU" dirty="0"/>
              <a:t> oldalak generálását </a:t>
            </a:r>
            <a:r>
              <a:rPr lang="hu-HU" b="1" dirty="0"/>
              <a:t>JavaScript</a:t>
            </a:r>
            <a:r>
              <a:rPr lang="hu-HU" dirty="0"/>
              <a:t> használatával​</a:t>
            </a:r>
          </a:p>
          <a:p>
            <a:r>
              <a:rPr lang="hu-HU" dirty="0"/>
              <a:t>A sablonok </a:t>
            </a:r>
            <a:r>
              <a:rPr lang="hu-HU" b="1" dirty="0"/>
              <a:t>’.ejs’ </a:t>
            </a:r>
            <a:r>
              <a:rPr lang="hu-HU" dirty="0"/>
              <a:t>kiterjesztést kapnak</a:t>
            </a:r>
          </a:p>
          <a:p>
            <a:r>
              <a:rPr lang="hu-HU" b="1" dirty="0"/>
              <a:t>HTML markup</a:t>
            </a:r>
            <a:r>
              <a:rPr lang="hu-HU" dirty="0"/>
              <a:t>ot kombinálnak</a:t>
            </a:r>
          </a:p>
          <a:p>
            <a:r>
              <a:rPr lang="hu-HU" dirty="0"/>
              <a:t>Könnyen tanulható</a:t>
            </a:r>
          </a:p>
          <a:p>
            <a:endParaRPr lang="hu-HU" dirty="0"/>
          </a:p>
        </p:txBody>
      </p:sp>
      <p:pic>
        <p:nvPicPr>
          <p:cNvPr id="6146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41BF6FD1-5EFD-44C4-898A-C205033D808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4742" y="2662844"/>
            <a:ext cx="2667372" cy="2676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976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4EC5D3-BE0C-4D6C-8A5C-DB7316943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Node.js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680158E-DA1B-4781-AEEB-E7A506A88E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854859" cy="4351338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egy nyílt forráskódú, </a:t>
            </a:r>
            <a:r>
              <a:rPr lang="hu-HU" b="1" dirty="0"/>
              <a:t>JavaScript-alapú </a:t>
            </a:r>
            <a:r>
              <a:rPr lang="hu-HU" dirty="0"/>
              <a:t>futtatókörnyezet</a:t>
            </a:r>
          </a:p>
          <a:p>
            <a:r>
              <a:rPr lang="hu-HU" dirty="0"/>
              <a:t>Lehetővé teszi, hogy a </a:t>
            </a:r>
            <a:r>
              <a:rPr lang="hu-HU" b="1" dirty="0"/>
              <a:t>JavaScriptet</a:t>
            </a:r>
            <a:r>
              <a:rPr lang="hu-HU" dirty="0"/>
              <a:t> ne csak a böngészőben, hanem a </a:t>
            </a:r>
            <a:r>
              <a:rPr lang="hu-HU" b="1" dirty="0"/>
              <a:t>szerveroldalon</a:t>
            </a:r>
            <a:r>
              <a:rPr lang="hu-HU" dirty="0"/>
              <a:t> is használjuk​</a:t>
            </a:r>
          </a:p>
          <a:p>
            <a:r>
              <a:rPr lang="hu-HU" dirty="0"/>
              <a:t>A </a:t>
            </a:r>
            <a:r>
              <a:rPr lang="hu-HU" b="1" dirty="0"/>
              <a:t>Node.js</a:t>
            </a:r>
            <a:r>
              <a:rPr lang="hu-HU" dirty="0"/>
              <a:t> a </a:t>
            </a:r>
            <a:r>
              <a:rPr lang="hu-HU" b="1" dirty="0"/>
              <a:t>Google Chrome</a:t>
            </a:r>
            <a:r>
              <a:rPr lang="hu-HU" dirty="0"/>
              <a:t> motorjára épül</a:t>
            </a:r>
          </a:p>
          <a:p>
            <a:r>
              <a:rPr lang="hu-HU" b="1" dirty="0"/>
              <a:t>Jól skálázható </a:t>
            </a:r>
            <a:r>
              <a:rPr lang="hu-HU" dirty="0"/>
              <a:t>– gyakran alkalmazzák </a:t>
            </a:r>
            <a:r>
              <a:rPr lang="hu-HU" b="1" dirty="0"/>
              <a:t>chatprogramok</a:t>
            </a:r>
            <a:r>
              <a:rPr lang="hu-HU" dirty="0"/>
              <a:t> vagy </a:t>
            </a:r>
            <a:r>
              <a:rPr lang="hu-HU" b="1" dirty="0"/>
              <a:t>online játékok </a:t>
            </a:r>
            <a:r>
              <a:rPr lang="hu-HU" dirty="0"/>
              <a:t>fejlesztésére</a:t>
            </a:r>
          </a:p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szorosan </a:t>
            </a:r>
            <a:r>
              <a:rPr lang="hu-HU" b="1" dirty="0"/>
              <a:t>együttműködik</a:t>
            </a:r>
            <a:r>
              <a:rPr lang="hu-HU" dirty="0"/>
              <a:t> az </a:t>
            </a:r>
            <a:r>
              <a:rPr lang="hu-HU" b="1" dirty="0"/>
              <a:t>npm csomagkezelővel</a:t>
            </a:r>
          </a:p>
          <a:p>
            <a:endParaRPr lang="hu-HU" dirty="0"/>
          </a:p>
        </p:txBody>
      </p:sp>
      <p:pic>
        <p:nvPicPr>
          <p:cNvPr id="7170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B84397AA-5833-4C2D-9DED-1FAD9462716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3059" y="2742122"/>
            <a:ext cx="3660741" cy="262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124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9052FA-7280-4750-96F9-85B2FFA3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NPM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14CC74-C4D5-482A-AE6B-5514A6F6B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54783" cy="4351338"/>
          </a:xfrm>
        </p:spPr>
        <p:txBody>
          <a:bodyPr>
            <a:normAutofit/>
          </a:bodyPr>
          <a:lstStyle/>
          <a:p>
            <a:r>
              <a:rPr lang="hu-HU" b="1" dirty="0"/>
              <a:t>Node.js </a:t>
            </a:r>
            <a:r>
              <a:rPr lang="hu-HU" dirty="0"/>
              <a:t>platformhoz tartozó </a:t>
            </a:r>
            <a:r>
              <a:rPr lang="hu-HU" b="1" dirty="0"/>
              <a:t>csomagkezelő rendszer</a:t>
            </a:r>
          </a:p>
          <a:p>
            <a:r>
              <a:rPr lang="hu-HU" b="1" dirty="0"/>
              <a:t>JavaScript</a:t>
            </a:r>
            <a:r>
              <a:rPr lang="hu-HU" dirty="0"/>
              <a:t> és </a:t>
            </a:r>
            <a:r>
              <a:rPr lang="hu-HU" b="1" dirty="0"/>
              <a:t>TypeScript</a:t>
            </a:r>
            <a:r>
              <a:rPr lang="hu-HU" dirty="0"/>
              <a:t> alapú projektekben használnak​</a:t>
            </a:r>
          </a:p>
          <a:p>
            <a:r>
              <a:rPr lang="hu-HU" dirty="0"/>
              <a:t>Segítségével könnyen telepíthetőek, frissíthetőek és kezelhetőek különböző </a:t>
            </a:r>
            <a:r>
              <a:rPr lang="hu-HU" b="1" dirty="0"/>
              <a:t>modulok</a:t>
            </a:r>
            <a:r>
              <a:rPr lang="hu-HU" dirty="0"/>
              <a:t>, </a:t>
            </a:r>
            <a:r>
              <a:rPr lang="hu-HU" b="1" dirty="0"/>
              <a:t>könyvtárak</a:t>
            </a:r>
          </a:p>
          <a:p>
            <a:r>
              <a:rPr lang="hu-HU" dirty="0"/>
              <a:t>Kulcsszerepet játszik modern keretrendszerekben pl.: Angular, React</a:t>
            </a:r>
          </a:p>
        </p:txBody>
      </p:sp>
      <p:pic>
        <p:nvPicPr>
          <p:cNvPr id="8194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27C619E-B8F0-46E8-B597-84C3FA91AEB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368" y="2540431"/>
            <a:ext cx="3366816" cy="3366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776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C8D12D-6C90-4E0A-A623-F709589B7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HTML5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A990279-5021-463C-8D5A-8DECE415F4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82395" cy="4557758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HyperText Markup Language</a:t>
            </a:r>
          </a:p>
          <a:p>
            <a:r>
              <a:rPr lang="hu-HU" b="1" dirty="0"/>
              <a:t>Weboldalak</a:t>
            </a:r>
            <a:r>
              <a:rPr lang="hu-HU" dirty="0"/>
              <a:t> és webes alkalmazások készítésére használnak.</a:t>
            </a:r>
          </a:p>
          <a:p>
            <a:r>
              <a:rPr lang="hu-HU" b="1" dirty="0"/>
              <a:t>Tartalom megjelenítése</a:t>
            </a:r>
            <a:r>
              <a:rPr lang="hu-HU" dirty="0"/>
              <a:t>: szöveg, képek, videók, linkek</a:t>
            </a:r>
          </a:p>
          <a:p>
            <a:r>
              <a:rPr lang="hu-HU" b="1" dirty="0"/>
              <a:t>Szerkezet kialakítása</a:t>
            </a:r>
            <a:r>
              <a:rPr lang="hu-HU" dirty="0"/>
              <a:t>: címek, bekezdések, listák, táblázatok</a:t>
            </a:r>
          </a:p>
          <a:p>
            <a:r>
              <a:rPr lang="hu-HU" b="1" dirty="0"/>
              <a:t>Linkelés</a:t>
            </a:r>
            <a:r>
              <a:rPr lang="hu-HU" dirty="0"/>
              <a:t>: oldalak összekapcsolása (hiperhivatkozások)</a:t>
            </a:r>
          </a:p>
          <a:p>
            <a:r>
              <a:rPr lang="hu-HU" b="1" dirty="0"/>
              <a:t>Űrlapok</a:t>
            </a:r>
            <a:r>
              <a:rPr lang="hu-HU" dirty="0"/>
              <a:t>: bejelentkezés, regisztráció, keresés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D66D0830-2FEF-41EB-8F66-886D742D73A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4889" y="2697458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84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3DEFC1-5713-4667-AA91-D5948EC16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CSS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007366-14AD-4673-8BB0-5AF3CC2802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80611" cy="4351338"/>
          </a:xfrm>
        </p:spPr>
        <p:txBody>
          <a:bodyPr/>
          <a:lstStyle/>
          <a:p>
            <a:r>
              <a:rPr lang="hu-HU" b="1" dirty="0"/>
              <a:t>Cascading Style Sheets</a:t>
            </a:r>
          </a:p>
          <a:p>
            <a:r>
              <a:rPr lang="hu-HU" b="1" dirty="0"/>
              <a:t>Kinézet formázása </a:t>
            </a:r>
            <a:r>
              <a:rPr lang="hu-HU" dirty="0"/>
              <a:t>(szövegszín, betűtípus, betűméret, háttérszín…)</a:t>
            </a:r>
          </a:p>
          <a:p>
            <a:r>
              <a:rPr lang="hu-HU" b="1" dirty="0"/>
              <a:t>Elrendezés</a:t>
            </a:r>
            <a:r>
              <a:rPr lang="hu-HU" dirty="0"/>
              <a:t> (középre igazítás, elemek egymás mellett/alatt, oszlopok…)</a:t>
            </a:r>
          </a:p>
          <a:p>
            <a:r>
              <a:rPr lang="hu-HU" b="1" dirty="0"/>
              <a:t>Reszponzív</a:t>
            </a:r>
            <a:r>
              <a:rPr lang="hu-HU" dirty="0"/>
              <a:t> dizájn</a:t>
            </a:r>
          </a:p>
          <a:p>
            <a:r>
              <a:rPr lang="hu-HU" b="1" dirty="0"/>
              <a:t>Átláthatóbb</a:t>
            </a:r>
            <a:r>
              <a:rPr lang="hu-HU" dirty="0"/>
              <a:t> weboldal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E4622C-1D4B-4C5A-A663-6F8CDFE0370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074" y="2110128"/>
            <a:ext cx="2176146" cy="3073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4087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486FBC-1CDA-42DC-80F4-CE7D64C6E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JavaScript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5280050-7E42-44A8-B8D3-E53262A2C1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313023" cy="4351338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Sokoldalú</a:t>
            </a:r>
            <a:r>
              <a:rPr lang="hu-HU" dirty="0"/>
              <a:t> programozási nyelv</a:t>
            </a:r>
          </a:p>
          <a:p>
            <a:r>
              <a:rPr lang="hu-HU" b="1" dirty="0"/>
              <a:t>Interaktív, dinamikus </a:t>
            </a:r>
            <a:r>
              <a:rPr lang="hu-HU" dirty="0"/>
              <a:t>és </a:t>
            </a:r>
            <a:r>
              <a:rPr lang="hu-HU" b="1" dirty="0"/>
              <a:t>modern</a:t>
            </a:r>
            <a:r>
              <a:rPr lang="hu-HU" dirty="0"/>
              <a:t> alkalmazások készítésére használják</a:t>
            </a:r>
          </a:p>
          <a:p>
            <a:r>
              <a:rPr lang="hu-HU" b="1" dirty="0"/>
              <a:t>Komplex alkalmazások </a:t>
            </a:r>
            <a:r>
              <a:rPr lang="hu-HU" dirty="0"/>
              <a:t>fejlesztése (Facebook, YouTube, Gmail)</a:t>
            </a:r>
          </a:p>
          <a:p>
            <a:r>
              <a:rPr lang="hu-HU" b="1" dirty="0"/>
              <a:t>Szerveroldali</a:t>
            </a:r>
            <a:r>
              <a:rPr lang="hu-HU" dirty="0"/>
              <a:t> fejlesztés Node.js segítségével (backend, API, Adatbázis)</a:t>
            </a:r>
          </a:p>
          <a:p>
            <a:r>
              <a:rPr lang="hu-HU" b="1" dirty="0"/>
              <a:t>Mobilalkalmazások</a:t>
            </a:r>
            <a:r>
              <a:rPr lang="hu-HU" dirty="0"/>
              <a:t> (Android, iOs appok)</a:t>
            </a:r>
          </a:p>
          <a:p>
            <a:r>
              <a:rPr lang="hu-HU" b="1" dirty="0"/>
              <a:t>Asztali alkalmazások</a:t>
            </a:r>
          </a:p>
          <a:p>
            <a:r>
              <a:rPr lang="hu-HU" dirty="0"/>
              <a:t>Minden modern böngésző támogatja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3074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676174F6-53DA-4FA2-815C-0A332A532B1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016" y="2565853"/>
            <a:ext cx="2594321" cy="292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28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E5C4D-4ADC-4CA2-A9A1-1A67E7F53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A264D85-B5DD-40ED-90A9-BDFD310B4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269480" cy="4351338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Structured Query Language</a:t>
            </a:r>
          </a:p>
          <a:p>
            <a:r>
              <a:rPr lang="hu-HU" b="1" dirty="0"/>
              <a:t>Adatbázis-kezelő</a:t>
            </a:r>
            <a:r>
              <a:rPr lang="hu-HU" dirty="0"/>
              <a:t> nyelv</a:t>
            </a:r>
          </a:p>
          <a:p>
            <a:r>
              <a:rPr lang="hu-HU" dirty="0"/>
              <a:t>Adatokat lehet </a:t>
            </a:r>
            <a:r>
              <a:rPr lang="hu-HU" b="1" dirty="0"/>
              <a:t>lekérdezni</a:t>
            </a:r>
            <a:r>
              <a:rPr lang="hu-HU" dirty="0"/>
              <a:t>, </a:t>
            </a:r>
            <a:r>
              <a:rPr lang="hu-HU" b="1" dirty="0"/>
              <a:t>módosítani</a:t>
            </a:r>
            <a:r>
              <a:rPr lang="hu-HU" dirty="0"/>
              <a:t> és </a:t>
            </a:r>
            <a:r>
              <a:rPr lang="hu-HU" b="1" dirty="0"/>
              <a:t>kezelni</a:t>
            </a:r>
            <a:r>
              <a:rPr lang="hu-HU" dirty="0"/>
              <a:t> pl.: Felhasználó adatainak tárolása (név, email, jelszó)</a:t>
            </a:r>
          </a:p>
          <a:p>
            <a:r>
              <a:rPr lang="hu-HU" dirty="0"/>
              <a:t>Használható:</a:t>
            </a:r>
          </a:p>
          <a:p>
            <a:pPr lvl="1"/>
            <a:r>
              <a:rPr lang="hu-HU" dirty="0"/>
              <a:t>Weboldalak </a:t>
            </a:r>
            <a:r>
              <a:rPr lang="hu-HU" b="1" dirty="0"/>
              <a:t>backend</a:t>
            </a:r>
            <a:r>
              <a:rPr lang="hu-HU" dirty="0"/>
              <a:t> részében</a:t>
            </a:r>
          </a:p>
          <a:p>
            <a:pPr lvl="1"/>
            <a:r>
              <a:rPr lang="hu-HU" dirty="0"/>
              <a:t>Alkalmazások </a:t>
            </a:r>
            <a:r>
              <a:rPr lang="hu-HU" b="1" dirty="0"/>
              <a:t>adatkezelés</a:t>
            </a:r>
            <a:r>
              <a:rPr lang="hu-HU" dirty="0"/>
              <a:t>éhez </a:t>
            </a:r>
          </a:p>
          <a:p>
            <a:r>
              <a:rPr lang="hu-HU" dirty="0"/>
              <a:t>Gyakori alkalmazások:</a:t>
            </a:r>
          </a:p>
          <a:p>
            <a:pPr lvl="1"/>
            <a:r>
              <a:rPr lang="hu-HU" b="1" dirty="0"/>
              <a:t>MySQL</a:t>
            </a:r>
          </a:p>
          <a:p>
            <a:pPr lvl="1"/>
            <a:r>
              <a:rPr lang="hu-HU" b="1" dirty="0"/>
              <a:t>PostgreSQL</a:t>
            </a:r>
          </a:p>
          <a:p>
            <a:pPr lvl="1"/>
            <a:r>
              <a:rPr lang="hu-HU" b="1" dirty="0"/>
              <a:t>SQLite</a:t>
            </a:r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pic>
        <p:nvPicPr>
          <p:cNvPr id="4098" name="Picture 2" descr="The Best Way to Learn SQL - Learn to code in 30 Days!">
            <a:extLst>
              <a:ext uri="{FF2B5EF4-FFF2-40B4-BE49-F238E27FC236}">
                <a16:creationId xmlns:a16="http://schemas.microsoft.com/office/drawing/2014/main" id="{10528509-BE40-480F-BB3E-17AF99A5656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069" y="2867547"/>
            <a:ext cx="5181600" cy="2720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9916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hardwarekövetelmények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351338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661</Words>
  <Application>Microsoft Office PowerPoint</Application>
  <PresentationFormat>Szélesvásznú</PresentationFormat>
  <Paragraphs>119</Paragraphs>
  <Slides>16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fejlesztői környezetek és programozási nyelvek</vt:lpstr>
      <vt:lpstr>XAMPP</vt:lpstr>
      <vt:lpstr>MySQL</vt:lpstr>
      <vt:lpstr>Visual Studio Code</vt:lpstr>
      <vt:lpstr>EJS</vt:lpstr>
      <vt:lpstr>Node.js</vt:lpstr>
      <vt:lpstr>NPM</vt:lpstr>
      <vt:lpstr>HTML5</vt:lpstr>
      <vt:lpstr>CSS</vt:lpstr>
      <vt:lpstr>JavaScript</vt:lpstr>
      <vt:lpstr>SQL</vt:lpstr>
      <vt:lpstr>Rendszeráttekintés - hardwarekövetelmények</vt:lpstr>
      <vt:lpstr>Rendszeráttekintés - szoftverkövetelmények​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Kala Pál</cp:lastModifiedBy>
  <cp:revision>21</cp:revision>
  <dcterms:created xsi:type="dcterms:W3CDTF">2026-01-21T10:12:04Z</dcterms:created>
  <dcterms:modified xsi:type="dcterms:W3CDTF">2026-01-23T08:28:21Z</dcterms:modified>
</cp:coreProperties>
</file>