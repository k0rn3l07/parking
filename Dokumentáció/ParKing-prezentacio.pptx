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60" r:id="rId5"/>
    <p:sldId id="267" r:id="rId6"/>
    <p:sldId id="268" r:id="rId7"/>
    <p:sldId id="277" r:id="rId8"/>
    <p:sldId id="276" r:id="rId9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6357" autoAdjust="0"/>
  </p:normalViewPr>
  <p:slideViewPr>
    <p:cSldViewPr snapToGrid="0">
      <p:cViewPr varScale="1">
        <p:scale>
          <a:sx n="110" d="100"/>
          <a:sy n="110" d="100"/>
        </p:scale>
        <p:origin x="57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E43DA3-60A0-49BF-B20C-62E8BF76FF0C}" type="datetimeFigureOut">
              <a:rPr lang="hu-HU" smtClean="0"/>
              <a:t>2026.01.26.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23C07E-D996-4915-B0E3-1E8ACA4AF8B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149546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sz="1800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23C07E-D996-4915-B0E3-1E8ACA4AF8BD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939532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619D970-C486-4780-9C5C-CF25745013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312B497-461D-4976-97E3-E56F7F2D0A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 dirty="0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8E097F2-24D0-4CFA-A295-EAAC7A21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94A5E67-F916-46E7-B6F2-9EF03B8A5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3DC4985-8554-4359-B368-5096426DB0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929835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3BFC3B5-BA70-453F-B2B1-41E6BD10F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6DD1146-C5DD-48FC-A7E2-B7B977360E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4EA7A27-A0D6-4941-A7A4-44A66F537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4D266FF-AF67-437D-8FA3-C382FE837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D33E8D7-2CE7-442D-882C-877CAD275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76331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4FEDD21-C29E-4DF4-B101-A83D3C41E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514AA386-6A89-4DC6-9883-2B73296815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12C767E-9D98-4C95-9FC4-A1A8BA165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54A8475-0029-499A-AA4C-448F0AB8D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EB0DCB2-86A3-4E6B-BE5B-1EBD1F557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337066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50DD904-4F65-4A02-B2C1-EBE1943EA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EF8EB0C-5E56-498D-85DA-6C047D5C1E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ADB950F-C565-4B4B-8111-0F85EC31B3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8806001-67EB-459C-90A5-16464CCD2D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2026.01.26.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B62A4F2-C9AA-4C36-BD23-BE4779576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C24277B4-9E3F-4B82-8E4A-EBD2AA47A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355749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48CC3AB-BB1A-4E9C-9DCF-5824D259B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D9E9165A-61B8-422D-AF23-5814A3AA15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0B06BAC6-ADDA-47DA-9801-692FEC365A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684FE0AE-872A-4F81-87B1-23104773AE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BD57E92F-A450-41DE-81D4-FC52711E21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5DFB22DE-66A7-4C14-B294-E31265D74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2026.01.26.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26C10FBF-982E-413F-AF38-65FE7F290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4983E8B7-4FB4-4FF8-81D3-1F712F691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335336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F90BD7C-CC57-4472-AE74-38FB67F20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74A28D1B-2D00-4473-943A-A392B2FEA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2026.01.26.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FADBF0D2-FFEE-4247-9C6A-43C049A85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4E957E21-ED70-46A3-BAF7-3598D06AC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74984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FCA78DC2-85A1-40FB-8470-57E71EAD9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2026.01.26.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41B1D11B-1CFD-4AA7-95FD-8276C9916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8442A6FD-D6D5-4CEE-9AB4-98BE29666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728081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6E82A62-EC3D-435D-B86B-44A38A7B5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DC56A8F-B83A-4545-9209-E153A333E2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FB3F674C-F07D-44F9-84E7-D9C745CD41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E499820E-4EC5-443A-AA1B-4CA89B62F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2026.01.26.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C6B69F2F-DB5F-4FF6-B13A-D1766211D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B63D0A49-429E-4ABB-A4C8-4BAA1DA1E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767791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4029010-7550-439D-AAEB-8DD324833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498E3025-6528-4E1A-A6F8-07E10797F6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0B6FF77-0017-43B8-BC94-EAC1BB8487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247C02A-F214-4083-B8CE-7592256F2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2026.01.26.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9E1869E7-726F-40A3-AEB1-8EE212136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1FC4ACA2-DCD7-4595-AFAF-CE77384CE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092443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C97E6A6-3F8D-4BFC-AF87-8ABC5CBD5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62522D9-5BCE-40BE-A0B8-0C63336639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B131102-FAF5-4BFF-942B-311113E699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0D09130-51E2-49F8-9C09-D9BC188F4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7CA6971-5BE8-4798-8954-D8EF397FC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92527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29FC5308-6916-4A6B-9D71-3381EBA434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DC78A973-7102-4E3F-BBFB-A9C99AE1F0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784DA1C-68F3-4AF8-99EB-7376D3228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2026.01.26.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030B71E-450B-40D6-843A-A69A2568B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830436A-A2EB-4B50-84C9-638F20501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33442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55DE118F-34CF-40F4-B9C1-BE87494E9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dirty="0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03069BD-D938-4701-ADC4-BF81DF8B30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462B740-583A-4F80-8195-C4FD63491A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7BE7DF-DD35-4B2A-8B1D-D401538C2D35}" type="datetimeFigureOut">
              <a:rPr lang="hu-HU" smtClean="0"/>
              <a:t>2026.01.26.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CD48800-AEF6-4511-89EC-24430C443C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8911571-BA21-4EB4-9629-A51A7CB76E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DC7AAC-5C4C-4C07-B1FA-6331DBAB6CE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10972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7" Type="http://schemas.openxmlformats.org/officeDocument/2006/relationships/slide" Target="slide8.xml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slide" Target="slide6.xml"/><Relationship Id="rId4" Type="http://schemas.openxmlformats.org/officeDocument/2006/relationships/slide" Target="slide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33610AF-028B-4672-B501-52286EA4B2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00201"/>
            <a:ext cx="9144000" cy="977778"/>
          </a:xfrm>
        </p:spPr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ParKing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3CECFCDB-F517-4153-97A9-282D2C9962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714015"/>
            <a:ext cx="9144000" cy="2133599"/>
          </a:xfrm>
        </p:spPr>
        <p:txBody>
          <a:bodyPr>
            <a:normAutofit lnSpcReduction="10000"/>
          </a:bodyPr>
          <a:lstStyle/>
          <a:p>
            <a:r>
              <a:rPr lang="hu-HU" dirty="0"/>
              <a:t>Matos Kornél</a:t>
            </a:r>
          </a:p>
          <a:p>
            <a:r>
              <a:rPr lang="hu-HU" dirty="0"/>
              <a:t>Szőnyi Milán</a:t>
            </a:r>
          </a:p>
          <a:p>
            <a:r>
              <a:rPr lang="hu-HU" dirty="0"/>
              <a:t>Tapolcsányi Dávid</a:t>
            </a:r>
          </a:p>
          <a:p>
            <a:endParaRPr lang="hu-HU" dirty="0"/>
          </a:p>
          <a:p>
            <a:r>
              <a:rPr lang="hu-HU" dirty="0"/>
              <a:t>2025/2026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F6AFFE99-4C15-44E8-8BE6-5CB41066EF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384" y="5657492"/>
            <a:ext cx="1091922" cy="963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4732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23E8299-2471-4008-A390-958EF2764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Tartalomjegyzék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5032ED8-90B0-43BE-BBDE-DB9344BD7D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hlinkClick r:id="rId2" action="ppaction://hlinksldjump"/>
              </a:rPr>
              <a:t>ParKing bemutatása</a:t>
            </a:r>
            <a:endParaRPr lang="hu-HU" dirty="0"/>
          </a:p>
          <a:p>
            <a:r>
              <a:rPr lang="hu-HU" dirty="0">
                <a:hlinkClick r:id="rId3" action="ppaction://hlinksldjump"/>
              </a:rPr>
              <a:t>A projektben használt webfejlesztési technológiák</a:t>
            </a:r>
            <a:endParaRPr lang="hu-HU" dirty="0"/>
          </a:p>
          <a:p>
            <a:r>
              <a:rPr lang="hu-HU" dirty="0">
                <a:hlinkClick r:id="rId4" action="ppaction://hlinksldjump"/>
              </a:rPr>
              <a:t>Rendszeráttekintés – hardverkövetelmények</a:t>
            </a:r>
            <a:endParaRPr lang="hu-HU" dirty="0"/>
          </a:p>
          <a:p>
            <a:r>
              <a:rPr lang="hu-HU" dirty="0">
                <a:hlinkClick r:id="rId5" action="ppaction://hlinksldjump"/>
              </a:rPr>
              <a:t>Rendszeráttekintés - szoftverkövetelmények</a:t>
            </a:r>
            <a:endParaRPr lang="hu-HU" dirty="0"/>
          </a:p>
          <a:p>
            <a:r>
              <a:rPr lang="hu-HU" dirty="0">
                <a:hlinkClick r:id="rId6" action="ppaction://hlinksldjump"/>
              </a:rPr>
              <a:t>A weboldal elindítása</a:t>
            </a:r>
            <a:endParaRPr lang="hu-HU" dirty="0"/>
          </a:p>
          <a:p>
            <a:r>
              <a:rPr lang="hu-HU" dirty="0">
                <a:hlinkClick r:id="rId7" action="ppaction://hlinksldjump"/>
              </a:rPr>
              <a:t>A weboldal bemutatása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8025519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B40B292-D450-4B00-9E65-DF08F94CB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ParKing bemutatása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17C2BAF-66BC-48BE-A77A-47CA502B4C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/>
          </a:bodyPr>
          <a:lstStyle/>
          <a:p>
            <a:r>
              <a:rPr lang="hu-HU" dirty="0"/>
              <a:t>A </a:t>
            </a:r>
            <a:r>
              <a:rPr lang="hu-HU" b="1" dirty="0"/>
              <a:t>ParKing</a:t>
            </a:r>
            <a:r>
              <a:rPr lang="hu-HU" dirty="0"/>
              <a:t> egy parkoló bérléssel foglalkozó weboldal​</a:t>
            </a:r>
          </a:p>
          <a:p>
            <a:r>
              <a:rPr lang="hu-HU" dirty="0"/>
              <a:t>A </a:t>
            </a:r>
            <a:r>
              <a:rPr lang="hu-HU" b="1" dirty="0"/>
              <a:t>célja</a:t>
            </a:r>
            <a:r>
              <a:rPr lang="hu-HU" dirty="0"/>
              <a:t>, hogy a felhasználók egyszerűbben tudjanak parkolóhelyet bérelni​</a:t>
            </a:r>
          </a:p>
          <a:p>
            <a:r>
              <a:rPr lang="hu-HU" b="1" dirty="0"/>
              <a:t>Regisztráció</a:t>
            </a:r>
            <a:r>
              <a:rPr lang="hu-HU" dirty="0"/>
              <a:t> és </a:t>
            </a:r>
            <a:r>
              <a:rPr lang="hu-HU" b="1" dirty="0"/>
              <a:t>bejelentkezés</a:t>
            </a:r>
            <a:r>
              <a:rPr lang="hu-HU" dirty="0"/>
              <a:t> után a foglalás elindítható</a:t>
            </a:r>
          </a:p>
          <a:p>
            <a:r>
              <a:rPr lang="hu-HU" dirty="0"/>
              <a:t>Többféle parkolóhely</a:t>
            </a:r>
          </a:p>
          <a:p>
            <a:r>
              <a:rPr lang="hu-HU" b="1" dirty="0"/>
              <a:t>5</a:t>
            </a:r>
            <a:r>
              <a:rPr lang="hu-HU" dirty="0"/>
              <a:t> emelet </a:t>
            </a:r>
          </a:p>
          <a:p>
            <a:endParaRPr lang="hu-HU" dirty="0"/>
          </a:p>
        </p:txBody>
      </p:sp>
      <p:pic>
        <p:nvPicPr>
          <p:cNvPr id="1026" name="Picture 2" descr="A képen embléma, Grafika, szimbólum, clipart látható&#10;&#10;Lehet, hogy az AI által létrehozott tartalom helytelen.">
            <a:extLst>
              <a:ext uri="{FF2B5EF4-FFF2-40B4-BE49-F238E27FC236}">
                <a16:creationId xmlns:a16="http://schemas.microsoft.com/office/drawing/2014/main" id="{D93DF353-B449-4119-BA5C-C3756F1C25B0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4365" y="2091265"/>
            <a:ext cx="4077269" cy="3820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19866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1A3EBB4-209E-4C4A-8963-60A06F01F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242643"/>
            <a:ext cx="12191999" cy="1325563"/>
          </a:xfrm>
        </p:spPr>
        <p:txBody>
          <a:bodyPr/>
          <a:lstStyle/>
          <a:p>
            <a:r>
              <a:rPr lang="hu-HU" b="1" dirty="0"/>
              <a:t>A projektben használt webfejlesztési technológiák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76A86F8-05D4-4037-8E0C-A029DF30BF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30470" y="1825625"/>
            <a:ext cx="5181600" cy="1325563"/>
          </a:xfrm>
        </p:spPr>
        <p:txBody>
          <a:bodyPr>
            <a:normAutofit/>
          </a:bodyPr>
          <a:lstStyle/>
          <a:p>
            <a:pPr lvl="1"/>
            <a:r>
              <a:rPr lang="hu-HU" sz="2800" b="1" dirty="0"/>
              <a:t>Fejlesztői környezetek</a:t>
            </a:r>
            <a:r>
              <a:rPr lang="hu-HU" b="1" dirty="0"/>
              <a:t>:</a:t>
            </a:r>
          </a:p>
          <a:p>
            <a:pPr lvl="2"/>
            <a:r>
              <a:rPr lang="hu-HU" sz="2400" dirty="0"/>
              <a:t>Visual Studio Code</a:t>
            </a:r>
          </a:p>
          <a:p>
            <a:pPr lvl="2"/>
            <a:r>
              <a:rPr lang="hu-HU" sz="2400" dirty="0"/>
              <a:t>Visual Studio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3C452D1-079A-4EC7-9875-40BD3F40FD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2922221"/>
          </a:xfrm>
        </p:spPr>
        <p:txBody>
          <a:bodyPr/>
          <a:lstStyle/>
          <a:p>
            <a:r>
              <a:rPr lang="hu-HU" b="1" dirty="0"/>
              <a:t>Programozási nyelvek</a:t>
            </a:r>
            <a:r>
              <a:rPr lang="hu-HU" sz="2400" b="1" dirty="0"/>
              <a:t>:</a:t>
            </a:r>
          </a:p>
          <a:p>
            <a:pPr lvl="1"/>
            <a:r>
              <a:rPr lang="hu-HU" dirty="0"/>
              <a:t>HTML</a:t>
            </a:r>
          </a:p>
          <a:p>
            <a:pPr lvl="1"/>
            <a:r>
              <a:rPr lang="hu-HU" dirty="0"/>
              <a:t>CSS</a:t>
            </a:r>
          </a:p>
          <a:p>
            <a:pPr lvl="1"/>
            <a:r>
              <a:rPr lang="hu-HU" dirty="0"/>
              <a:t>JavaScript</a:t>
            </a:r>
          </a:p>
          <a:p>
            <a:pPr lvl="1"/>
            <a:r>
              <a:rPr lang="hu-HU" dirty="0"/>
              <a:t>SQL</a:t>
            </a:r>
          </a:p>
          <a:p>
            <a:pPr lvl="1"/>
            <a:r>
              <a:rPr lang="hu-HU" sz="2400" dirty="0"/>
              <a:t>EJS</a:t>
            </a:r>
          </a:p>
          <a:p>
            <a:pPr lvl="1"/>
            <a:r>
              <a:rPr lang="hu-HU" dirty="0"/>
              <a:t>C#</a:t>
            </a:r>
          </a:p>
          <a:p>
            <a:pPr lvl="1"/>
            <a:endParaRPr lang="hu-HU" dirty="0"/>
          </a:p>
        </p:txBody>
      </p:sp>
      <p:sp>
        <p:nvSpPr>
          <p:cNvPr id="5" name="Tartalom helye 3">
            <a:extLst>
              <a:ext uri="{FF2B5EF4-FFF2-40B4-BE49-F238E27FC236}">
                <a16:creationId xmlns:a16="http://schemas.microsoft.com/office/drawing/2014/main" id="{D54CD32B-9123-4C29-A891-C28B17413CF2}"/>
              </a:ext>
            </a:extLst>
          </p:cNvPr>
          <p:cNvSpPr txBox="1">
            <a:spLocks/>
          </p:cNvSpPr>
          <p:nvPr/>
        </p:nvSpPr>
        <p:spPr>
          <a:xfrm>
            <a:off x="914400" y="3455133"/>
            <a:ext cx="5181600" cy="29222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2400" b="1" dirty="0"/>
              <a:t>További webfejlesztési eszközök:</a:t>
            </a:r>
          </a:p>
          <a:p>
            <a:pPr lvl="1"/>
            <a:r>
              <a:rPr lang="hu-HU" dirty="0"/>
              <a:t>XAMPP</a:t>
            </a:r>
          </a:p>
          <a:p>
            <a:pPr lvl="1"/>
            <a:r>
              <a:rPr lang="hu-HU" dirty="0"/>
              <a:t>MySQL</a:t>
            </a:r>
          </a:p>
          <a:p>
            <a:pPr lvl="1"/>
            <a:r>
              <a:rPr lang="hu-HU" dirty="0"/>
              <a:t>Node Package Manager</a:t>
            </a:r>
          </a:p>
          <a:p>
            <a:pPr lvl="1"/>
            <a:r>
              <a:rPr lang="hu-HU" dirty="0"/>
              <a:t>Node.js</a:t>
            </a:r>
          </a:p>
          <a:p>
            <a:pPr lvl="1"/>
            <a:endParaRPr lang="hu-HU" dirty="0"/>
          </a:p>
        </p:txBody>
      </p:sp>
      <p:pic>
        <p:nvPicPr>
          <p:cNvPr id="6" name="Picture 2" descr="A képen Grafika, képernyőkép, szimbólum, Grafikus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9B7D3179-5112-4711-B066-9C07B41559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27259" y="2262990"/>
            <a:ext cx="485668" cy="485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E57E36E7-2575-4E4B-9486-39A131848B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2816" y="2716645"/>
            <a:ext cx="365998" cy="365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HTML5 - Wikipedia">
            <a:extLst>
              <a:ext uri="{FF2B5EF4-FFF2-40B4-BE49-F238E27FC236}">
                <a16:creationId xmlns:a16="http://schemas.microsoft.com/office/drawing/2014/main" id="{C71F1B9E-7E33-4E76-BBC2-D91DD8B016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6645" y="2252610"/>
            <a:ext cx="436756" cy="436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6ECD169C-CCAB-4CEB-AF37-9CF41904B7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7437" y="2634205"/>
            <a:ext cx="309208" cy="436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Live Instructor-Led JavaScript Training - Hands-on Interactive Course">
            <a:extLst>
              <a:ext uri="{FF2B5EF4-FFF2-40B4-BE49-F238E27FC236}">
                <a16:creationId xmlns:a16="http://schemas.microsoft.com/office/drawing/2014/main" id="{431B8E77-8BD6-46D0-B419-16BC7A6D6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3401" y="3137452"/>
            <a:ext cx="289579" cy="3263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The Best Way to Learn SQL - Learn to code in 30 Days!">
            <a:extLst>
              <a:ext uri="{FF2B5EF4-FFF2-40B4-BE49-F238E27FC236}">
                <a16:creationId xmlns:a16="http://schemas.microsoft.com/office/drawing/2014/main" id="{1479B6AD-867D-4F03-BE2F-DC03FB6C1A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2321" y="3472551"/>
            <a:ext cx="709066" cy="3722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A képen Betűtípus, Grafika, szimbólum, embléma látható&#10;&#10;Lehet, hogy az AI által létrehozott tartalom helytelen.">
            <a:extLst>
              <a:ext uri="{FF2B5EF4-FFF2-40B4-BE49-F238E27FC236}">
                <a16:creationId xmlns:a16="http://schemas.microsoft.com/office/drawing/2014/main" id="{E442CF20-B1F8-4A1B-AF6F-69C9337A3B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9759" y="3810464"/>
            <a:ext cx="487145" cy="4888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3">
            <a:extLst>
              <a:ext uri="{FF2B5EF4-FFF2-40B4-BE49-F238E27FC236}">
                <a16:creationId xmlns:a16="http://schemas.microsoft.com/office/drawing/2014/main" id="{92A03FA7-0B33-451D-B0DE-424E7753CC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7299" y="4162365"/>
            <a:ext cx="565801" cy="565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A képen Grafika, szimbólum, clipart, embléma látható&#10;&#10;Lehet, hogy az AI által létrehozott tartalom helytelen.">
            <a:extLst>
              <a:ext uri="{FF2B5EF4-FFF2-40B4-BE49-F238E27FC236}">
                <a16:creationId xmlns:a16="http://schemas.microsoft.com/office/drawing/2014/main" id="{14FFCA80-D6F9-4BCB-840B-98E22B43BF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8103" y="3846241"/>
            <a:ext cx="486486" cy="491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4" descr="A képen Grafika, Betűtípus, embléma, Grafikus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075C5926-C733-4DD0-9FF8-9F4F4E1B97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31500" y="4112021"/>
            <a:ext cx="713798" cy="7137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A képen Betűtípus, Grafika, embléma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308771A7-7F15-4CC9-BB9E-5C110B92BD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8091" y="4637261"/>
            <a:ext cx="548640" cy="5486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A képen képernyőkép, Grafika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70FDB678-6AEA-403B-9193-72A0EC5957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36200" y="5073740"/>
            <a:ext cx="655420" cy="470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79881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44D50DE-9756-4147-A6DF-0DE540659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353800" cy="1325563"/>
          </a:xfrm>
        </p:spPr>
        <p:txBody>
          <a:bodyPr/>
          <a:lstStyle/>
          <a:p>
            <a:r>
              <a:rPr lang="hu-HU" b="1" dirty="0"/>
              <a:t>Rendszeráttekintés - hardverkövetelmények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C03E9-4E2C-4846-907B-B8CE8E3F20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61914" cy="4153144"/>
          </a:xfrm>
        </p:spPr>
        <p:txBody>
          <a:bodyPr>
            <a:normAutofit/>
          </a:bodyPr>
          <a:lstStyle/>
          <a:p>
            <a:r>
              <a:rPr lang="hu-HU" dirty="0"/>
              <a:t>A weboldal általánosságban </a:t>
            </a:r>
            <a:r>
              <a:rPr lang="hu-HU" b="1" dirty="0"/>
              <a:t>nem igényel nagy számítási teljesítményt</a:t>
            </a:r>
            <a:r>
              <a:rPr lang="hu-HU" dirty="0"/>
              <a:t>​</a:t>
            </a:r>
          </a:p>
          <a:p>
            <a:r>
              <a:rPr lang="hu-HU" b="1" dirty="0"/>
              <a:t>Processzor:</a:t>
            </a:r>
            <a:r>
              <a:rPr lang="hu-HU" dirty="0"/>
              <a:t> Minimális követelmény: </a:t>
            </a:r>
            <a:r>
              <a:rPr lang="hu-HU" b="1" dirty="0"/>
              <a:t>1.2 GHz</a:t>
            </a:r>
            <a:r>
              <a:rPr lang="hu-HU" dirty="0"/>
              <a:t>-es egy- vagy </a:t>
            </a:r>
            <a:r>
              <a:rPr lang="hu-HU" b="1" dirty="0"/>
              <a:t>kétmagos</a:t>
            </a:r>
            <a:r>
              <a:rPr lang="hu-HU" dirty="0"/>
              <a:t> processzor​</a:t>
            </a:r>
          </a:p>
          <a:p>
            <a:pPr lvl="1"/>
            <a:r>
              <a:rPr lang="hu-HU" dirty="0"/>
              <a:t>Ajánlott: </a:t>
            </a:r>
            <a:r>
              <a:rPr lang="hu-HU" b="1" dirty="0"/>
              <a:t>1.6 GHz</a:t>
            </a:r>
            <a:r>
              <a:rPr lang="hu-HU" dirty="0"/>
              <a:t> vagy gyorsabb, </a:t>
            </a:r>
            <a:r>
              <a:rPr lang="hu-HU" b="1" dirty="0"/>
              <a:t>többmagos</a:t>
            </a:r>
            <a:r>
              <a:rPr lang="hu-HU" dirty="0"/>
              <a:t> </a:t>
            </a:r>
            <a:r>
              <a:rPr lang="hu-HU" b="1" dirty="0"/>
              <a:t>CPU</a:t>
            </a:r>
            <a:r>
              <a:rPr lang="hu-HU" dirty="0"/>
              <a:t>​</a:t>
            </a:r>
          </a:p>
          <a:p>
            <a:r>
              <a:rPr lang="hu-HU" b="1" dirty="0"/>
              <a:t>Memória</a:t>
            </a:r>
            <a:r>
              <a:rPr lang="hu-HU" dirty="0"/>
              <a:t>: Legalább </a:t>
            </a:r>
            <a:r>
              <a:rPr lang="hu-HU" b="1" dirty="0"/>
              <a:t>4 GB RAM</a:t>
            </a:r>
            <a:r>
              <a:rPr lang="hu-HU" dirty="0"/>
              <a:t>​</a:t>
            </a:r>
          </a:p>
          <a:p>
            <a:r>
              <a:rPr lang="hu-HU" b="1" dirty="0"/>
              <a:t>Kijelző</a:t>
            </a:r>
            <a:r>
              <a:rPr lang="hu-HU" dirty="0"/>
              <a:t>: A weboldal </a:t>
            </a:r>
            <a:r>
              <a:rPr lang="hu-HU" b="1" dirty="0"/>
              <a:t>reszponzív</a:t>
            </a:r>
            <a:r>
              <a:rPr lang="hu-HU" dirty="0"/>
              <a:t>, így bármilyen eszközön megfelelően jelenik meg a tartalom​</a:t>
            </a:r>
          </a:p>
          <a:p>
            <a:r>
              <a:rPr lang="hu-HU" b="1" dirty="0"/>
              <a:t>Internetkapcsolat</a:t>
            </a:r>
            <a:r>
              <a:rPr lang="hu-HU" dirty="0"/>
              <a:t>: A weboldalnak szüksége van </a:t>
            </a:r>
            <a:r>
              <a:rPr lang="hu-HU" b="1" dirty="0"/>
              <a:t>stabil internetkapcsolat</a:t>
            </a:r>
            <a:r>
              <a:rPr lang="hu-HU" dirty="0"/>
              <a:t>ra. Minimális sebesség: </a:t>
            </a:r>
            <a:r>
              <a:rPr lang="hu-HU" b="1" dirty="0"/>
              <a:t>2-4 Mbps</a:t>
            </a:r>
            <a:r>
              <a:rPr lang="hu-HU" dirty="0"/>
              <a:t>​</a:t>
            </a:r>
          </a:p>
        </p:txBody>
      </p:sp>
    </p:spTree>
    <p:extLst>
      <p:ext uri="{BB962C8B-B14F-4D97-AF65-F5344CB8AC3E}">
        <p14:creationId xmlns:p14="http://schemas.microsoft.com/office/powerpoint/2010/main" val="30226163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1E021EF-A0DD-461D-B635-667CD64B0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770326" cy="1325563"/>
          </a:xfrm>
        </p:spPr>
        <p:txBody>
          <a:bodyPr/>
          <a:lstStyle/>
          <a:p>
            <a:r>
              <a:rPr lang="hu-HU" b="1" dirty="0"/>
              <a:t>Rendszeráttekintés - szoftverkövetelmények​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CE4E5A-CC29-4C83-93BC-FFD438B8D4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hu-HU" b="1" dirty="0"/>
              <a:t>Operációs rendszer:</a:t>
            </a:r>
            <a:r>
              <a:rPr lang="hu-HU" dirty="0"/>
              <a:t> A weboldal a legtöbb modern platformon problémamentesen futtatható.​</a:t>
            </a:r>
          </a:p>
          <a:p>
            <a:pPr lvl="1"/>
            <a:r>
              <a:rPr lang="hu-HU" b="1" dirty="0"/>
              <a:t>Támogatott rendszerek: </a:t>
            </a:r>
            <a:r>
              <a:rPr lang="hu-HU" dirty="0"/>
              <a:t>​</a:t>
            </a:r>
          </a:p>
          <a:p>
            <a:pPr lvl="2"/>
            <a:r>
              <a:rPr lang="hu-HU" dirty="0"/>
              <a:t>Windows 10 minimum​</a:t>
            </a:r>
          </a:p>
          <a:p>
            <a:pPr lvl="2"/>
            <a:r>
              <a:rPr lang="hu-HU" dirty="0"/>
              <a:t>Linux disztribúciók (Ubuntu, Debian)​</a:t>
            </a:r>
          </a:p>
          <a:p>
            <a:pPr lvl="2"/>
            <a:r>
              <a:rPr lang="hu-HU" dirty="0"/>
              <a:t>Android 8.0/iOs 13 (vagy újabb verzió)​</a:t>
            </a:r>
          </a:p>
          <a:p>
            <a:pPr lvl="1"/>
            <a:r>
              <a:rPr lang="hu-HU" b="1" dirty="0"/>
              <a:t>Böngészőkövetelmények</a:t>
            </a:r>
            <a:r>
              <a:rPr lang="hu-HU" dirty="0"/>
              <a:t>: Az oldal előnyben részesíti az olyan böngészőket, amelyek </a:t>
            </a:r>
            <a:r>
              <a:rPr lang="hu-HU" b="1" dirty="0"/>
              <a:t>gyors</a:t>
            </a:r>
            <a:r>
              <a:rPr lang="hu-HU" dirty="0"/>
              <a:t> </a:t>
            </a:r>
            <a:r>
              <a:rPr lang="hu-HU" b="1" dirty="0"/>
              <a:t>JavaScript-futtatást</a:t>
            </a:r>
            <a:r>
              <a:rPr lang="hu-HU" dirty="0"/>
              <a:t> kínálnak​</a:t>
            </a:r>
          </a:p>
          <a:p>
            <a:pPr lvl="1"/>
            <a:r>
              <a:rPr lang="hu-HU" b="1" dirty="0"/>
              <a:t>Ajánlott böngészők:​</a:t>
            </a:r>
          </a:p>
          <a:p>
            <a:pPr lvl="2"/>
            <a:r>
              <a:rPr lang="hu-HU" dirty="0"/>
              <a:t>Google Chrome​</a:t>
            </a:r>
          </a:p>
          <a:p>
            <a:pPr lvl="2"/>
            <a:r>
              <a:rPr lang="hu-HU" dirty="0"/>
              <a:t>Mozilla Firefox​</a:t>
            </a:r>
          </a:p>
          <a:p>
            <a:pPr lvl="2"/>
            <a:r>
              <a:rPr lang="hu-HU" dirty="0"/>
              <a:t>Microsoft Edge​</a:t>
            </a:r>
          </a:p>
          <a:p>
            <a:pPr lvl="1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7682609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F523BCB-D4DD-4A43-9673-C199A67B8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A weboldal elindítása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56CB79F-96BE-45C1-AD00-EDA1507153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0180"/>
            <a:ext cx="10515600" cy="4736783"/>
          </a:xfrm>
        </p:spPr>
        <p:txBody>
          <a:bodyPr>
            <a:normAutofit fontScale="70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hu-HU" b="1" dirty="0"/>
              <a:t>Internetkapcsolat</a:t>
            </a:r>
            <a:r>
              <a:rPr lang="hu-HU" dirty="0"/>
              <a:t> ellenőrzése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XAMPP elindítása: </a:t>
            </a:r>
          </a:p>
          <a:p>
            <a:pPr lvl="1"/>
            <a:r>
              <a:rPr lang="hu-HU" b="1" dirty="0"/>
              <a:t>Apache, MySQL futtatása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Adatbázis </a:t>
            </a:r>
            <a:r>
              <a:rPr lang="hu-HU" b="1" dirty="0"/>
              <a:t>importálás</a:t>
            </a:r>
            <a:r>
              <a:rPr lang="hu-HU" dirty="0"/>
              <a:t>a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Projektmappa megnyitása (ajánlott: </a:t>
            </a:r>
            <a:r>
              <a:rPr lang="hu-HU" b="1" dirty="0"/>
              <a:t>Visual Studio Code</a:t>
            </a:r>
            <a:r>
              <a:rPr lang="hu-HU" dirty="0"/>
              <a:t>-ban)</a:t>
            </a:r>
          </a:p>
          <a:p>
            <a:pPr marL="514350" indent="-514350">
              <a:buFont typeface="+mj-lt"/>
              <a:buAutoNum type="arabicPeriod"/>
            </a:pPr>
            <a:r>
              <a:rPr lang="hu-HU" b="1" dirty="0"/>
              <a:t>Terminál</a:t>
            </a:r>
            <a:r>
              <a:rPr lang="hu-HU" dirty="0"/>
              <a:t> megnyitása</a:t>
            </a:r>
          </a:p>
          <a:p>
            <a:pPr marL="971550" lvl="1" indent="-514350">
              <a:buFont typeface="+mj-lt"/>
              <a:buAutoNum type="arabicPeriod"/>
            </a:pPr>
            <a:r>
              <a:rPr lang="hu-HU" dirty="0"/>
              <a:t>Szükséges verziók a futtatáshoz:</a:t>
            </a:r>
          </a:p>
          <a:p>
            <a:pPr lvl="2"/>
            <a:r>
              <a:rPr lang="hu-HU" b="1" dirty="0"/>
              <a:t>Node.js v18.20.5 </a:t>
            </a:r>
          </a:p>
          <a:p>
            <a:pPr lvl="2"/>
            <a:r>
              <a:rPr lang="hu-HU" b="1" dirty="0"/>
              <a:t>Npm v10.8.2</a:t>
            </a:r>
          </a:p>
          <a:p>
            <a:pPr marL="971550" lvl="1" indent="-514350">
              <a:buFont typeface="+mj-lt"/>
              <a:buAutoNum type="arabicPeriod"/>
            </a:pPr>
            <a:r>
              <a:rPr lang="hu-HU" b="1" dirty="0"/>
              <a:t>.env</a:t>
            </a:r>
            <a:r>
              <a:rPr lang="hu-HU" dirty="0"/>
              <a:t> fájl létrehozása a mappán belül:</a:t>
            </a:r>
          </a:p>
          <a:p>
            <a:pPr marL="1428750" lvl="2" indent="-514350">
              <a:buFont typeface="+mj-lt"/>
              <a:buAutoNum type="arabicPeriod"/>
            </a:pPr>
            <a:r>
              <a:rPr lang="hu-HU" dirty="0"/>
              <a:t>.env.example fájl tartalmának átmásolása</a:t>
            </a:r>
          </a:p>
          <a:p>
            <a:pPr marL="1428750" lvl="2" indent="-514350">
              <a:buFont typeface="+mj-lt"/>
              <a:buAutoNum type="arabicPeriod"/>
            </a:pPr>
            <a:r>
              <a:rPr lang="hu-HU" dirty="0"/>
              <a:t>Szükséges adatok megadása:</a:t>
            </a:r>
          </a:p>
          <a:p>
            <a:pPr lvl="3"/>
            <a:r>
              <a:rPr lang="hu-HU" dirty="0"/>
              <a:t>DB_NAME=</a:t>
            </a:r>
            <a:r>
              <a:rPr lang="hu-HU" b="1" dirty="0"/>
              <a:t>parking</a:t>
            </a:r>
            <a:r>
              <a:rPr lang="hu-HU" dirty="0"/>
              <a:t>, DB_USER=</a:t>
            </a:r>
            <a:r>
              <a:rPr lang="hu-HU" b="1" dirty="0"/>
              <a:t>root</a:t>
            </a:r>
            <a:r>
              <a:rPr lang="hu-HU" dirty="0"/>
              <a:t>, DB_PASSWORD=</a:t>
            </a:r>
            <a:r>
              <a:rPr lang="hu-HU" b="1" dirty="0"/>
              <a:t>””</a:t>
            </a:r>
            <a:r>
              <a:rPr lang="hu-HU" dirty="0"/>
              <a:t>, DB_HOST=</a:t>
            </a:r>
            <a:r>
              <a:rPr lang="hu-HU" b="1" dirty="0"/>
              <a:t>localhost</a:t>
            </a:r>
            <a:r>
              <a:rPr lang="hu-HU" dirty="0"/>
              <a:t>, DB_DIALECT=</a:t>
            </a:r>
            <a:r>
              <a:rPr lang="hu-HU" b="1" dirty="0"/>
              <a:t>mysql</a:t>
            </a:r>
          </a:p>
          <a:p>
            <a:pPr marL="971550" lvl="1" indent="-514350">
              <a:buFont typeface="+mj-lt"/>
              <a:buAutoNum type="arabicPeriod"/>
            </a:pPr>
            <a:r>
              <a:rPr lang="hu-HU" dirty="0"/>
              <a:t>Parancsok megadása:</a:t>
            </a:r>
          </a:p>
          <a:p>
            <a:pPr lvl="1"/>
            <a:r>
              <a:rPr lang="hu-HU" dirty="0"/>
              <a:t>Fontos, hogy a parancsokat a </a:t>
            </a:r>
            <a:r>
              <a:rPr lang="hu-HU" b="1" dirty="0"/>
              <a:t>ParKing/main </a:t>
            </a:r>
            <a:r>
              <a:rPr lang="hu-HU" dirty="0"/>
              <a:t>mappán belül kell megadni!</a:t>
            </a:r>
          </a:p>
          <a:p>
            <a:pPr lvl="2"/>
            <a:r>
              <a:rPr lang="hu-HU" b="1" dirty="0"/>
              <a:t>npm update</a:t>
            </a:r>
          </a:p>
          <a:p>
            <a:pPr lvl="2"/>
            <a:r>
              <a:rPr lang="hu-HU" b="1" dirty="0"/>
              <a:t>npm run setup</a:t>
            </a:r>
          </a:p>
          <a:p>
            <a:pPr lvl="2"/>
            <a:r>
              <a:rPr lang="hu-HU" b="1" dirty="0"/>
              <a:t>node server.js</a:t>
            </a:r>
          </a:p>
          <a:p>
            <a:pPr marL="971550" lvl="1" indent="-514350">
              <a:buFont typeface="+mj-lt"/>
              <a:buAutoNum type="arabicPeriod"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2218040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D5701B9-334C-48B2-8DCB-F146D1579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A weboldal bemutatása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5E975318-F171-47CA-BD46-FFB26D2FD5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68619" y="1514842"/>
            <a:ext cx="5676901" cy="3193257"/>
          </a:xfr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74FBFF79-483C-48DF-AD92-FEB22EA5B2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2136" y="2449940"/>
            <a:ext cx="5676902" cy="3193258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18D477BE-AD14-40F3-A5BE-E4EF282912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46479" y="3299617"/>
            <a:ext cx="5676902" cy="3193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49325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398</TotalTime>
  <Words>350</Words>
  <Application>Microsoft Office PowerPoint</Application>
  <PresentationFormat>Szélesvásznú</PresentationFormat>
  <Paragraphs>74</Paragraphs>
  <Slides>8</Slides>
  <Notes>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8</vt:i4>
      </vt:variant>
    </vt:vector>
  </HeadingPairs>
  <TitlesOfParts>
    <vt:vector size="12" baseType="lpstr">
      <vt:lpstr>Arial</vt:lpstr>
      <vt:lpstr>Calibri</vt:lpstr>
      <vt:lpstr>Times New Roman</vt:lpstr>
      <vt:lpstr>Office-téma</vt:lpstr>
      <vt:lpstr>ParKing</vt:lpstr>
      <vt:lpstr>Tartalomjegyzék</vt:lpstr>
      <vt:lpstr>ParKing bemutatása</vt:lpstr>
      <vt:lpstr>A projektben használt webfejlesztési technológiák</vt:lpstr>
      <vt:lpstr>Rendszeráttekintés - hardverkövetelmények</vt:lpstr>
      <vt:lpstr>Rendszeráttekintés - szoftverkövetelmények​</vt:lpstr>
      <vt:lpstr>A weboldal elindítása</vt:lpstr>
      <vt:lpstr>A weboldal bemutatása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ParKing</dc:title>
  <dc:creator>Technikus</dc:creator>
  <cp:lastModifiedBy>Technikus</cp:lastModifiedBy>
  <cp:revision>39</cp:revision>
  <dcterms:created xsi:type="dcterms:W3CDTF">2026-01-21T10:12:04Z</dcterms:created>
  <dcterms:modified xsi:type="dcterms:W3CDTF">2026-01-26T11:05:40Z</dcterms:modified>
</cp:coreProperties>
</file>